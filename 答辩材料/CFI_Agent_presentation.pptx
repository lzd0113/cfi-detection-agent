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70" r:id="rId14"/>
    <p:sldId id="272" r:id="rId15"/>
    <p:sldId id="278" r:id="rId16"/>
    <p:sldId id="275" r:id="rId17"/>
    <p:sldId id="276" r:id="rId18"/>
    <p:sldId id="277" r:id="rId19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48" d="100"/>
          <a:sy n="148" d="100"/>
        </p:scale>
        <p:origin x="534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hyperlink" Target="cfi_detection_report.xlsx" TargetMode="External"/><Relationship Id="rId1" Type="http://schemas.openxmlformats.org/officeDocument/2006/relationships/slideLayout" Target="../slideLayouts/slideLayout1.xml"/><Relationship Id="rId6" Type="http://schemas.openxmlformats.org/officeDocument/2006/relationships/hyperlink" Target="&#26816;&#27979;&#36807;&#31243;&#28436;&#31034;.mp4" TargetMode="External"/><Relationship Id="rId5" Type="http://schemas.openxmlformats.org/officeDocument/2006/relationships/hyperlink" Target="html&#30475;&#26495;&#21160;&#24577;&#29256;.mp4" TargetMode="External"/><Relationship Id="rId4" Type="http://schemas.openxmlformats.org/officeDocument/2006/relationships/hyperlink" Target="cfi_report.html" TargetMode="Externa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3" name="矩形 2"/>
          <p:cNvSpPr/>
          <p:nvPr/>
        </p:nvSpPr>
        <p:spPr>
          <a:xfrm>
            <a:off x="0" y="0"/>
            <a:ext cx="3200400" cy="73152"/>
          </a:xfrm>
          <a:prstGeom prst="rect">
            <a:avLst/>
          </a:prstGeom>
          <a:solidFill>
            <a:srgbClr val="D0D0D0"/>
          </a:solidFill>
        </p:spPr>
      </p:sp>
      <p:sp>
        <p:nvSpPr>
          <p:cNvPr id="4" name="矩形 3"/>
          <p:cNvSpPr/>
          <p:nvPr/>
        </p:nvSpPr>
        <p:spPr>
          <a:xfrm>
            <a:off x="2743200" y="1828800"/>
            <a:ext cx="667512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5" name="矩形 4"/>
          <p:cNvSpPr/>
          <p:nvPr/>
        </p:nvSpPr>
        <p:spPr>
          <a:xfrm>
            <a:off x="2743200" y="3200400"/>
            <a:ext cx="667512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6" name="矩形 5"/>
          <p:cNvSpPr/>
          <p:nvPr/>
        </p:nvSpPr>
        <p:spPr>
          <a:xfrm>
            <a:off x="8534095" y="0"/>
            <a:ext cx="3657600" cy="2286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7" name="矩形 6"/>
          <p:cNvSpPr/>
          <p:nvPr/>
        </p:nvSpPr>
        <p:spPr>
          <a:xfrm>
            <a:off x="8534095" y="0"/>
            <a:ext cx="3657600" cy="2286000"/>
          </a:xfrm>
          <a:prstGeom prst="rect">
            <a:avLst/>
          </a:prstGeom>
          <a:solidFill>
            <a:srgbClr val="FFFFFF"/>
          </a:solidFill>
        </p:spPr>
      </p:sp>
      <p:sp>
        <p:nvSpPr>
          <p:cNvPr id="8" name="矩形 7"/>
          <p:cNvSpPr/>
          <p:nvPr/>
        </p:nvSpPr>
        <p:spPr>
          <a:xfrm>
            <a:off x="9448495" y="0"/>
            <a:ext cx="2743200" cy="16459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9" name="文本框 8"/>
          <p:cNvSpPr txBox="1"/>
          <p:nvPr/>
        </p:nvSpPr>
        <p:spPr>
          <a:xfrm>
            <a:off x="1208132" y="2162556"/>
            <a:ext cx="10144411" cy="10972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4400" b="1" dirty="0">
                <a:solidFill>
                  <a:srgbClr val="333333"/>
                </a:solidFill>
                <a:latin typeface="Microsoft YaHei"/>
                <a:ea typeface="Microsoft YaHei"/>
              </a:rPr>
              <a:t>OpenHarmony CFI 安全检</a:t>
            </a:r>
            <a:r>
              <a:rPr lang="zh-CN" altLang="en-US" sz="4400" b="1" dirty="0">
                <a:solidFill>
                  <a:srgbClr val="333333"/>
                </a:solidFill>
                <a:latin typeface="Microsoft YaHei"/>
                <a:ea typeface="Microsoft YaHei"/>
              </a:rPr>
              <a:t>测</a:t>
            </a:r>
            <a:r>
              <a:rPr lang="zh-CN" sz="4400" b="1" dirty="0">
                <a:solidFill>
                  <a:srgbClr val="333333"/>
                </a:solidFill>
                <a:latin typeface="Microsoft YaHei"/>
                <a:ea typeface="Microsoft YaHei"/>
              </a:rPr>
              <a:t>Agent</a:t>
            </a:r>
          </a:p>
        </p:txBody>
      </p:sp>
      <p:sp>
        <p:nvSpPr>
          <p:cNvPr id="11" name="矩形 10"/>
          <p:cNvSpPr/>
          <p:nvPr/>
        </p:nvSpPr>
        <p:spPr>
          <a:xfrm>
            <a:off x="5029200" y="3931920"/>
            <a:ext cx="2103120" cy="36576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2" name="矩形 11"/>
          <p:cNvSpPr/>
          <p:nvPr/>
        </p:nvSpPr>
        <p:spPr>
          <a:xfrm>
            <a:off x="3657600" y="3941063"/>
            <a:ext cx="1188720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3" name="矩形 12"/>
          <p:cNvSpPr/>
          <p:nvPr/>
        </p:nvSpPr>
        <p:spPr>
          <a:xfrm>
            <a:off x="7315200" y="3941063"/>
            <a:ext cx="1188720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4" name="矩形 1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5F5F5"/>
          </a:solidFill>
        </p:spPr>
      </p:sp>
      <p:pic>
        <p:nvPicPr>
          <p:cNvPr id="20" name="图片 19">
            <a:extLst>
              <a:ext uri="{FF2B5EF4-FFF2-40B4-BE49-F238E27FC236}">
                <a16:creationId xmlns:a16="http://schemas.microsoft.com/office/drawing/2014/main" id="{72F16CD4-587A-5075-FA32-77EFB06040C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57935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矩形 22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24" name="矩形 23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5" name="矩形 24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6" name="矩形 25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7" name="文本框 26"/>
          <p:cNvSpPr txBox="1"/>
          <p:nvPr/>
        </p:nvSpPr>
        <p:spPr>
          <a:xfrm>
            <a:off x="822960" y="457200"/>
            <a:ext cx="27432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2800" b="1">
                <a:solidFill>
                  <a:srgbClr val="CF0A2C"/>
                </a:solidFill>
                <a:latin typeface="Microsoft YaHei"/>
                <a:ea typeface="Microsoft YaHei"/>
              </a:rPr>
              <a:t>目录</a:t>
            </a:r>
          </a:p>
        </p:txBody>
      </p:sp>
      <p:sp>
        <p:nvSpPr>
          <p:cNvPr id="28" name="矩形 27"/>
          <p:cNvSpPr/>
          <p:nvPr/>
        </p:nvSpPr>
        <p:spPr>
          <a:xfrm>
            <a:off x="822960" y="1005840"/>
            <a:ext cx="109728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9" name="矩形 28"/>
          <p:cNvSpPr/>
          <p:nvPr/>
        </p:nvSpPr>
        <p:spPr>
          <a:xfrm>
            <a:off x="201168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0" name="文本框 29"/>
          <p:cNvSpPr txBox="1"/>
          <p:nvPr/>
        </p:nvSpPr>
        <p:spPr>
          <a:xfrm>
            <a:off x="822960" y="1097280"/>
            <a:ext cx="2743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>
                <a:solidFill>
                  <a:srgbClr val="999999"/>
                </a:solidFill>
                <a:latin typeface="Microsoft YaHei"/>
                <a:ea typeface="Microsoft YaHei"/>
              </a:rPr>
              <a:t>CONTENTS</a:t>
            </a:r>
          </a:p>
        </p:txBody>
      </p:sp>
      <p:sp>
        <p:nvSpPr>
          <p:cNvPr id="31" name="矩形: 圆角 30"/>
          <p:cNvSpPr/>
          <p:nvPr/>
        </p:nvSpPr>
        <p:spPr>
          <a:xfrm>
            <a:off x="822960" y="1554480"/>
            <a:ext cx="4754880" cy="146304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</p:sp>
      <p:sp>
        <p:nvSpPr>
          <p:cNvPr id="32" name="矩形 31"/>
          <p:cNvSpPr/>
          <p:nvPr/>
        </p:nvSpPr>
        <p:spPr>
          <a:xfrm>
            <a:off x="822960" y="1554480"/>
            <a:ext cx="54864" cy="14630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3" name="文本框 32"/>
          <p:cNvSpPr txBox="1"/>
          <p:nvPr/>
        </p:nvSpPr>
        <p:spPr>
          <a:xfrm>
            <a:off x="1097280" y="1691640"/>
            <a:ext cx="1097280" cy="7315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3600" b="1">
                <a:solidFill>
                  <a:srgbClr val="CF0A2C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34" name="文本框 33"/>
          <p:cNvSpPr txBox="1"/>
          <p:nvPr/>
        </p:nvSpPr>
        <p:spPr>
          <a:xfrm>
            <a:off x="1097280" y="2377440"/>
            <a:ext cx="429768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600" b="1">
                <a:solidFill>
                  <a:srgbClr val="333333"/>
                </a:solidFill>
                <a:latin typeface="Microsoft YaHei"/>
                <a:ea typeface="Microsoft YaHei"/>
              </a:rPr>
              <a:t>自我介绍</a:t>
            </a:r>
          </a:p>
        </p:txBody>
      </p:sp>
      <p:sp>
        <p:nvSpPr>
          <p:cNvPr id="35" name="文本框 34"/>
          <p:cNvSpPr txBox="1"/>
          <p:nvPr/>
        </p:nvSpPr>
        <p:spPr>
          <a:xfrm>
            <a:off x="1097280" y="2697480"/>
            <a:ext cx="42976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>
                <a:solidFill>
                  <a:srgbClr val="999999"/>
                </a:solidFill>
                <a:latin typeface="Microsoft YaHei"/>
                <a:ea typeface="Microsoft YaHei"/>
              </a:rPr>
              <a:t>Self Introduction</a:t>
            </a:r>
          </a:p>
        </p:txBody>
      </p:sp>
      <p:sp>
        <p:nvSpPr>
          <p:cNvPr id="36" name="矩形: 圆角 35"/>
          <p:cNvSpPr/>
          <p:nvPr/>
        </p:nvSpPr>
        <p:spPr>
          <a:xfrm>
            <a:off x="6126480" y="1554480"/>
            <a:ext cx="4754880" cy="146304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</p:sp>
      <p:sp>
        <p:nvSpPr>
          <p:cNvPr id="37" name="矩形 36"/>
          <p:cNvSpPr/>
          <p:nvPr/>
        </p:nvSpPr>
        <p:spPr>
          <a:xfrm>
            <a:off x="6126480" y="1554480"/>
            <a:ext cx="54864" cy="14630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8" name="文本框 37"/>
          <p:cNvSpPr txBox="1"/>
          <p:nvPr/>
        </p:nvSpPr>
        <p:spPr>
          <a:xfrm>
            <a:off x="6400800" y="1691640"/>
            <a:ext cx="1097280" cy="7315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3600" b="1">
                <a:solidFill>
                  <a:srgbClr val="CF0A2C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39" name="文本框 38"/>
          <p:cNvSpPr txBox="1"/>
          <p:nvPr/>
        </p:nvSpPr>
        <p:spPr>
          <a:xfrm>
            <a:off x="6400800" y="2377440"/>
            <a:ext cx="429768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600" b="1">
                <a:solidFill>
                  <a:srgbClr val="333333"/>
                </a:solidFill>
                <a:latin typeface="Microsoft YaHei"/>
                <a:ea typeface="Microsoft YaHei"/>
              </a:rPr>
              <a:t>实习工作内容</a:t>
            </a:r>
          </a:p>
        </p:txBody>
      </p:sp>
      <p:sp>
        <p:nvSpPr>
          <p:cNvPr id="40" name="文本框 39"/>
          <p:cNvSpPr txBox="1"/>
          <p:nvPr/>
        </p:nvSpPr>
        <p:spPr>
          <a:xfrm>
            <a:off x="6400800" y="2697480"/>
            <a:ext cx="42976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>
                <a:solidFill>
                  <a:srgbClr val="999999"/>
                </a:solidFill>
                <a:latin typeface="Microsoft YaHei"/>
                <a:ea typeface="Microsoft YaHei"/>
              </a:rPr>
              <a:t>Internship Work Content</a:t>
            </a:r>
          </a:p>
        </p:txBody>
      </p:sp>
      <p:sp>
        <p:nvSpPr>
          <p:cNvPr id="41" name="矩形: 圆角 40"/>
          <p:cNvSpPr/>
          <p:nvPr/>
        </p:nvSpPr>
        <p:spPr>
          <a:xfrm>
            <a:off x="822960" y="3200400"/>
            <a:ext cx="4754880" cy="146304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</p:sp>
      <p:sp>
        <p:nvSpPr>
          <p:cNvPr id="42" name="矩形 41"/>
          <p:cNvSpPr/>
          <p:nvPr/>
        </p:nvSpPr>
        <p:spPr>
          <a:xfrm>
            <a:off x="822960" y="3200400"/>
            <a:ext cx="54864" cy="14630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3" name="文本框 42"/>
          <p:cNvSpPr txBox="1"/>
          <p:nvPr/>
        </p:nvSpPr>
        <p:spPr>
          <a:xfrm>
            <a:off x="1097280" y="3337560"/>
            <a:ext cx="1097280" cy="7315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3600" b="1">
                <a:solidFill>
                  <a:srgbClr val="CF0A2C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44" name="文本框 43"/>
          <p:cNvSpPr txBox="1"/>
          <p:nvPr/>
        </p:nvSpPr>
        <p:spPr>
          <a:xfrm>
            <a:off x="1097280" y="4023360"/>
            <a:ext cx="429768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600" b="1">
                <a:solidFill>
                  <a:srgbClr val="333333"/>
                </a:solidFill>
                <a:latin typeface="Microsoft YaHei"/>
                <a:ea typeface="Microsoft YaHei"/>
              </a:rPr>
              <a:t>成果展示</a:t>
            </a:r>
          </a:p>
        </p:txBody>
      </p:sp>
      <p:sp>
        <p:nvSpPr>
          <p:cNvPr id="45" name="文本框 44"/>
          <p:cNvSpPr txBox="1"/>
          <p:nvPr/>
        </p:nvSpPr>
        <p:spPr>
          <a:xfrm>
            <a:off x="1097280" y="4343400"/>
            <a:ext cx="42976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>
                <a:solidFill>
                  <a:srgbClr val="999999"/>
                </a:solidFill>
                <a:latin typeface="Microsoft YaHei"/>
                <a:ea typeface="Microsoft YaHei"/>
              </a:rPr>
              <a:t>Achievement Display</a:t>
            </a:r>
          </a:p>
        </p:txBody>
      </p:sp>
      <p:sp>
        <p:nvSpPr>
          <p:cNvPr id="46" name="矩形: 圆角 45"/>
          <p:cNvSpPr/>
          <p:nvPr/>
        </p:nvSpPr>
        <p:spPr>
          <a:xfrm>
            <a:off x="6126480" y="3200400"/>
            <a:ext cx="4754880" cy="146304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</p:sp>
      <p:sp>
        <p:nvSpPr>
          <p:cNvPr id="47" name="矩形 46"/>
          <p:cNvSpPr/>
          <p:nvPr/>
        </p:nvSpPr>
        <p:spPr>
          <a:xfrm>
            <a:off x="6126480" y="3200400"/>
            <a:ext cx="54864" cy="14630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8" name="文本框 47"/>
          <p:cNvSpPr txBox="1"/>
          <p:nvPr/>
        </p:nvSpPr>
        <p:spPr>
          <a:xfrm>
            <a:off x="6400800" y="3337560"/>
            <a:ext cx="1097280" cy="7315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3600" b="1">
                <a:solidFill>
                  <a:srgbClr val="CF0A2C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49" name="文本框 48"/>
          <p:cNvSpPr txBox="1"/>
          <p:nvPr/>
        </p:nvSpPr>
        <p:spPr>
          <a:xfrm>
            <a:off x="6400800" y="4023360"/>
            <a:ext cx="429768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600" b="1">
                <a:solidFill>
                  <a:srgbClr val="333333"/>
                </a:solidFill>
                <a:latin typeface="Microsoft YaHei"/>
                <a:ea typeface="Microsoft YaHei"/>
              </a:rPr>
              <a:t>自我总结与收获</a:t>
            </a:r>
          </a:p>
        </p:txBody>
      </p:sp>
      <p:sp>
        <p:nvSpPr>
          <p:cNvPr id="50" name="文本框 49"/>
          <p:cNvSpPr txBox="1"/>
          <p:nvPr/>
        </p:nvSpPr>
        <p:spPr>
          <a:xfrm>
            <a:off x="6400800" y="4343400"/>
            <a:ext cx="42976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>
                <a:solidFill>
                  <a:srgbClr val="999999"/>
                </a:solidFill>
                <a:latin typeface="Microsoft YaHei"/>
                <a:ea typeface="Microsoft YaHei"/>
              </a:rPr>
              <a:t>Self Summary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617E5E27-5AF9-E5FA-2B12-C930F7D9B40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矩形 59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61" name="矩形 60"/>
          <p:cNvSpPr/>
          <p:nvPr/>
        </p:nvSpPr>
        <p:spPr>
          <a:xfrm>
            <a:off x="71323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2" name="矩形 61"/>
          <p:cNvSpPr/>
          <p:nvPr/>
        </p:nvSpPr>
        <p:spPr>
          <a:xfrm>
            <a:off x="1097280" y="822960"/>
            <a:ext cx="2286000" cy="109728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63" name="矩形 62"/>
          <p:cNvSpPr/>
          <p:nvPr/>
        </p:nvSpPr>
        <p:spPr>
          <a:xfrm>
            <a:off x="1097280" y="1005840"/>
            <a:ext cx="54864" cy="36576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4" name="文本框 63"/>
          <p:cNvSpPr txBox="1"/>
          <p:nvPr/>
        </p:nvSpPr>
        <p:spPr>
          <a:xfrm>
            <a:off x="1463040" y="914400"/>
            <a:ext cx="1828800" cy="9144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6000" b="1">
                <a:solidFill>
                  <a:srgbClr val="CF0A2C"/>
                </a:solidFill>
                <a:latin typeface="Microsoft YaHei"/>
                <a:ea typeface="Microsoft YaHei"/>
              </a:rPr>
              <a:t>01</a:t>
            </a:r>
          </a:p>
        </p:txBody>
      </p:sp>
      <p:sp>
        <p:nvSpPr>
          <p:cNvPr id="65" name="文本框 64"/>
          <p:cNvSpPr txBox="1"/>
          <p:nvPr/>
        </p:nvSpPr>
        <p:spPr>
          <a:xfrm>
            <a:off x="1463040" y="2103120"/>
            <a:ext cx="7315200" cy="7315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3200" b="1">
                <a:solidFill>
                  <a:srgbClr val="333333"/>
                </a:solidFill>
                <a:latin typeface="Microsoft YaHei"/>
                <a:ea typeface="Microsoft YaHei"/>
              </a:rPr>
              <a:t>自我介绍</a:t>
            </a:r>
          </a:p>
        </p:txBody>
      </p:sp>
      <p:sp>
        <p:nvSpPr>
          <p:cNvPr id="66" name="文本框 65"/>
          <p:cNvSpPr txBox="1"/>
          <p:nvPr/>
        </p:nvSpPr>
        <p:spPr>
          <a:xfrm>
            <a:off x="1463040" y="2926080"/>
            <a:ext cx="7315200" cy="4572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600" b="0">
                <a:solidFill>
                  <a:srgbClr val="999999"/>
                </a:solidFill>
                <a:latin typeface="Microsoft YaHei"/>
                <a:ea typeface="Microsoft YaHei"/>
              </a:rPr>
              <a:t>Self Introduction</a:t>
            </a:r>
          </a:p>
        </p:txBody>
      </p:sp>
      <p:sp>
        <p:nvSpPr>
          <p:cNvPr id="67" name="矩形 66"/>
          <p:cNvSpPr/>
          <p:nvPr/>
        </p:nvSpPr>
        <p:spPr>
          <a:xfrm>
            <a:off x="1463040" y="3474720"/>
            <a:ext cx="27432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68" name="矩形 67"/>
          <p:cNvSpPr/>
          <p:nvPr/>
        </p:nvSpPr>
        <p:spPr>
          <a:xfrm>
            <a:off x="9448495" y="5029200"/>
            <a:ext cx="2011680" cy="73152"/>
          </a:xfrm>
          <a:prstGeom prst="rect">
            <a:avLst/>
          </a:prstGeom>
          <a:solidFill>
            <a:srgbClr val="D0D0D0"/>
          </a:solidFill>
        </p:spPr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D71C5E3C-E074-4E8B-1B31-04ED73E284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6063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矩形 7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78" name="矩形 77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79" name="矩形 78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80" name="矩形 79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81" name="文本框 80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2800" b="1">
                <a:solidFill>
                  <a:srgbClr val="CF0A2C"/>
                </a:solidFill>
                <a:latin typeface="Microsoft YaHei"/>
                <a:ea typeface="Microsoft YaHei"/>
              </a:rPr>
              <a:t>自我介绍</a:t>
            </a:r>
          </a:p>
        </p:txBody>
      </p:sp>
      <p:sp>
        <p:nvSpPr>
          <p:cNvPr id="82" name="矩形 81"/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83" name="矩形 82"/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84" name="文本框 83"/>
          <p:cNvSpPr txBox="1"/>
          <p:nvPr/>
        </p:nvSpPr>
        <p:spPr>
          <a:xfrm>
            <a:off x="822960" y="1097280"/>
            <a:ext cx="2743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>
                <a:solidFill>
                  <a:srgbClr val="999999"/>
                </a:solidFill>
                <a:latin typeface="Microsoft YaHei"/>
                <a:ea typeface="Microsoft YaHei"/>
              </a:rPr>
              <a:t>SELF INTRODUCTION</a:t>
            </a:r>
          </a:p>
        </p:txBody>
      </p:sp>
      <p:sp>
        <p:nvSpPr>
          <p:cNvPr id="85" name="矩形: 圆角 84"/>
          <p:cNvSpPr/>
          <p:nvPr/>
        </p:nvSpPr>
        <p:spPr>
          <a:xfrm>
            <a:off x="822960" y="1371600"/>
            <a:ext cx="10515600" cy="4160520"/>
          </a:xfrm>
          <a:prstGeom prst="roundRect">
            <a:avLst>
              <a:gd name="adj" fmla="val 16667"/>
            </a:avLst>
          </a:prstGeom>
          <a:ln>
            <a:solidFill>
              <a:srgbClr val="E0E0E0"/>
            </a:solidFill>
          </a:ln>
        </p:spPr>
      </p:sp>
      <p:sp>
        <p:nvSpPr>
          <p:cNvPr id="86" name="矩形 85"/>
          <p:cNvSpPr/>
          <p:nvPr/>
        </p:nvSpPr>
        <p:spPr>
          <a:xfrm>
            <a:off x="822960" y="1371600"/>
            <a:ext cx="2011680" cy="59436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87" name="矩形 86"/>
          <p:cNvSpPr/>
          <p:nvPr/>
        </p:nvSpPr>
        <p:spPr>
          <a:xfrm>
            <a:off x="2834640" y="1371600"/>
            <a:ext cx="8503920" cy="59436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88" name="矩形 87"/>
          <p:cNvSpPr/>
          <p:nvPr/>
        </p:nvSpPr>
        <p:spPr>
          <a:xfrm>
            <a:off x="822960" y="195681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89" name="矩形 88"/>
          <p:cNvSpPr/>
          <p:nvPr/>
        </p:nvSpPr>
        <p:spPr>
          <a:xfrm>
            <a:off x="822960" y="1371600"/>
            <a:ext cx="36576" cy="594360"/>
          </a:xfrm>
          <a:prstGeom prst="rect">
            <a:avLst/>
          </a:prstGeom>
          <a:solidFill>
            <a:srgbClr val="D0D0D0"/>
          </a:solidFill>
        </p:spPr>
      </p:sp>
      <p:sp>
        <p:nvSpPr>
          <p:cNvPr id="90" name="文本框 89"/>
          <p:cNvSpPr txBox="1"/>
          <p:nvPr/>
        </p:nvSpPr>
        <p:spPr>
          <a:xfrm>
            <a:off x="960120" y="1481328"/>
            <a:ext cx="17830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1">
                <a:solidFill>
                  <a:srgbClr val="666666"/>
                </a:solidFill>
                <a:latin typeface="Microsoft YaHei"/>
                <a:ea typeface="Microsoft YaHei"/>
              </a:rPr>
              <a:t>姓名</a:t>
            </a:r>
          </a:p>
        </p:txBody>
      </p:sp>
      <p:sp>
        <p:nvSpPr>
          <p:cNvPr id="91" name="矩形 90"/>
          <p:cNvSpPr/>
          <p:nvPr/>
        </p:nvSpPr>
        <p:spPr>
          <a:xfrm>
            <a:off x="2825496" y="1371600"/>
            <a:ext cx="9144" cy="59436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92" name="文本框 91"/>
          <p:cNvSpPr txBox="1"/>
          <p:nvPr/>
        </p:nvSpPr>
        <p:spPr>
          <a:xfrm>
            <a:off x="3017520" y="1481328"/>
            <a:ext cx="82296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sz="1300" dirty="0">
                <a:solidFill>
                  <a:srgbClr val="333333"/>
                </a:solidFill>
                <a:latin typeface="Microsoft YaHei"/>
                <a:ea typeface="Microsoft YaHei"/>
              </a:rPr>
              <a:t>李泽东</a:t>
            </a:r>
            <a:endParaRPr lang="zh-CN" sz="13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93" name="矩形 92"/>
          <p:cNvSpPr/>
          <p:nvPr/>
        </p:nvSpPr>
        <p:spPr>
          <a:xfrm>
            <a:off x="822960" y="255117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94" name="矩形 93"/>
          <p:cNvSpPr/>
          <p:nvPr/>
        </p:nvSpPr>
        <p:spPr>
          <a:xfrm>
            <a:off x="822960" y="1965960"/>
            <a:ext cx="36576" cy="594360"/>
          </a:xfrm>
          <a:prstGeom prst="rect">
            <a:avLst/>
          </a:prstGeom>
          <a:solidFill>
            <a:srgbClr val="D0D0D0"/>
          </a:solidFill>
        </p:spPr>
      </p:sp>
      <p:sp>
        <p:nvSpPr>
          <p:cNvPr id="95" name="文本框 94"/>
          <p:cNvSpPr txBox="1"/>
          <p:nvPr/>
        </p:nvSpPr>
        <p:spPr>
          <a:xfrm>
            <a:off x="960120" y="2075688"/>
            <a:ext cx="17830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1">
                <a:solidFill>
                  <a:srgbClr val="666666"/>
                </a:solidFill>
                <a:latin typeface="Microsoft YaHei"/>
                <a:ea typeface="Microsoft YaHei"/>
              </a:rPr>
              <a:t>部门</a:t>
            </a:r>
          </a:p>
        </p:txBody>
      </p:sp>
      <p:sp>
        <p:nvSpPr>
          <p:cNvPr id="96" name="矩形 95"/>
          <p:cNvSpPr/>
          <p:nvPr/>
        </p:nvSpPr>
        <p:spPr>
          <a:xfrm>
            <a:off x="2825496" y="1965960"/>
            <a:ext cx="9144" cy="59436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97" name="文本框 96"/>
          <p:cNvSpPr txBox="1"/>
          <p:nvPr/>
        </p:nvSpPr>
        <p:spPr>
          <a:xfrm>
            <a:off x="3017520" y="2075688"/>
            <a:ext cx="82296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sz="1300" dirty="0">
                <a:solidFill>
                  <a:srgbClr val="333333"/>
                </a:solidFill>
                <a:latin typeface="Microsoft YaHei"/>
                <a:ea typeface="Microsoft YaHei"/>
              </a:rPr>
              <a:t>鸿蒙系统安全与应急响应部</a:t>
            </a:r>
            <a:r>
              <a:rPr lang="en-US" altLang="zh-CN" sz="1300" dirty="0">
                <a:solidFill>
                  <a:srgbClr val="333333"/>
                </a:solidFill>
                <a:latin typeface="Microsoft YaHei"/>
                <a:ea typeface="Microsoft YaHei"/>
              </a:rPr>
              <a:t>(</a:t>
            </a:r>
            <a:r>
              <a:rPr lang="zh-CN" altLang="en-US" sz="1300" dirty="0">
                <a:solidFill>
                  <a:srgbClr val="333333"/>
                </a:solidFill>
                <a:latin typeface="Microsoft YaHei"/>
                <a:ea typeface="Microsoft YaHei"/>
              </a:rPr>
              <a:t>终端</a:t>
            </a:r>
            <a:r>
              <a:rPr lang="en-US" altLang="zh-CN" sz="1300" dirty="0">
                <a:solidFill>
                  <a:srgbClr val="333333"/>
                </a:solidFill>
                <a:latin typeface="Microsoft YaHei"/>
                <a:ea typeface="Microsoft YaHei"/>
              </a:rPr>
              <a:t>BG)</a:t>
            </a:r>
            <a:endParaRPr lang="zh-CN" sz="13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98" name="矩形 97"/>
          <p:cNvSpPr/>
          <p:nvPr/>
        </p:nvSpPr>
        <p:spPr>
          <a:xfrm>
            <a:off x="822960" y="2560320"/>
            <a:ext cx="2011680" cy="59436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99" name="矩形 98"/>
          <p:cNvSpPr/>
          <p:nvPr/>
        </p:nvSpPr>
        <p:spPr>
          <a:xfrm>
            <a:off x="2834640" y="2560320"/>
            <a:ext cx="8503920" cy="59436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100" name="矩形 99"/>
          <p:cNvSpPr/>
          <p:nvPr/>
        </p:nvSpPr>
        <p:spPr>
          <a:xfrm>
            <a:off x="822960" y="314553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01" name="矩形 100"/>
          <p:cNvSpPr/>
          <p:nvPr/>
        </p:nvSpPr>
        <p:spPr>
          <a:xfrm>
            <a:off x="822960" y="2560320"/>
            <a:ext cx="36576" cy="594360"/>
          </a:xfrm>
          <a:prstGeom prst="rect">
            <a:avLst/>
          </a:prstGeom>
          <a:solidFill>
            <a:srgbClr val="D0D0D0"/>
          </a:solidFill>
        </p:spPr>
      </p:sp>
      <p:sp>
        <p:nvSpPr>
          <p:cNvPr id="102" name="文本框 101"/>
          <p:cNvSpPr txBox="1"/>
          <p:nvPr/>
        </p:nvSpPr>
        <p:spPr>
          <a:xfrm>
            <a:off x="960120" y="2670048"/>
            <a:ext cx="17830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1">
                <a:solidFill>
                  <a:srgbClr val="666666"/>
                </a:solidFill>
                <a:latin typeface="Microsoft YaHei"/>
                <a:ea typeface="Microsoft YaHei"/>
              </a:rPr>
              <a:t>主管</a:t>
            </a:r>
          </a:p>
        </p:txBody>
      </p:sp>
      <p:sp>
        <p:nvSpPr>
          <p:cNvPr id="103" name="矩形 102"/>
          <p:cNvSpPr/>
          <p:nvPr/>
        </p:nvSpPr>
        <p:spPr>
          <a:xfrm>
            <a:off x="2825496" y="2560320"/>
            <a:ext cx="9144" cy="59436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04" name="文本框 103"/>
          <p:cNvSpPr txBox="1"/>
          <p:nvPr/>
        </p:nvSpPr>
        <p:spPr>
          <a:xfrm>
            <a:off x="3017520" y="2670048"/>
            <a:ext cx="82296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sz="1300" b="0" dirty="0">
                <a:solidFill>
                  <a:srgbClr val="333333"/>
                </a:solidFill>
                <a:latin typeface="Microsoft YaHei"/>
                <a:ea typeface="Microsoft YaHei"/>
              </a:rPr>
              <a:t>刘</a:t>
            </a:r>
            <a:r>
              <a:rPr lang="zh-CN" altLang="en-US" sz="1300" dirty="0">
                <a:solidFill>
                  <a:srgbClr val="333333"/>
                </a:solidFill>
                <a:latin typeface="Microsoft YaHei"/>
                <a:ea typeface="Microsoft YaHei"/>
              </a:rPr>
              <a:t>元章</a:t>
            </a:r>
            <a:endParaRPr lang="zh-CN" sz="13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05" name="矩形 104"/>
          <p:cNvSpPr/>
          <p:nvPr/>
        </p:nvSpPr>
        <p:spPr>
          <a:xfrm>
            <a:off x="822960" y="373989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06" name="矩形 105"/>
          <p:cNvSpPr/>
          <p:nvPr/>
        </p:nvSpPr>
        <p:spPr>
          <a:xfrm>
            <a:off x="822960" y="3154680"/>
            <a:ext cx="36576" cy="594360"/>
          </a:xfrm>
          <a:prstGeom prst="rect">
            <a:avLst/>
          </a:prstGeom>
          <a:solidFill>
            <a:srgbClr val="D0D0D0"/>
          </a:solidFill>
        </p:spPr>
      </p:sp>
      <p:sp>
        <p:nvSpPr>
          <p:cNvPr id="107" name="文本框 106"/>
          <p:cNvSpPr txBox="1"/>
          <p:nvPr/>
        </p:nvSpPr>
        <p:spPr>
          <a:xfrm>
            <a:off x="960120" y="3264408"/>
            <a:ext cx="17830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1">
                <a:solidFill>
                  <a:srgbClr val="666666"/>
                </a:solidFill>
                <a:latin typeface="Microsoft YaHei"/>
                <a:ea typeface="Microsoft YaHei"/>
              </a:rPr>
              <a:t>导师</a:t>
            </a:r>
          </a:p>
        </p:txBody>
      </p:sp>
      <p:sp>
        <p:nvSpPr>
          <p:cNvPr id="108" name="矩形 107"/>
          <p:cNvSpPr/>
          <p:nvPr/>
        </p:nvSpPr>
        <p:spPr>
          <a:xfrm>
            <a:off x="2825496" y="3154680"/>
            <a:ext cx="9144" cy="59436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09" name="文本框 108"/>
          <p:cNvSpPr txBox="1"/>
          <p:nvPr/>
        </p:nvSpPr>
        <p:spPr>
          <a:xfrm>
            <a:off x="3017520" y="3264408"/>
            <a:ext cx="82296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sz="1300" dirty="0">
                <a:solidFill>
                  <a:srgbClr val="333333"/>
                </a:solidFill>
                <a:latin typeface="Microsoft YaHei"/>
                <a:ea typeface="Microsoft YaHei"/>
              </a:rPr>
              <a:t>徐知仁</a:t>
            </a:r>
            <a:endParaRPr lang="zh-CN" sz="13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0" name="矩形 109"/>
          <p:cNvSpPr/>
          <p:nvPr/>
        </p:nvSpPr>
        <p:spPr>
          <a:xfrm>
            <a:off x="822960" y="3749040"/>
            <a:ext cx="2011680" cy="59436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111" name="矩形 110"/>
          <p:cNvSpPr/>
          <p:nvPr/>
        </p:nvSpPr>
        <p:spPr>
          <a:xfrm>
            <a:off x="2834640" y="3749040"/>
            <a:ext cx="8503920" cy="59436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112" name="矩形 111"/>
          <p:cNvSpPr/>
          <p:nvPr/>
        </p:nvSpPr>
        <p:spPr>
          <a:xfrm>
            <a:off x="822960" y="433425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13" name="矩形 112"/>
          <p:cNvSpPr/>
          <p:nvPr/>
        </p:nvSpPr>
        <p:spPr>
          <a:xfrm>
            <a:off x="822960" y="3749040"/>
            <a:ext cx="36576" cy="594360"/>
          </a:xfrm>
          <a:prstGeom prst="rect">
            <a:avLst/>
          </a:prstGeom>
          <a:solidFill>
            <a:srgbClr val="D0D0D0"/>
          </a:solidFill>
        </p:spPr>
      </p:sp>
      <p:sp>
        <p:nvSpPr>
          <p:cNvPr id="114" name="文本框 113"/>
          <p:cNvSpPr txBox="1"/>
          <p:nvPr/>
        </p:nvSpPr>
        <p:spPr>
          <a:xfrm>
            <a:off x="960120" y="3858768"/>
            <a:ext cx="17830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1">
                <a:solidFill>
                  <a:srgbClr val="666666"/>
                </a:solidFill>
                <a:latin typeface="Microsoft YaHei"/>
                <a:ea typeface="Microsoft YaHei"/>
              </a:rPr>
              <a:t>实习日期</a:t>
            </a:r>
          </a:p>
        </p:txBody>
      </p:sp>
      <p:sp>
        <p:nvSpPr>
          <p:cNvPr id="115" name="矩形 114"/>
          <p:cNvSpPr/>
          <p:nvPr/>
        </p:nvSpPr>
        <p:spPr>
          <a:xfrm>
            <a:off x="2825496" y="3749040"/>
            <a:ext cx="9144" cy="59436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16" name="文本框 115"/>
          <p:cNvSpPr txBox="1"/>
          <p:nvPr/>
        </p:nvSpPr>
        <p:spPr>
          <a:xfrm>
            <a:off x="3017520" y="3858768"/>
            <a:ext cx="82296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0" dirty="0">
                <a:solidFill>
                  <a:srgbClr val="333333"/>
                </a:solidFill>
                <a:latin typeface="Microsoft YaHei"/>
                <a:ea typeface="Microsoft YaHei"/>
              </a:rPr>
              <a:t>2026年7月</a:t>
            </a:r>
            <a:r>
              <a:rPr lang="en-US" altLang="zh-CN" sz="1300" b="0" dirty="0">
                <a:solidFill>
                  <a:srgbClr val="333333"/>
                </a:solidFill>
                <a:latin typeface="Microsoft YaHei"/>
                <a:ea typeface="Microsoft YaHei"/>
              </a:rPr>
              <a:t>1</a:t>
            </a:r>
            <a:r>
              <a:rPr lang="zh-CN" altLang="en-US" sz="1300" b="0" dirty="0">
                <a:solidFill>
                  <a:srgbClr val="333333"/>
                </a:solidFill>
                <a:latin typeface="Microsoft YaHei"/>
                <a:ea typeface="Microsoft YaHei"/>
              </a:rPr>
              <a:t>日</a:t>
            </a:r>
            <a:r>
              <a:rPr lang="zh-CN" sz="1300" b="0" dirty="0">
                <a:solidFill>
                  <a:srgbClr val="333333"/>
                </a:solidFill>
                <a:latin typeface="Microsoft YaHei"/>
                <a:ea typeface="Microsoft YaHei"/>
              </a:rPr>
              <a:t> - 2026年8</a:t>
            </a:r>
            <a:r>
              <a:rPr lang="zh-CN" altLang="en-US" sz="1300" b="0" dirty="0">
                <a:solidFill>
                  <a:srgbClr val="333333"/>
                </a:solidFill>
                <a:latin typeface="Microsoft YaHei"/>
                <a:ea typeface="Microsoft YaHei"/>
              </a:rPr>
              <a:t>月</a:t>
            </a:r>
            <a:r>
              <a:rPr lang="en-US" altLang="zh-CN" sz="1300" b="0" dirty="0">
                <a:solidFill>
                  <a:srgbClr val="333333"/>
                </a:solidFill>
                <a:latin typeface="Microsoft YaHei"/>
                <a:ea typeface="Microsoft YaHei"/>
              </a:rPr>
              <a:t>28</a:t>
            </a:r>
            <a:r>
              <a:rPr lang="zh-CN" altLang="en-US" sz="1300" b="0" dirty="0">
                <a:solidFill>
                  <a:srgbClr val="333333"/>
                </a:solidFill>
                <a:latin typeface="Microsoft YaHei"/>
                <a:ea typeface="Microsoft YaHei"/>
              </a:rPr>
              <a:t>日</a:t>
            </a:r>
            <a:endParaRPr lang="zh-CN" sz="13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822960" y="492861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18" name="矩形 117"/>
          <p:cNvSpPr/>
          <p:nvPr/>
        </p:nvSpPr>
        <p:spPr>
          <a:xfrm>
            <a:off x="822960" y="4343400"/>
            <a:ext cx="36576" cy="594360"/>
          </a:xfrm>
          <a:prstGeom prst="rect">
            <a:avLst/>
          </a:prstGeom>
          <a:solidFill>
            <a:srgbClr val="D0D0D0"/>
          </a:solidFill>
        </p:spPr>
      </p:sp>
      <p:sp>
        <p:nvSpPr>
          <p:cNvPr id="119" name="文本框 118"/>
          <p:cNvSpPr txBox="1"/>
          <p:nvPr/>
        </p:nvSpPr>
        <p:spPr>
          <a:xfrm>
            <a:off x="960120" y="4453128"/>
            <a:ext cx="17830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1">
                <a:solidFill>
                  <a:srgbClr val="666666"/>
                </a:solidFill>
                <a:latin typeface="Microsoft YaHei"/>
                <a:ea typeface="Microsoft YaHei"/>
              </a:rPr>
              <a:t>实习课题</a:t>
            </a:r>
          </a:p>
        </p:txBody>
      </p:sp>
      <p:sp>
        <p:nvSpPr>
          <p:cNvPr id="120" name="矩形 119"/>
          <p:cNvSpPr/>
          <p:nvPr/>
        </p:nvSpPr>
        <p:spPr>
          <a:xfrm>
            <a:off x="2825496" y="4343400"/>
            <a:ext cx="9144" cy="59436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21" name="文本框 120"/>
          <p:cNvSpPr txBox="1"/>
          <p:nvPr/>
        </p:nvSpPr>
        <p:spPr>
          <a:xfrm>
            <a:off x="3017520" y="4453128"/>
            <a:ext cx="82296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0">
                <a:solidFill>
                  <a:srgbClr val="333333"/>
                </a:solidFill>
                <a:latin typeface="Microsoft YaHei"/>
                <a:ea typeface="Microsoft YaHei"/>
              </a:rPr>
              <a:t>OpenHarmony CFI 安全检测 Agent</a:t>
            </a:r>
          </a:p>
        </p:txBody>
      </p:sp>
      <p:sp>
        <p:nvSpPr>
          <p:cNvPr id="122" name="矩形 121"/>
          <p:cNvSpPr/>
          <p:nvPr/>
        </p:nvSpPr>
        <p:spPr>
          <a:xfrm>
            <a:off x="822960" y="4937760"/>
            <a:ext cx="2011680" cy="59436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123" name="矩形 122"/>
          <p:cNvSpPr/>
          <p:nvPr/>
        </p:nvSpPr>
        <p:spPr>
          <a:xfrm>
            <a:off x="2834640" y="4937760"/>
            <a:ext cx="8503920" cy="59436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124" name="矩形 123"/>
          <p:cNvSpPr/>
          <p:nvPr/>
        </p:nvSpPr>
        <p:spPr>
          <a:xfrm>
            <a:off x="822960" y="4937760"/>
            <a:ext cx="36576" cy="594360"/>
          </a:xfrm>
          <a:prstGeom prst="rect">
            <a:avLst/>
          </a:prstGeom>
          <a:solidFill>
            <a:srgbClr val="D0D0D0"/>
          </a:solidFill>
        </p:spPr>
      </p:sp>
      <p:sp>
        <p:nvSpPr>
          <p:cNvPr id="125" name="文本框 124"/>
          <p:cNvSpPr txBox="1"/>
          <p:nvPr/>
        </p:nvSpPr>
        <p:spPr>
          <a:xfrm>
            <a:off x="960120" y="5047488"/>
            <a:ext cx="17830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1">
                <a:solidFill>
                  <a:srgbClr val="666666"/>
                </a:solidFill>
                <a:latin typeface="Microsoft YaHei"/>
                <a:ea typeface="Microsoft YaHei"/>
              </a:rPr>
              <a:t>教育经历</a:t>
            </a:r>
          </a:p>
        </p:txBody>
      </p:sp>
      <p:sp>
        <p:nvSpPr>
          <p:cNvPr id="126" name="矩形 125"/>
          <p:cNvSpPr/>
          <p:nvPr/>
        </p:nvSpPr>
        <p:spPr>
          <a:xfrm>
            <a:off x="2825496" y="4937760"/>
            <a:ext cx="9144" cy="59436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27" name="文本框 126"/>
          <p:cNvSpPr txBox="1"/>
          <p:nvPr/>
        </p:nvSpPr>
        <p:spPr>
          <a:xfrm>
            <a:off x="3017520" y="5047488"/>
            <a:ext cx="82296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sz="1300" dirty="0">
                <a:solidFill>
                  <a:srgbClr val="333333"/>
                </a:solidFill>
                <a:latin typeface="Microsoft YaHei"/>
                <a:ea typeface="Microsoft YaHei"/>
              </a:rPr>
              <a:t>本科就读于吉林大学，现哈尔滨工业大学研二在读</a:t>
            </a:r>
            <a:endParaRPr lang="zh-CN" sz="13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59DFF1E7-D5B8-0332-5F73-698FE3D90FB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矩形 136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138" name="矩形 137"/>
          <p:cNvSpPr/>
          <p:nvPr/>
        </p:nvSpPr>
        <p:spPr>
          <a:xfrm>
            <a:off x="71323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39" name="矩形 138"/>
          <p:cNvSpPr/>
          <p:nvPr/>
        </p:nvSpPr>
        <p:spPr>
          <a:xfrm>
            <a:off x="1097280" y="822960"/>
            <a:ext cx="2286000" cy="109728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140" name="矩形 139"/>
          <p:cNvSpPr/>
          <p:nvPr/>
        </p:nvSpPr>
        <p:spPr>
          <a:xfrm>
            <a:off x="1097280" y="1005840"/>
            <a:ext cx="54864" cy="36576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41" name="文本框 140"/>
          <p:cNvSpPr txBox="1"/>
          <p:nvPr/>
        </p:nvSpPr>
        <p:spPr>
          <a:xfrm>
            <a:off x="1463040" y="914400"/>
            <a:ext cx="1828800" cy="9144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6000" b="1">
                <a:solidFill>
                  <a:srgbClr val="CF0A2C"/>
                </a:solidFill>
                <a:latin typeface="Microsoft YaHei"/>
                <a:ea typeface="Microsoft YaHei"/>
              </a:rPr>
              <a:t>02</a:t>
            </a:r>
          </a:p>
        </p:txBody>
      </p:sp>
      <p:sp>
        <p:nvSpPr>
          <p:cNvPr id="142" name="文本框 141"/>
          <p:cNvSpPr txBox="1"/>
          <p:nvPr/>
        </p:nvSpPr>
        <p:spPr>
          <a:xfrm>
            <a:off x="1463040" y="2103120"/>
            <a:ext cx="7315200" cy="7315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3200" b="1">
                <a:solidFill>
                  <a:srgbClr val="333333"/>
                </a:solidFill>
                <a:latin typeface="Microsoft YaHei"/>
                <a:ea typeface="Microsoft YaHei"/>
              </a:rPr>
              <a:t>实习工作内容</a:t>
            </a:r>
          </a:p>
        </p:txBody>
      </p:sp>
      <p:sp>
        <p:nvSpPr>
          <p:cNvPr id="143" name="文本框 142"/>
          <p:cNvSpPr txBox="1"/>
          <p:nvPr/>
        </p:nvSpPr>
        <p:spPr>
          <a:xfrm>
            <a:off x="1463040" y="2926080"/>
            <a:ext cx="7315200" cy="4572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600" b="0">
                <a:solidFill>
                  <a:srgbClr val="999999"/>
                </a:solidFill>
                <a:latin typeface="Microsoft YaHei"/>
                <a:ea typeface="Microsoft YaHei"/>
              </a:rPr>
              <a:t>Internship Work Content</a:t>
            </a:r>
          </a:p>
        </p:txBody>
      </p:sp>
      <p:sp>
        <p:nvSpPr>
          <p:cNvPr id="144" name="矩形 143"/>
          <p:cNvSpPr/>
          <p:nvPr/>
        </p:nvSpPr>
        <p:spPr>
          <a:xfrm>
            <a:off x="1463040" y="3474720"/>
            <a:ext cx="27432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45" name="矩形 144"/>
          <p:cNvSpPr/>
          <p:nvPr/>
        </p:nvSpPr>
        <p:spPr>
          <a:xfrm>
            <a:off x="9448495" y="5029200"/>
            <a:ext cx="2011680" cy="73152"/>
          </a:xfrm>
          <a:prstGeom prst="rect">
            <a:avLst/>
          </a:prstGeom>
          <a:solidFill>
            <a:srgbClr val="D0D0D0"/>
          </a:solidFill>
        </p:spPr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1EF75ADD-F036-CE04-3B18-1D9E6675818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6063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矩形 153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155" name="矩形 154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56" name="矩形 155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57" name="矩形 156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58" name="文本框 157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2800" b="1">
                <a:solidFill>
                  <a:srgbClr val="CF0A2C"/>
                </a:solidFill>
                <a:latin typeface="Microsoft YaHei"/>
                <a:ea typeface="Microsoft YaHei"/>
              </a:rPr>
              <a:t>项目背景与目标</a:t>
            </a:r>
          </a:p>
        </p:txBody>
      </p:sp>
      <p:sp>
        <p:nvSpPr>
          <p:cNvPr id="159" name="矩形 158"/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60" name="矩形 159"/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61" name="矩形 160"/>
          <p:cNvSpPr/>
          <p:nvPr/>
        </p:nvSpPr>
        <p:spPr>
          <a:xfrm>
            <a:off x="640080" y="1280160"/>
            <a:ext cx="10515600" cy="41148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162" name="矩形 161"/>
          <p:cNvSpPr/>
          <p:nvPr/>
        </p:nvSpPr>
        <p:spPr>
          <a:xfrm>
            <a:off x="822960" y="1399032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63" name="文本框 162"/>
          <p:cNvSpPr txBox="1"/>
          <p:nvPr/>
        </p:nvSpPr>
        <p:spPr>
          <a:xfrm>
            <a:off x="1097280" y="1325880"/>
            <a:ext cx="960120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400" b="0">
                <a:solidFill>
                  <a:srgbClr val="333333"/>
                </a:solidFill>
                <a:latin typeface="Microsoft YaHei"/>
                <a:ea typeface="Microsoft YaHei"/>
              </a:rPr>
              <a:t>基于 OpenHarmony 平台，借助 AI Agent 辅助开发</a:t>
            </a:r>
          </a:p>
        </p:txBody>
      </p:sp>
      <p:sp>
        <p:nvSpPr>
          <p:cNvPr id="164" name="矩形 163"/>
          <p:cNvSpPr/>
          <p:nvPr/>
        </p:nvSpPr>
        <p:spPr>
          <a:xfrm>
            <a:off x="822960" y="1901952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65" name="文本框 164"/>
          <p:cNvSpPr txBox="1"/>
          <p:nvPr/>
        </p:nvSpPr>
        <p:spPr>
          <a:xfrm>
            <a:off x="1097280" y="1828800"/>
            <a:ext cx="960120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覆盖前向 CFI（.so/函数/调用点级）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，</a:t>
            </a:r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BTI</a:t>
            </a:r>
            <a:r>
              <a:rPr 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与后向 PAC的双架构安全检测系统</a:t>
            </a:r>
          </a:p>
        </p:txBody>
      </p:sp>
      <p:sp>
        <p:nvSpPr>
          <p:cNvPr id="166" name="矩形 165"/>
          <p:cNvSpPr/>
          <p:nvPr/>
        </p:nvSpPr>
        <p:spPr>
          <a:xfrm>
            <a:off x="640080" y="2286000"/>
            <a:ext cx="10515600" cy="41148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167" name="矩形 166"/>
          <p:cNvSpPr/>
          <p:nvPr/>
        </p:nvSpPr>
        <p:spPr>
          <a:xfrm>
            <a:off x="822960" y="2404872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68" name="文本框 167"/>
          <p:cNvSpPr txBox="1"/>
          <p:nvPr/>
        </p:nvSpPr>
        <p:spPr>
          <a:xfrm>
            <a:off x="1097280" y="2331720"/>
            <a:ext cx="960120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400" b="0">
                <a:solidFill>
                  <a:srgbClr val="333333"/>
                </a:solidFill>
                <a:latin typeface="Microsoft YaHei"/>
                <a:ea typeface="Microsoft YaHei"/>
              </a:rPr>
              <a:t>构建 LLM 驱动 Agent 通过自然语言触发检测</a:t>
            </a:r>
          </a:p>
        </p:txBody>
      </p:sp>
      <p:sp>
        <p:nvSpPr>
          <p:cNvPr id="169" name="矩形 168"/>
          <p:cNvSpPr/>
          <p:nvPr/>
        </p:nvSpPr>
        <p:spPr>
          <a:xfrm>
            <a:off x="822960" y="2907792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70" name="文本框 169"/>
          <p:cNvSpPr txBox="1"/>
          <p:nvPr/>
        </p:nvSpPr>
        <p:spPr>
          <a:xfrm>
            <a:off x="1097280" y="2834640"/>
            <a:ext cx="960120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400" b="0">
                <a:solidFill>
                  <a:srgbClr val="333333"/>
                </a:solidFill>
                <a:latin typeface="Microsoft YaHei"/>
                <a:ea typeface="Microsoft YaHei"/>
              </a:rPr>
              <a:t>结果以 SQLite + HTML/Excel 看板直观展示，已开源至 GitHub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ED45678-A19D-5D12-C480-EB53427AB7D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6063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0" name="矩形 179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181" name="矩形 180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82" name="矩形 181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83" name="矩形 182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84" name="文本框 183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en-US" altLang="zh-CN" sz="2800" b="1" dirty="0" err="1">
                <a:solidFill>
                  <a:srgbClr val="CF0A2C"/>
                </a:solidFill>
                <a:latin typeface="Microsoft YaHei"/>
                <a:ea typeface="Microsoft YaHei"/>
              </a:rPr>
              <a:t>OpenHarmony</a:t>
            </a:r>
            <a:r>
              <a:rPr lang="en-US" altLang="zh-CN" sz="2800" b="1" dirty="0">
                <a:solidFill>
                  <a:srgbClr val="CF0A2C"/>
                </a:solidFill>
                <a:latin typeface="Microsoft YaHei"/>
                <a:ea typeface="Microsoft YaHei"/>
              </a:rPr>
              <a:t> CFI</a:t>
            </a:r>
            <a:r>
              <a:rPr lang="zh-CN" altLang="en-US" sz="2800" b="1" dirty="0">
                <a:solidFill>
                  <a:srgbClr val="CF0A2C"/>
                </a:solidFill>
                <a:latin typeface="Microsoft YaHei"/>
                <a:ea typeface="Microsoft YaHei"/>
              </a:rPr>
              <a:t>相关技术</a:t>
            </a:r>
            <a:endParaRPr lang="zh-CN" sz="2800" b="1" dirty="0">
              <a:solidFill>
                <a:srgbClr val="CF0A2C"/>
              </a:solidFill>
              <a:latin typeface="Microsoft YaHei"/>
              <a:ea typeface="Microsoft YaHei"/>
            </a:endParaRPr>
          </a:p>
        </p:txBody>
      </p:sp>
      <p:sp>
        <p:nvSpPr>
          <p:cNvPr id="185" name="矩形 184"/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86" name="矩形 185"/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187" name="矩形: 圆角 186"/>
          <p:cNvSpPr/>
          <p:nvPr/>
        </p:nvSpPr>
        <p:spPr>
          <a:xfrm>
            <a:off x="640080" y="1371600"/>
            <a:ext cx="5318607" cy="2103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</p:sp>
      <p:sp>
        <p:nvSpPr>
          <p:cNvPr id="188" name="矩形: 圆角 187"/>
          <p:cNvSpPr/>
          <p:nvPr/>
        </p:nvSpPr>
        <p:spPr>
          <a:xfrm>
            <a:off x="6233007" y="1371600"/>
            <a:ext cx="5318607" cy="2103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</p:sp>
      <p:sp>
        <p:nvSpPr>
          <p:cNvPr id="189" name="矩形 188"/>
          <p:cNvSpPr/>
          <p:nvPr/>
        </p:nvSpPr>
        <p:spPr>
          <a:xfrm>
            <a:off x="640080" y="1371600"/>
            <a:ext cx="5318607" cy="41148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190" name="矩形 189"/>
          <p:cNvSpPr/>
          <p:nvPr/>
        </p:nvSpPr>
        <p:spPr>
          <a:xfrm>
            <a:off x="6233007" y="1371600"/>
            <a:ext cx="5318607" cy="41148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191" name="文本框 190"/>
          <p:cNvSpPr txBox="1"/>
          <p:nvPr/>
        </p:nvSpPr>
        <p:spPr>
          <a:xfrm>
            <a:off x="822960" y="1417320"/>
            <a:ext cx="4952847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500" b="1">
                <a:solidFill>
                  <a:srgbClr val="CF0A2C"/>
                </a:solidFill>
                <a:latin typeface="Microsoft YaHei"/>
                <a:ea typeface="Microsoft YaHei"/>
              </a:rPr>
              <a:t>前向 CFI（LLVM CFI）</a:t>
            </a:r>
          </a:p>
        </p:txBody>
      </p:sp>
      <p:sp>
        <p:nvSpPr>
          <p:cNvPr id="192" name="文本框 191"/>
          <p:cNvSpPr txBox="1"/>
          <p:nvPr/>
        </p:nvSpPr>
        <p:spPr>
          <a:xfrm>
            <a:off x="6415887" y="1417320"/>
            <a:ext cx="4952847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500" b="1" dirty="0">
                <a:solidFill>
                  <a:srgbClr val="CF0A2C"/>
                </a:solidFill>
                <a:latin typeface="Microsoft YaHei"/>
                <a:ea typeface="Microsoft YaHei"/>
              </a:rPr>
              <a:t>后向 CFI（PAC ）</a:t>
            </a:r>
          </a:p>
        </p:txBody>
      </p:sp>
      <p:sp>
        <p:nvSpPr>
          <p:cNvPr id="193" name="矩形 192"/>
          <p:cNvSpPr/>
          <p:nvPr/>
        </p:nvSpPr>
        <p:spPr>
          <a:xfrm>
            <a:off x="685800" y="1874520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194" name="矩形 193"/>
          <p:cNvSpPr/>
          <p:nvPr/>
        </p:nvSpPr>
        <p:spPr>
          <a:xfrm>
            <a:off x="822960" y="198424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95" name="文本框 194"/>
          <p:cNvSpPr txBox="1"/>
          <p:nvPr/>
        </p:nvSpPr>
        <p:spPr>
          <a:xfrm>
            <a:off x="1005840" y="192024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编译期为每个受保护函数生成 func.cfi（含类型检查）+ func（原始函数体）</a:t>
            </a:r>
          </a:p>
        </p:txBody>
      </p:sp>
      <p:sp>
        <p:nvSpPr>
          <p:cNvPr id="196" name="矩形 195"/>
          <p:cNvSpPr/>
          <p:nvPr/>
        </p:nvSpPr>
        <p:spPr>
          <a:xfrm>
            <a:off x="822960" y="248716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97" name="文本框 196"/>
          <p:cNvSpPr txBox="1"/>
          <p:nvPr/>
        </p:nvSpPr>
        <p:spPr>
          <a:xfrm>
            <a:off x="1005840" y="242316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间接调用通过 __cfi_slowpath 校验目标类型哈希</a:t>
            </a:r>
          </a:p>
        </p:txBody>
      </p:sp>
      <p:sp>
        <p:nvSpPr>
          <p:cNvPr id="198" name="矩形 197"/>
          <p:cNvSpPr/>
          <p:nvPr/>
        </p:nvSpPr>
        <p:spPr>
          <a:xfrm>
            <a:off x="685800" y="2880360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199" name="矩形 198"/>
          <p:cNvSpPr/>
          <p:nvPr/>
        </p:nvSpPr>
        <p:spPr>
          <a:xfrm>
            <a:off x="822960" y="299008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00" name="文本框 199"/>
          <p:cNvSpPr txBox="1"/>
          <p:nvPr/>
        </p:nvSpPr>
        <p:spPr>
          <a:xfrm>
            <a:off x="1005840" y="292608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防护：vtable hijacking、间接调用劫持</a:t>
            </a:r>
          </a:p>
        </p:txBody>
      </p:sp>
      <p:sp>
        <p:nvSpPr>
          <p:cNvPr id="201" name="矩形 200"/>
          <p:cNvSpPr/>
          <p:nvPr/>
        </p:nvSpPr>
        <p:spPr>
          <a:xfrm>
            <a:off x="6278727" y="1874520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202" name="矩形 201"/>
          <p:cNvSpPr/>
          <p:nvPr/>
        </p:nvSpPr>
        <p:spPr>
          <a:xfrm>
            <a:off x="6415887" y="198424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03" name="文本框 202"/>
          <p:cNvSpPr txBox="1"/>
          <p:nvPr/>
        </p:nvSpPr>
        <p:spPr>
          <a:xfrm>
            <a:off x="6598767" y="192024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PAC：ARMv8.3 指针认证，函数入口签名返回地址，返回时验证</a:t>
            </a:r>
          </a:p>
        </p:txBody>
      </p:sp>
      <p:sp>
        <p:nvSpPr>
          <p:cNvPr id="204" name="矩形 203"/>
          <p:cNvSpPr/>
          <p:nvPr/>
        </p:nvSpPr>
        <p:spPr>
          <a:xfrm>
            <a:off x="6415887" y="248716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05" name="文本框 204"/>
          <p:cNvSpPr txBox="1"/>
          <p:nvPr/>
        </p:nvSpPr>
        <p:spPr>
          <a:xfrm>
            <a:off x="6598767" y="242316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sz="1100" dirty="0">
                <a:solidFill>
                  <a:srgbClr val="333333"/>
                </a:solidFill>
                <a:latin typeface="Microsoft YaHei"/>
                <a:ea typeface="Microsoft YaHei"/>
              </a:rPr>
              <a:t>防护</a:t>
            </a:r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：</a:t>
            </a:r>
            <a:r>
              <a:rPr lang="en-US" alt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ROP</a:t>
            </a:r>
            <a:r>
              <a:rPr lang="zh-CN" altLang="en-US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（</a:t>
            </a:r>
            <a:r>
              <a:rPr lang="zh-CN" altLang="en-US" sz="1100" dirty="0">
                <a:solidFill>
                  <a:srgbClr val="333333"/>
                </a:solidFill>
                <a:latin typeface="Microsoft YaHei"/>
                <a:ea typeface="Microsoft YaHei"/>
              </a:rPr>
              <a:t>返回地址篡改）</a:t>
            </a:r>
            <a:endParaRPr lang="zh-CN" sz="11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06" name="矩形 205"/>
          <p:cNvSpPr/>
          <p:nvPr/>
        </p:nvSpPr>
        <p:spPr>
          <a:xfrm>
            <a:off x="6278727" y="2880360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207" name="矩形 206"/>
          <p:cNvSpPr/>
          <p:nvPr/>
        </p:nvSpPr>
        <p:spPr>
          <a:xfrm>
            <a:off x="6415887" y="299008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08" name="文本框 207"/>
          <p:cNvSpPr txBox="1"/>
          <p:nvPr/>
        </p:nvSpPr>
        <p:spPr>
          <a:xfrm>
            <a:off x="6598767" y="292608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仅 AArch64 支持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EA9B53E8-F3D7-C146-7DBE-A7DBD41E21E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6063" y="6250761"/>
            <a:ext cx="735937" cy="607239"/>
          </a:xfrm>
          <a:prstGeom prst="rect">
            <a:avLst/>
          </a:prstGeom>
        </p:spPr>
      </p:pic>
      <p:sp>
        <p:nvSpPr>
          <p:cNvPr id="3" name="矩形: 圆角 2">
            <a:extLst>
              <a:ext uri="{FF2B5EF4-FFF2-40B4-BE49-F238E27FC236}">
                <a16:creationId xmlns:a16="http://schemas.microsoft.com/office/drawing/2014/main" id="{FEF5CB91-D8CA-247E-61D2-DFB0342A104D}"/>
              </a:ext>
            </a:extLst>
          </p:cNvPr>
          <p:cNvSpPr/>
          <p:nvPr/>
        </p:nvSpPr>
        <p:spPr>
          <a:xfrm>
            <a:off x="638024" y="3945228"/>
            <a:ext cx="5318607" cy="210312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EB293189-8151-5F5D-01DE-FACE9591EEFF}"/>
              </a:ext>
            </a:extLst>
          </p:cNvPr>
          <p:cNvSpPr/>
          <p:nvPr/>
        </p:nvSpPr>
        <p:spPr>
          <a:xfrm>
            <a:off x="640080" y="3945228"/>
            <a:ext cx="5318607" cy="41148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A6E8EAE8-94FF-E511-9625-2DB87FA1B136}"/>
              </a:ext>
            </a:extLst>
          </p:cNvPr>
          <p:cNvSpPr txBox="1"/>
          <p:nvPr/>
        </p:nvSpPr>
        <p:spPr>
          <a:xfrm>
            <a:off x="822960" y="3990948"/>
            <a:ext cx="4952847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sz="1500" b="1" dirty="0">
                <a:solidFill>
                  <a:srgbClr val="CF0A2C"/>
                </a:solidFill>
                <a:latin typeface="Microsoft YaHei"/>
                <a:ea typeface="Microsoft YaHei"/>
              </a:rPr>
              <a:t>前</a:t>
            </a:r>
            <a:r>
              <a:rPr lang="zh-CN" sz="1500" b="1" dirty="0">
                <a:solidFill>
                  <a:srgbClr val="CF0A2C"/>
                </a:solidFill>
                <a:latin typeface="Microsoft YaHei"/>
                <a:ea typeface="Microsoft YaHei"/>
              </a:rPr>
              <a:t>向 CFI（BTI）</a:t>
            </a: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BCF11233-B3DB-48D7-1F31-DD64719EC6A7}"/>
              </a:ext>
            </a:extLst>
          </p:cNvPr>
          <p:cNvSpPr/>
          <p:nvPr/>
        </p:nvSpPr>
        <p:spPr>
          <a:xfrm>
            <a:off x="685800" y="4448148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7" name="矩形 6">
            <a:extLst>
              <a:ext uri="{FF2B5EF4-FFF2-40B4-BE49-F238E27FC236}">
                <a16:creationId xmlns:a16="http://schemas.microsoft.com/office/drawing/2014/main" id="{7F20605C-8A55-7170-217A-699DDEC9751C}"/>
              </a:ext>
            </a:extLst>
          </p:cNvPr>
          <p:cNvSpPr/>
          <p:nvPr/>
        </p:nvSpPr>
        <p:spPr>
          <a:xfrm>
            <a:off x="822960" y="4557876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8" name="文本框 7">
            <a:extLst>
              <a:ext uri="{FF2B5EF4-FFF2-40B4-BE49-F238E27FC236}">
                <a16:creationId xmlns:a16="http://schemas.microsoft.com/office/drawing/2014/main" id="{5A0EA9B9-5C88-D167-167C-E158B1DDD777}"/>
              </a:ext>
            </a:extLst>
          </p:cNvPr>
          <p:cNvSpPr txBox="1"/>
          <p:nvPr/>
        </p:nvSpPr>
        <p:spPr>
          <a:xfrm>
            <a:off x="1005840" y="4493868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zh-CN" sz="1100" dirty="0">
                <a:solidFill>
                  <a:srgbClr val="333333"/>
                </a:solidFill>
              </a:rPr>
              <a:t>BTI：ARMv8.5 分支目标标识，函数入口插入 BTI 指令</a:t>
            </a:r>
          </a:p>
          <a:p>
            <a:endParaRPr lang="zh-CN" sz="11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6FB2504B-3246-5A33-EC16-D7D31AF8115F}"/>
              </a:ext>
            </a:extLst>
          </p:cNvPr>
          <p:cNvSpPr/>
          <p:nvPr/>
        </p:nvSpPr>
        <p:spPr>
          <a:xfrm>
            <a:off x="822960" y="5060796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0" name="文本框 9">
            <a:extLst>
              <a:ext uri="{FF2B5EF4-FFF2-40B4-BE49-F238E27FC236}">
                <a16:creationId xmlns:a16="http://schemas.microsoft.com/office/drawing/2014/main" id="{A8C4C75F-79B7-5C67-8E9D-6D86187F4701}"/>
              </a:ext>
            </a:extLst>
          </p:cNvPr>
          <p:cNvSpPr txBox="1"/>
          <p:nvPr/>
        </p:nvSpPr>
        <p:spPr>
          <a:xfrm>
            <a:off x="1005840" y="4996788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防护</a:t>
            </a:r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： JOP</a:t>
            </a:r>
            <a:r>
              <a:rPr lang="zh-CN" altLang="en-US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（跳转劫持）</a:t>
            </a:r>
            <a:endParaRPr lang="zh-CN" sz="11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1" name="矩形 10">
            <a:extLst>
              <a:ext uri="{FF2B5EF4-FFF2-40B4-BE49-F238E27FC236}">
                <a16:creationId xmlns:a16="http://schemas.microsoft.com/office/drawing/2014/main" id="{41BCEBFE-81C9-F7FA-D222-CDD8CF3BAC48}"/>
              </a:ext>
            </a:extLst>
          </p:cNvPr>
          <p:cNvSpPr/>
          <p:nvPr/>
        </p:nvSpPr>
        <p:spPr>
          <a:xfrm>
            <a:off x="685800" y="5453988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1E26C895-39A7-62CC-8B15-CC3750AF9CE2}"/>
              </a:ext>
            </a:extLst>
          </p:cNvPr>
          <p:cNvSpPr/>
          <p:nvPr/>
        </p:nvSpPr>
        <p:spPr>
          <a:xfrm>
            <a:off x="822960" y="5563716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4C01F82-388D-056A-5DB2-085721E2EC88}"/>
              </a:ext>
            </a:extLst>
          </p:cNvPr>
          <p:cNvSpPr txBox="1"/>
          <p:nvPr/>
        </p:nvSpPr>
        <p:spPr>
          <a:xfrm>
            <a:off x="1005840" y="5499708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仅 AArch64 支持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矩形 21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219" name="矩形 218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20" name="矩形 219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21" name="矩形 220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22" name="文本框 221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2800" b="1">
                <a:solidFill>
                  <a:srgbClr val="CF0A2C"/>
                </a:solidFill>
                <a:latin typeface="Microsoft YaHei"/>
                <a:ea typeface="Microsoft YaHei"/>
              </a:rPr>
              <a:t>5 个检测维度 + 双架构支持</a:t>
            </a:r>
          </a:p>
        </p:txBody>
      </p:sp>
      <p:sp>
        <p:nvSpPr>
          <p:cNvPr id="223" name="矩形 222"/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24" name="矩形 223"/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25" name="矩形 224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26" name="文本框 225"/>
          <p:cNvSpPr txBox="1"/>
          <p:nvPr/>
        </p:nvSpPr>
        <p:spPr>
          <a:xfrm>
            <a:off x="914400" y="1371600"/>
            <a:ext cx="1463040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维度</a:t>
            </a:r>
          </a:p>
        </p:txBody>
      </p:sp>
      <p:sp>
        <p:nvSpPr>
          <p:cNvPr id="227" name="文本框 226"/>
          <p:cNvSpPr txBox="1"/>
          <p:nvPr/>
        </p:nvSpPr>
        <p:spPr>
          <a:xfrm>
            <a:off x="2560320" y="1371600"/>
            <a:ext cx="3931920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检测内容</a:t>
            </a:r>
          </a:p>
        </p:txBody>
      </p:sp>
      <p:sp>
        <p:nvSpPr>
          <p:cNvPr id="228" name="文本框 227"/>
          <p:cNvSpPr txBox="1"/>
          <p:nvPr/>
        </p:nvSpPr>
        <p:spPr>
          <a:xfrm>
            <a:off x="6675120" y="1371600"/>
            <a:ext cx="4572000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检测方法</a:t>
            </a:r>
          </a:p>
        </p:txBody>
      </p:sp>
      <p:sp>
        <p:nvSpPr>
          <p:cNvPr id="229" name="矩形 228"/>
          <p:cNvSpPr/>
          <p:nvPr/>
        </p:nvSpPr>
        <p:spPr>
          <a:xfrm>
            <a:off x="822960" y="1737360"/>
            <a:ext cx="10515600" cy="50292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230" name="矩形 229"/>
          <p:cNvSpPr/>
          <p:nvPr/>
        </p:nvSpPr>
        <p:spPr>
          <a:xfrm>
            <a:off x="822960" y="223113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31" name="矩形 230"/>
          <p:cNvSpPr/>
          <p:nvPr/>
        </p:nvSpPr>
        <p:spPr>
          <a:xfrm>
            <a:off x="822960" y="1737360"/>
            <a:ext cx="36576" cy="5029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32" name="文本框 231"/>
          <p:cNvSpPr txBox="1"/>
          <p:nvPr/>
        </p:nvSpPr>
        <p:spPr>
          <a:xfrm>
            <a:off x="960120" y="1847088"/>
            <a:ext cx="141732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.so 级</a:t>
            </a:r>
          </a:p>
        </p:txBody>
      </p:sp>
      <p:sp>
        <p:nvSpPr>
          <p:cNvPr id="233" name="矩形 232"/>
          <p:cNvSpPr/>
          <p:nvPr/>
        </p:nvSpPr>
        <p:spPr>
          <a:xfrm>
            <a:off x="2459736" y="1737360"/>
            <a:ext cx="9144" cy="50292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34" name="矩形 233"/>
          <p:cNvSpPr/>
          <p:nvPr/>
        </p:nvSpPr>
        <p:spPr>
          <a:xfrm>
            <a:off x="6574536" y="1737360"/>
            <a:ext cx="9144" cy="50292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35" name="文本框 234"/>
          <p:cNvSpPr txBox="1"/>
          <p:nvPr/>
        </p:nvSpPr>
        <p:spPr>
          <a:xfrm>
            <a:off x="2606040" y="18470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CFI 是否开启</a:t>
            </a:r>
          </a:p>
        </p:txBody>
      </p:sp>
      <p:sp>
        <p:nvSpPr>
          <p:cNvPr id="236" name="文本框 235"/>
          <p:cNvSpPr txBox="1"/>
          <p:nvPr/>
        </p:nvSpPr>
        <p:spPr>
          <a:xfrm>
            <a:off x="6720840" y="1847088"/>
            <a:ext cx="45262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检测 __cfi_check 符号</a:t>
            </a:r>
          </a:p>
        </p:txBody>
      </p:sp>
      <p:sp>
        <p:nvSpPr>
          <p:cNvPr id="237" name="矩形 236"/>
          <p:cNvSpPr/>
          <p:nvPr/>
        </p:nvSpPr>
        <p:spPr>
          <a:xfrm>
            <a:off x="822960" y="273405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38" name="矩形 237"/>
          <p:cNvSpPr/>
          <p:nvPr/>
        </p:nvSpPr>
        <p:spPr>
          <a:xfrm>
            <a:off x="822960" y="2240280"/>
            <a:ext cx="36576" cy="5029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39" name="文本框 238"/>
          <p:cNvSpPr txBox="1"/>
          <p:nvPr/>
        </p:nvSpPr>
        <p:spPr>
          <a:xfrm>
            <a:off x="960120" y="2350008"/>
            <a:ext cx="141732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函数级</a:t>
            </a:r>
          </a:p>
        </p:txBody>
      </p:sp>
      <p:sp>
        <p:nvSpPr>
          <p:cNvPr id="240" name="矩形 239"/>
          <p:cNvSpPr/>
          <p:nvPr/>
        </p:nvSpPr>
        <p:spPr>
          <a:xfrm>
            <a:off x="2459736" y="2240280"/>
            <a:ext cx="9144" cy="50292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41" name="矩形 240"/>
          <p:cNvSpPr/>
          <p:nvPr/>
        </p:nvSpPr>
        <p:spPr>
          <a:xfrm>
            <a:off x="6574536" y="2240280"/>
            <a:ext cx="9144" cy="50292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42" name="文本框 241"/>
          <p:cNvSpPr txBox="1"/>
          <p:nvPr/>
        </p:nvSpPr>
        <p:spPr>
          <a:xfrm>
            <a:off x="2606040" y="235000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函数受保护/未保护</a:t>
            </a:r>
          </a:p>
        </p:txBody>
      </p:sp>
      <p:sp>
        <p:nvSpPr>
          <p:cNvPr id="243" name="文本框 242"/>
          <p:cNvSpPr txBox="1"/>
          <p:nvPr/>
        </p:nvSpPr>
        <p:spPr>
          <a:xfrm>
            <a:off x="6720840" y="2350008"/>
            <a:ext cx="45262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func.cfi 后缀分类</a:t>
            </a:r>
          </a:p>
        </p:txBody>
      </p:sp>
      <p:sp>
        <p:nvSpPr>
          <p:cNvPr id="244" name="矩形 243"/>
          <p:cNvSpPr/>
          <p:nvPr/>
        </p:nvSpPr>
        <p:spPr>
          <a:xfrm>
            <a:off x="822960" y="2743200"/>
            <a:ext cx="10515600" cy="50292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245" name="矩形 244"/>
          <p:cNvSpPr/>
          <p:nvPr/>
        </p:nvSpPr>
        <p:spPr>
          <a:xfrm>
            <a:off x="822960" y="323697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46" name="矩形 245"/>
          <p:cNvSpPr/>
          <p:nvPr/>
        </p:nvSpPr>
        <p:spPr>
          <a:xfrm>
            <a:off x="822960" y="2743200"/>
            <a:ext cx="36576" cy="5029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47" name="文本框 246"/>
          <p:cNvSpPr txBox="1"/>
          <p:nvPr/>
        </p:nvSpPr>
        <p:spPr>
          <a:xfrm>
            <a:off x="960120" y="2852928"/>
            <a:ext cx="141732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调用点</a:t>
            </a:r>
          </a:p>
        </p:txBody>
      </p:sp>
      <p:sp>
        <p:nvSpPr>
          <p:cNvPr id="248" name="矩形 247"/>
          <p:cNvSpPr/>
          <p:nvPr/>
        </p:nvSpPr>
        <p:spPr>
          <a:xfrm>
            <a:off x="2459736" y="2743200"/>
            <a:ext cx="9144" cy="50292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49" name="矩形 248"/>
          <p:cNvSpPr/>
          <p:nvPr/>
        </p:nvSpPr>
        <p:spPr>
          <a:xfrm>
            <a:off x="6574536" y="2743200"/>
            <a:ext cx="9144" cy="50292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50" name="文本框 249"/>
          <p:cNvSpPr txBox="1"/>
          <p:nvPr/>
        </p:nvSpPr>
        <p:spPr>
          <a:xfrm>
            <a:off x="2606040" y="285292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vcall + icall CFI 覆盖率</a:t>
            </a:r>
          </a:p>
        </p:txBody>
      </p:sp>
      <p:sp>
        <p:nvSpPr>
          <p:cNvPr id="251" name="文本框 250"/>
          <p:cNvSpPr txBox="1"/>
          <p:nvPr/>
        </p:nvSpPr>
        <p:spPr>
          <a:xfrm>
            <a:off x="6720840" y="2852928"/>
            <a:ext cx="45262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BLR 扫描 + ±48字节 slowpath 判定</a:t>
            </a:r>
          </a:p>
        </p:txBody>
      </p:sp>
      <p:sp>
        <p:nvSpPr>
          <p:cNvPr id="252" name="矩形 251"/>
          <p:cNvSpPr/>
          <p:nvPr/>
        </p:nvSpPr>
        <p:spPr>
          <a:xfrm>
            <a:off x="822960" y="373989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53" name="矩形 252"/>
          <p:cNvSpPr/>
          <p:nvPr/>
        </p:nvSpPr>
        <p:spPr>
          <a:xfrm>
            <a:off x="822960" y="3246120"/>
            <a:ext cx="36576" cy="5029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54" name="文本框 253"/>
          <p:cNvSpPr txBox="1"/>
          <p:nvPr/>
        </p:nvSpPr>
        <p:spPr>
          <a:xfrm>
            <a:off x="960120" y="3355848"/>
            <a:ext cx="141732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PAC</a:t>
            </a:r>
          </a:p>
        </p:txBody>
      </p:sp>
      <p:sp>
        <p:nvSpPr>
          <p:cNvPr id="255" name="矩形 254"/>
          <p:cNvSpPr/>
          <p:nvPr/>
        </p:nvSpPr>
        <p:spPr>
          <a:xfrm>
            <a:off x="2459736" y="3246120"/>
            <a:ext cx="9144" cy="50292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56" name="矩形 255"/>
          <p:cNvSpPr/>
          <p:nvPr/>
        </p:nvSpPr>
        <p:spPr>
          <a:xfrm>
            <a:off x="6574536" y="3246120"/>
            <a:ext cx="9144" cy="50292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57" name="文本框 256"/>
          <p:cNvSpPr txBox="1"/>
          <p:nvPr/>
        </p:nvSpPr>
        <p:spPr>
          <a:xfrm>
            <a:off x="2606040" y="335584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返回地址签名/认证覆盖率</a:t>
            </a:r>
          </a:p>
        </p:txBody>
      </p:sp>
      <p:sp>
        <p:nvSpPr>
          <p:cNvPr id="258" name="文本框 257"/>
          <p:cNvSpPr txBox="1"/>
          <p:nvPr/>
        </p:nvSpPr>
        <p:spPr>
          <a:xfrm>
            <a:off x="6720840" y="3355848"/>
            <a:ext cx="45262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PACIASP/AUTIBSP/RETAA 指令扫描</a:t>
            </a:r>
          </a:p>
        </p:txBody>
      </p:sp>
      <p:sp>
        <p:nvSpPr>
          <p:cNvPr id="259" name="矩形 258"/>
          <p:cNvSpPr/>
          <p:nvPr/>
        </p:nvSpPr>
        <p:spPr>
          <a:xfrm>
            <a:off x="822960" y="3749040"/>
            <a:ext cx="10515600" cy="50292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260" name="矩形 259"/>
          <p:cNvSpPr/>
          <p:nvPr/>
        </p:nvSpPr>
        <p:spPr>
          <a:xfrm>
            <a:off x="822960" y="3749040"/>
            <a:ext cx="36576" cy="5029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61" name="文本框 260"/>
          <p:cNvSpPr txBox="1"/>
          <p:nvPr/>
        </p:nvSpPr>
        <p:spPr>
          <a:xfrm>
            <a:off x="960120" y="3858768"/>
            <a:ext cx="141732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BTI</a:t>
            </a:r>
          </a:p>
        </p:txBody>
      </p:sp>
      <p:sp>
        <p:nvSpPr>
          <p:cNvPr id="262" name="矩形 261"/>
          <p:cNvSpPr/>
          <p:nvPr/>
        </p:nvSpPr>
        <p:spPr>
          <a:xfrm>
            <a:off x="2459736" y="3749040"/>
            <a:ext cx="9144" cy="50292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63" name="矩形 262"/>
          <p:cNvSpPr/>
          <p:nvPr/>
        </p:nvSpPr>
        <p:spPr>
          <a:xfrm>
            <a:off x="6574536" y="3749040"/>
            <a:ext cx="9144" cy="50292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64" name="文本框 263"/>
          <p:cNvSpPr txBox="1"/>
          <p:nvPr/>
        </p:nvSpPr>
        <p:spPr>
          <a:xfrm>
            <a:off x="2606040" y="385876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函数入口 BTI 覆盖率</a:t>
            </a:r>
          </a:p>
        </p:txBody>
      </p:sp>
      <p:sp>
        <p:nvSpPr>
          <p:cNvPr id="265" name="文本框 264"/>
          <p:cNvSpPr txBox="1"/>
          <p:nvPr/>
        </p:nvSpPr>
        <p:spPr>
          <a:xfrm>
            <a:off x="6720840" y="3858768"/>
            <a:ext cx="452628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HINT 字节扫描 + 函数入口检查</a:t>
            </a:r>
          </a:p>
        </p:txBody>
      </p:sp>
      <p:sp>
        <p:nvSpPr>
          <p:cNvPr id="266" name="矩形 265"/>
          <p:cNvSpPr/>
          <p:nvPr/>
        </p:nvSpPr>
        <p:spPr>
          <a:xfrm>
            <a:off x="822960" y="1325880"/>
            <a:ext cx="10515600" cy="2926080"/>
          </a:xfrm>
          <a:prstGeom prst="rect">
            <a:avLst/>
          </a:prstGeom>
          <a:ln>
            <a:solidFill>
              <a:srgbClr val="E0E0E0"/>
            </a:solidFill>
          </a:ln>
        </p:spPr>
      </p:sp>
      <p:sp>
        <p:nvSpPr>
          <p:cNvPr id="267" name="矩形: 圆角 266"/>
          <p:cNvSpPr/>
          <p:nvPr/>
        </p:nvSpPr>
        <p:spPr>
          <a:xfrm>
            <a:off x="822960" y="4539159"/>
            <a:ext cx="10515600" cy="1321308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>
            <a:solidFill>
              <a:srgbClr val="E0E0E0"/>
            </a:solidFill>
          </a:ln>
        </p:spPr>
      </p:sp>
      <p:sp>
        <p:nvSpPr>
          <p:cNvPr id="268" name="文本框 267"/>
          <p:cNvSpPr txBox="1"/>
          <p:nvPr/>
        </p:nvSpPr>
        <p:spPr>
          <a:xfrm>
            <a:off x="1005840" y="4617720"/>
            <a:ext cx="18288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1">
                <a:solidFill>
                  <a:srgbClr val="CF0A2C"/>
                </a:solidFill>
                <a:latin typeface="Microsoft YaHei"/>
                <a:ea typeface="Microsoft YaHei"/>
              </a:rPr>
              <a:t>双架构自动识别</a:t>
            </a:r>
          </a:p>
        </p:txBody>
      </p:sp>
      <p:sp>
        <p:nvSpPr>
          <p:cNvPr id="269" name="矩形 268"/>
          <p:cNvSpPr/>
          <p:nvPr/>
        </p:nvSpPr>
        <p:spPr>
          <a:xfrm>
            <a:off x="1005840" y="4978908"/>
            <a:ext cx="91440" cy="91440"/>
          </a:xfrm>
          <a:prstGeom prst="rect">
            <a:avLst/>
          </a:prstGeom>
          <a:solidFill>
            <a:srgbClr val="CF0A2C"/>
          </a:solidFill>
        </p:spPr>
        <p:txBody>
          <a:bodyPr/>
          <a:lstStyle/>
          <a:p>
            <a:endParaRPr lang="zh-CN" altLang="en-US" dirty="0"/>
          </a:p>
        </p:txBody>
      </p:sp>
      <p:sp>
        <p:nvSpPr>
          <p:cNvPr id="270" name="文本框 269"/>
          <p:cNvSpPr txBox="1"/>
          <p:nvPr/>
        </p:nvSpPr>
        <p:spPr>
          <a:xfrm>
            <a:off x="1234440" y="4910328"/>
            <a:ext cx="9144000" cy="2286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ARM 32-bit Thumb：BLX + LDR 20字节窗口</a:t>
            </a:r>
          </a:p>
        </p:txBody>
      </p:sp>
      <p:sp>
        <p:nvSpPr>
          <p:cNvPr id="271" name="矩形 270"/>
          <p:cNvSpPr/>
          <p:nvPr/>
        </p:nvSpPr>
        <p:spPr>
          <a:xfrm>
            <a:off x="1014211" y="5276733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72" name="文本框 271"/>
          <p:cNvSpPr txBox="1"/>
          <p:nvPr/>
        </p:nvSpPr>
        <p:spPr>
          <a:xfrm>
            <a:off x="1234440" y="5199459"/>
            <a:ext cx="9144000" cy="2286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AArch64：BLR + LDR 48字节窗口</a:t>
            </a:r>
          </a:p>
        </p:txBody>
      </p:sp>
      <p:sp>
        <p:nvSpPr>
          <p:cNvPr id="273" name="矩形 272"/>
          <p:cNvSpPr/>
          <p:nvPr/>
        </p:nvSpPr>
        <p:spPr>
          <a:xfrm>
            <a:off x="1007772" y="5557492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74" name="文本框 273"/>
          <p:cNvSpPr txBox="1"/>
          <p:nvPr/>
        </p:nvSpPr>
        <p:spPr>
          <a:xfrm>
            <a:off x="1234440" y="5481828"/>
            <a:ext cx="9144000" cy="2286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32 位自动跳过 PAC/BTI（ARMv8.5-A 专属）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6A238EC9-404A-3CFE-34E5-8F8587DF75A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矩形 283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285" name="矩形 284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86" name="矩形 285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87" name="矩形 286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88" name="文本框 287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2800" b="1">
                <a:solidFill>
                  <a:srgbClr val="CF0A2C"/>
                </a:solidFill>
                <a:latin typeface="Microsoft YaHei"/>
                <a:ea typeface="Microsoft YaHei"/>
              </a:rPr>
              <a:t>Agent 架构设计</a:t>
            </a:r>
          </a:p>
        </p:txBody>
      </p:sp>
      <p:sp>
        <p:nvSpPr>
          <p:cNvPr id="289" name="矩形 288"/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90" name="矩形 289"/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293" name="文本框 292"/>
          <p:cNvSpPr txBox="1"/>
          <p:nvPr/>
        </p:nvSpPr>
        <p:spPr>
          <a:xfrm>
            <a:off x="731520" y="1463040"/>
            <a:ext cx="10728655" cy="256032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用户（自然语言描述需求，如"对 E:/lib.unstripped_6.1 做完整 CFI 检测"）</a:t>
            </a:r>
          </a:p>
        </p:txBody>
      </p:sp>
      <p:sp>
        <p:nvSpPr>
          <p:cNvPr id="316" name="文本框 315"/>
          <p:cNvSpPr txBox="1"/>
          <p:nvPr/>
        </p:nvSpPr>
        <p:spPr>
          <a:xfrm>
            <a:off x="731520" y="5852160"/>
            <a:ext cx="10728655" cy="256032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300" b="1">
                <a:solidFill>
                  <a:srgbClr val="FFFFFF"/>
                </a:solidFill>
                <a:latin typeface="Microsoft YaHei"/>
                <a:ea typeface="Microsoft YaHei"/>
              </a:rPr>
              <a:t>输出：SQLite 数据库 · HTML 报告 · Excel 报告 · Flask API · .pyw 启动器 · GitHub 开源</a:t>
            </a:r>
          </a:p>
        </p:txBody>
      </p:sp>
      <p:sp>
        <p:nvSpPr>
          <p:cNvPr id="2" name="矩形: 圆角 1">
            <a:extLst>
              <a:ext uri="{FF2B5EF4-FFF2-40B4-BE49-F238E27FC236}">
                <a16:creationId xmlns:a16="http://schemas.microsoft.com/office/drawing/2014/main" id="{A8FD9763-2CEA-5794-69EC-D53AA97E0DEB}"/>
              </a:ext>
            </a:extLst>
          </p:cNvPr>
          <p:cNvSpPr/>
          <p:nvPr/>
        </p:nvSpPr>
        <p:spPr>
          <a:xfrm>
            <a:off x="731520" y="1126257"/>
            <a:ext cx="10515600" cy="5461286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>
            <a:solidFill>
              <a:srgbClr val="E0E0E0"/>
            </a:solidFill>
          </a:ln>
        </p:spPr>
      </p:sp>
      <p:pic>
        <p:nvPicPr>
          <p:cNvPr id="5" name="图片 4">
            <a:extLst>
              <a:ext uri="{FF2B5EF4-FFF2-40B4-BE49-F238E27FC236}">
                <a16:creationId xmlns:a16="http://schemas.microsoft.com/office/drawing/2014/main" id="{1998A0EF-D1DC-2314-5EAC-96427BB8000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2015" y="1144545"/>
            <a:ext cx="6880289" cy="5279429"/>
          </a:xfrm>
          <a:prstGeom prst="rect">
            <a:avLst/>
          </a:prstGeom>
        </p:spPr>
      </p:pic>
      <p:pic>
        <p:nvPicPr>
          <p:cNvPr id="6" name="图片 5">
            <a:extLst>
              <a:ext uri="{FF2B5EF4-FFF2-40B4-BE49-F238E27FC236}">
                <a16:creationId xmlns:a16="http://schemas.microsoft.com/office/drawing/2014/main" id="{6A3A5CAE-ED14-9658-7CE2-AC7608A85F0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矩形 325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327" name="矩形 326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28" name="矩形 327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29" name="矩形 328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30" name="文本框 329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2800" b="1">
                <a:solidFill>
                  <a:srgbClr val="CF0A2C"/>
                </a:solidFill>
                <a:latin typeface="Microsoft YaHei"/>
                <a:ea typeface="Microsoft YaHei"/>
              </a:rPr>
              <a:t>7 种检测模式及耗时</a:t>
            </a:r>
          </a:p>
        </p:txBody>
      </p:sp>
      <p:sp>
        <p:nvSpPr>
          <p:cNvPr id="331" name="矩形 330"/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32" name="矩形 331"/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33" name="矩形 332"/>
          <p:cNvSpPr/>
          <p:nvPr/>
        </p:nvSpPr>
        <p:spPr>
          <a:xfrm>
            <a:off x="822960" y="1325880"/>
            <a:ext cx="10515600" cy="41148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34" name="文本框 333"/>
          <p:cNvSpPr txBox="1"/>
          <p:nvPr/>
        </p:nvSpPr>
        <p:spPr>
          <a:xfrm>
            <a:off x="914400" y="1371600"/>
            <a:ext cx="2103120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检测模式</a:t>
            </a:r>
          </a:p>
        </p:txBody>
      </p:sp>
      <p:sp>
        <p:nvSpPr>
          <p:cNvPr id="335" name="文本框 334"/>
          <p:cNvSpPr txBox="1"/>
          <p:nvPr/>
        </p:nvSpPr>
        <p:spPr>
          <a:xfrm>
            <a:off x="3200400" y="1371600"/>
            <a:ext cx="3931920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检测内容</a:t>
            </a:r>
          </a:p>
        </p:txBody>
      </p:sp>
      <p:sp>
        <p:nvSpPr>
          <p:cNvPr id="336" name="文本框 335"/>
          <p:cNvSpPr txBox="1"/>
          <p:nvPr/>
        </p:nvSpPr>
        <p:spPr>
          <a:xfrm>
            <a:off x="7315200" y="1371600"/>
            <a:ext cx="3931920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FFFFFF"/>
                </a:solidFill>
                <a:latin typeface="Microsoft YaHei"/>
                <a:ea typeface="Microsoft YaHei"/>
              </a:rPr>
              <a:t>耗时</a:t>
            </a:r>
          </a:p>
        </p:txBody>
      </p:sp>
      <p:sp>
        <p:nvSpPr>
          <p:cNvPr id="337" name="矩形 336"/>
          <p:cNvSpPr/>
          <p:nvPr/>
        </p:nvSpPr>
        <p:spPr>
          <a:xfrm>
            <a:off x="822960" y="1737360"/>
            <a:ext cx="10515600" cy="45720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338" name="矩形 337"/>
          <p:cNvSpPr/>
          <p:nvPr/>
        </p:nvSpPr>
        <p:spPr>
          <a:xfrm>
            <a:off x="822960" y="218541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39" name="矩形 338"/>
          <p:cNvSpPr/>
          <p:nvPr/>
        </p:nvSpPr>
        <p:spPr>
          <a:xfrm>
            <a:off x="822960" y="1737360"/>
            <a:ext cx="36576" cy="4572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40" name="文本框 339"/>
          <p:cNvSpPr txBox="1"/>
          <p:nvPr/>
        </p:nvSpPr>
        <p:spPr>
          <a:xfrm>
            <a:off x="960120" y="1847088"/>
            <a:ext cx="20574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.so 级检测</a:t>
            </a:r>
          </a:p>
        </p:txBody>
      </p:sp>
      <p:sp>
        <p:nvSpPr>
          <p:cNvPr id="341" name="矩形 340"/>
          <p:cNvSpPr/>
          <p:nvPr/>
        </p:nvSpPr>
        <p:spPr>
          <a:xfrm>
            <a:off x="3099816" y="17373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42" name="矩形 341"/>
          <p:cNvSpPr/>
          <p:nvPr/>
        </p:nvSpPr>
        <p:spPr>
          <a:xfrm>
            <a:off x="7214616" y="17373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43" name="文本框 342"/>
          <p:cNvSpPr txBox="1"/>
          <p:nvPr/>
        </p:nvSpPr>
        <p:spPr>
          <a:xfrm>
            <a:off x="3246120" y="18470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仅查 CFI 开关</a:t>
            </a:r>
          </a:p>
        </p:txBody>
      </p:sp>
      <p:sp>
        <p:nvSpPr>
          <p:cNvPr id="344" name="文本框 343"/>
          <p:cNvSpPr txBox="1"/>
          <p:nvPr/>
        </p:nvSpPr>
        <p:spPr>
          <a:xfrm>
            <a:off x="7360920" y="18470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26 秒</a:t>
            </a:r>
          </a:p>
        </p:txBody>
      </p:sp>
      <p:sp>
        <p:nvSpPr>
          <p:cNvPr id="345" name="矩形 344"/>
          <p:cNvSpPr/>
          <p:nvPr/>
        </p:nvSpPr>
        <p:spPr>
          <a:xfrm>
            <a:off x="822960" y="264261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46" name="矩形 345"/>
          <p:cNvSpPr/>
          <p:nvPr/>
        </p:nvSpPr>
        <p:spPr>
          <a:xfrm>
            <a:off x="822960" y="2194560"/>
            <a:ext cx="36576" cy="4572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47" name="文本框 346"/>
          <p:cNvSpPr txBox="1"/>
          <p:nvPr/>
        </p:nvSpPr>
        <p:spPr>
          <a:xfrm>
            <a:off x="960120" y="2304288"/>
            <a:ext cx="20574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函数级检测</a:t>
            </a:r>
          </a:p>
        </p:txBody>
      </p:sp>
      <p:sp>
        <p:nvSpPr>
          <p:cNvPr id="348" name="矩形 347"/>
          <p:cNvSpPr/>
          <p:nvPr/>
        </p:nvSpPr>
        <p:spPr>
          <a:xfrm>
            <a:off x="3099816" y="21945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49" name="矩形 348"/>
          <p:cNvSpPr/>
          <p:nvPr/>
        </p:nvSpPr>
        <p:spPr>
          <a:xfrm>
            <a:off x="7214616" y="21945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50" name="文本框 349"/>
          <p:cNvSpPr txBox="1"/>
          <p:nvPr/>
        </p:nvSpPr>
        <p:spPr>
          <a:xfrm>
            <a:off x="3246120" y="23042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+ 函数分类</a:t>
            </a:r>
          </a:p>
        </p:txBody>
      </p:sp>
      <p:sp>
        <p:nvSpPr>
          <p:cNvPr id="351" name="文本框 350"/>
          <p:cNvSpPr txBox="1"/>
          <p:nvPr/>
        </p:nvSpPr>
        <p:spPr>
          <a:xfrm>
            <a:off x="7360920" y="23042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1 分 24 秒</a:t>
            </a:r>
          </a:p>
        </p:txBody>
      </p:sp>
      <p:sp>
        <p:nvSpPr>
          <p:cNvPr id="352" name="矩形 351"/>
          <p:cNvSpPr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353" name="矩形 352"/>
          <p:cNvSpPr/>
          <p:nvPr/>
        </p:nvSpPr>
        <p:spPr>
          <a:xfrm>
            <a:off x="822960" y="309981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54" name="矩形 353"/>
          <p:cNvSpPr/>
          <p:nvPr/>
        </p:nvSpPr>
        <p:spPr>
          <a:xfrm>
            <a:off x="822960" y="2651760"/>
            <a:ext cx="36576" cy="4572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55" name="文本框 354"/>
          <p:cNvSpPr txBox="1"/>
          <p:nvPr/>
        </p:nvSpPr>
        <p:spPr>
          <a:xfrm>
            <a:off x="960120" y="2761488"/>
            <a:ext cx="20574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vcall 检测</a:t>
            </a:r>
          </a:p>
        </p:txBody>
      </p:sp>
      <p:sp>
        <p:nvSpPr>
          <p:cNvPr id="356" name="矩形 355"/>
          <p:cNvSpPr/>
          <p:nvPr/>
        </p:nvSpPr>
        <p:spPr>
          <a:xfrm>
            <a:off x="3099816" y="26517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57" name="矩形 356"/>
          <p:cNvSpPr/>
          <p:nvPr/>
        </p:nvSpPr>
        <p:spPr>
          <a:xfrm>
            <a:off x="7214616" y="26517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58" name="文本框 357"/>
          <p:cNvSpPr txBox="1"/>
          <p:nvPr/>
        </p:nvSpPr>
        <p:spPr>
          <a:xfrm>
            <a:off x="3246120" y="27614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+ 虚函数调用</a:t>
            </a:r>
          </a:p>
        </p:txBody>
      </p:sp>
      <p:sp>
        <p:nvSpPr>
          <p:cNvPr id="359" name="文本框 358"/>
          <p:cNvSpPr txBox="1"/>
          <p:nvPr/>
        </p:nvSpPr>
        <p:spPr>
          <a:xfrm>
            <a:off x="7360920" y="27614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1 分 23 秒</a:t>
            </a:r>
          </a:p>
        </p:txBody>
      </p:sp>
      <p:sp>
        <p:nvSpPr>
          <p:cNvPr id="360" name="矩形 359"/>
          <p:cNvSpPr/>
          <p:nvPr/>
        </p:nvSpPr>
        <p:spPr>
          <a:xfrm>
            <a:off x="822960" y="355701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61" name="矩形 360"/>
          <p:cNvSpPr/>
          <p:nvPr/>
        </p:nvSpPr>
        <p:spPr>
          <a:xfrm>
            <a:off x="822960" y="3108960"/>
            <a:ext cx="36576" cy="4572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62" name="文本框 361"/>
          <p:cNvSpPr txBox="1"/>
          <p:nvPr/>
        </p:nvSpPr>
        <p:spPr>
          <a:xfrm>
            <a:off x="960120" y="3218688"/>
            <a:ext cx="20574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icall 检测</a:t>
            </a:r>
          </a:p>
        </p:txBody>
      </p:sp>
      <p:sp>
        <p:nvSpPr>
          <p:cNvPr id="363" name="矩形 362"/>
          <p:cNvSpPr/>
          <p:nvPr/>
        </p:nvSpPr>
        <p:spPr>
          <a:xfrm>
            <a:off x="3099816" y="31089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64" name="矩形 363"/>
          <p:cNvSpPr/>
          <p:nvPr/>
        </p:nvSpPr>
        <p:spPr>
          <a:xfrm>
            <a:off x="7214616" y="31089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65" name="文本框 364"/>
          <p:cNvSpPr txBox="1"/>
          <p:nvPr/>
        </p:nvSpPr>
        <p:spPr>
          <a:xfrm>
            <a:off x="3246120" y="32186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+ 间接调用</a:t>
            </a:r>
          </a:p>
        </p:txBody>
      </p:sp>
      <p:sp>
        <p:nvSpPr>
          <p:cNvPr id="366" name="文本框 365"/>
          <p:cNvSpPr txBox="1"/>
          <p:nvPr/>
        </p:nvSpPr>
        <p:spPr>
          <a:xfrm>
            <a:off x="7360920" y="32186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1 分 26 秒</a:t>
            </a:r>
          </a:p>
        </p:txBody>
      </p:sp>
      <p:sp>
        <p:nvSpPr>
          <p:cNvPr id="367" name="矩形 366"/>
          <p:cNvSpPr/>
          <p:nvPr/>
        </p:nvSpPr>
        <p:spPr>
          <a:xfrm>
            <a:off x="822960" y="3566160"/>
            <a:ext cx="10515600" cy="45720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368" name="矩形 367"/>
          <p:cNvSpPr/>
          <p:nvPr/>
        </p:nvSpPr>
        <p:spPr>
          <a:xfrm>
            <a:off x="822960" y="401421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69" name="矩形 368"/>
          <p:cNvSpPr/>
          <p:nvPr/>
        </p:nvSpPr>
        <p:spPr>
          <a:xfrm>
            <a:off x="822960" y="3566160"/>
            <a:ext cx="36576" cy="4572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70" name="文本框 369"/>
          <p:cNvSpPr txBox="1"/>
          <p:nvPr/>
        </p:nvSpPr>
        <p:spPr>
          <a:xfrm>
            <a:off x="960120" y="3675888"/>
            <a:ext cx="20574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PAC 检测</a:t>
            </a:r>
          </a:p>
        </p:txBody>
      </p:sp>
      <p:sp>
        <p:nvSpPr>
          <p:cNvPr id="371" name="矩形 370"/>
          <p:cNvSpPr/>
          <p:nvPr/>
        </p:nvSpPr>
        <p:spPr>
          <a:xfrm>
            <a:off x="3099816" y="35661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72" name="矩形 371"/>
          <p:cNvSpPr/>
          <p:nvPr/>
        </p:nvSpPr>
        <p:spPr>
          <a:xfrm>
            <a:off x="7214616" y="35661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73" name="文本框 372"/>
          <p:cNvSpPr txBox="1"/>
          <p:nvPr/>
        </p:nvSpPr>
        <p:spPr>
          <a:xfrm>
            <a:off x="3246120" y="36758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+ 返回地址签名</a:t>
            </a:r>
          </a:p>
        </p:txBody>
      </p:sp>
      <p:sp>
        <p:nvSpPr>
          <p:cNvPr id="374" name="文本框 373"/>
          <p:cNvSpPr txBox="1"/>
          <p:nvPr/>
        </p:nvSpPr>
        <p:spPr>
          <a:xfrm>
            <a:off x="7360920" y="36758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2 分钟</a:t>
            </a:r>
          </a:p>
        </p:txBody>
      </p:sp>
      <p:sp>
        <p:nvSpPr>
          <p:cNvPr id="375" name="矩形 374"/>
          <p:cNvSpPr/>
          <p:nvPr/>
        </p:nvSpPr>
        <p:spPr>
          <a:xfrm>
            <a:off x="822960" y="4471416"/>
            <a:ext cx="10515600" cy="9144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76" name="矩形 375"/>
          <p:cNvSpPr/>
          <p:nvPr/>
        </p:nvSpPr>
        <p:spPr>
          <a:xfrm>
            <a:off x="822960" y="4023360"/>
            <a:ext cx="36576" cy="4572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77" name="文本框 376"/>
          <p:cNvSpPr txBox="1"/>
          <p:nvPr/>
        </p:nvSpPr>
        <p:spPr>
          <a:xfrm>
            <a:off x="960120" y="4133088"/>
            <a:ext cx="20574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BTI 检测</a:t>
            </a:r>
          </a:p>
        </p:txBody>
      </p:sp>
      <p:sp>
        <p:nvSpPr>
          <p:cNvPr id="378" name="矩形 377"/>
          <p:cNvSpPr/>
          <p:nvPr/>
        </p:nvSpPr>
        <p:spPr>
          <a:xfrm>
            <a:off x="3099816" y="40233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79" name="矩形 378"/>
          <p:cNvSpPr/>
          <p:nvPr/>
        </p:nvSpPr>
        <p:spPr>
          <a:xfrm>
            <a:off x="7214616" y="40233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80" name="文本框 379"/>
          <p:cNvSpPr txBox="1"/>
          <p:nvPr/>
        </p:nvSpPr>
        <p:spPr>
          <a:xfrm>
            <a:off x="3246120" y="41330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+ 分支目标标识</a:t>
            </a:r>
          </a:p>
        </p:txBody>
      </p:sp>
      <p:sp>
        <p:nvSpPr>
          <p:cNvPr id="381" name="文本框 380"/>
          <p:cNvSpPr txBox="1"/>
          <p:nvPr/>
        </p:nvSpPr>
        <p:spPr>
          <a:xfrm>
            <a:off x="7360920" y="41330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2 分 4 秒</a:t>
            </a:r>
          </a:p>
        </p:txBody>
      </p:sp>
      <p:sp>
        <p:nvSpPr>
          <p:cNvPr id="382" name="矩形 381"/>
          <p:cNvSpPr/>
          <p:nvPr/>
        </p:nvSpPr>
        <p:spPr>
          <a:xfrm>
            <a:off x="822960" y="4480560"/>
            <a:ext cx="10515600" cy="45720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383" name="矩形 382"/>
          <p:cNvSpPr/>
          <p:nvPr/>
        </p:nvSpPr>
        <p:spPr>
          <a:xfrm>
            <a:off x="822960" y="4480560"/>
            <a:ext cx="36576" cy="4572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384" name="文本框 383"/>
          <p:cNvSpPr txBox="1"/>
          <p:nvPr/>
        </p:nvSpPr>
        <p:spPr>
          <a:xfrm>
            <a:off x="960120" y="4590288"/>
            <a:ext cx="20574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完整检测</a:t>
            </a:r>
          </a:p>
        </p:txBody>
      </p:sp>
      <p:sp>
        <p:nvSpPr>
          <p:cNvPr id="385" name="矩形 384"/>
          <p:cNvSpPr/>
          <p:nvPr/>
        </p:nvSpPr>
        <p:spPr>
          <a:xfrm>
            <a:off x="3099816" y="44805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86" name="矩形 385"/>
          <p:cNvSpPr/>
          <p:nvPr/>
        </p:nvSpPr>
        <p:spPr>
          <a:xfrm>
            <a:off x="7214616" y="4480560"/>
            <a:ext cx="9144" cy="457200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387" name="文本框 386"/>
          <p:cNvSpPr txBox="1"/>
          <p:nvPr/>
        </p:nvSpPr>
        <p:spPr>
          <a:xfrm>
            <a:off x="3246120" y="45902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全维度 (上述全部)</a:t>
            </a:r>
          </a:p>
        </p:txBody>
      </p:sp>
      <p:sp>
        <p:nvSpPr>
          <p:cNvPr id="388" name="文本框 387"/>
          <p:cNvSpPr txBox="1"/>
          <p:nvPr/>
        </p:nvSpPr>
        <p:spPr>
          <a:xfrm>
            <a:off x="7360920" y="4590288"/>
            <a:ext cx="3886200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2 分 21 秒</a:t>
            </a:r>
          </a:p>
        </p:txBody>
      </p:sp>
      <p:sp>
        <p:nvSpPr>
          <p:cNvPr id="389" name="矩形 388"/>
          <p:cNvSpPr/>
          <p:nvPr/>
        </p:nvSpPr>
        <p:spPr>
          <a:xfrm>
            <a:off x="822960" y="1325880"/>
            <a:ext cx="10515600" cy="3611880"/>
          </a:xfrm>
          <a:prstGeom prst="rect">
            <a:avLst/>
          </a:prstGeom>
          <a:ln>
            <a:solidFill>
              <a:srgbClr val="E0E0E0"/>
            </a:solidFill>
          </a:ln>
        </p:spPr>
      </p:sp>
      <p:sp>
        <p:nvSpPr>
          <p:cNvPr id="390" name="文本框 389"/>
          <p:cNvSpPr txBox="1"/>
          <p:nvPr/>
        </p:nvSpPr>
        <p:spPr>
          <a:xfrm>
            <a:off x="822960" y="5212080"/>
            <a:ext cx="1005840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 dirty="0">
                <a:solidFill>
                  <a:srgbClr val="999999"/>
                </a:solidFill>
                <a:latin typeface="Microsoft YaHei"/>
                <a:ea typeface="Microsoft YaHei"/>
              </a:rPr>
              <a:t>测试环境：2953 个 .so，AArch64 架构，OpenHarmony v6.1，ProcessPoolExecutor 并行检测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74DFD0C0-4CE2-AFE8-F48E-8799FCBEED1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0" name="矩形 399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401" name="矩形 400"/>
          <p:cNvSpPr/>
          <p:nvPr/>
        </p:nvSpPr>
        <p:spPr>
          <a:xfrm>
            <a:off x="71323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02" name="矩形 401"/>
          <p:cNvSpPr/>
          <p:nvPr/>
        </p:nvSpPr>
        <p:spPr>
          <a:xfrm>
            <a:off x="1097280" y="822960"/>
            <a:ext cx="2286000" cy="109728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403" name="矩形 402"/>
          <p:cNvSpPr/>
          <p:nvPr/>
        </p:nvSpPr>
        <p:spPr>
          <a:xfrm>
            <a:off x="1097280" y="1005840"/>
            <a:ext cx="54864" cy="36576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04" name="文本框 403"/>
          <p:cNvSpPr txBox="1"/>
          <p:nvPr/>
        </p:nvSpPr>
        <p:spPr>
          <a:xfrm>
            <a:off x="1463040" y="914400"/>
            <a:ext cx="1828800" cy="9144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6000" b="1">
                <a:solidFill>
                  <a:srgbClr val="CF0A2C"/>
                </a:solidFill>
                <a:latin typeface="Microsoft YaHei"/>
                <a:ea typeface="Microsoft YaHei"/>
              </a:rPr>
              <a:t>03</a:t>
            </a:r>
          </a:p>
        </p:txBody>
      </p:sp>
      <p:sp>
        <p:nvSpPr>
          <p:cNvPr id="405" name="文本框 404"/>
          <p:cNvSpPr txBox="1"/>
          <p:nvPr/>
        </p:nvSpPr>
        <p:spPr>
          <a:xfrm>
            <a:off x="1463040" y="2103120"/>
            <a:ext cx="7315200" cy="7315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3200" b="1">
                <a:solidFill>
                  <a:srgbClr val="333333"/>
                </a:solidFill>
                <a:latin typeface="Microsoft YaHei"/>
                <a:ea typeface="Microsoft YaHei"/>
              </a:rPr>
              <a:t>成果展示</a:t>
            </a:r>
          </a:p>
        </p:txBody>
      </p:sp>
      <p:sp>
        <p:nvSpPr>
          <p:cNvPr id="406" name="文本框 405"/>
          <p:cNvSpPr txBox="1"/>
          <p:nvPr/>
        </p:nvSpPr>
        <p:spPr>
          <a:xfrm>
            <a:off x="1463040" y="2926080"/>
            <a:ext cx="7315200" cy="4572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600" b="0">
                <a:solidFill>
                  <a:srgbClr val="999999"/>
                </a:solidFill>
                <a:latin typeface="Microsoft YaHei"/>
                <a:ea typeface="Microsoft YaHei"/>
              </a:rPr>
              <a:t>Achievement Display</a:t>
            </a:r>
          </a:p>
        </p:txBody>
      </p:sp>
      <p:sp>
        <p:nvSpPr>
          <p:cNvPr id="407" name="矩形 406"/>
          <p:cNvSpPr/>
          <p:nvPr/>
        </p:nvSpPr>
        <p:spPr>
          <a:xfrm>
            <a:off x="1463040" y="3474720"/>
            <a:ext cx="27432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408" name="矩形 407"/>
          <p:cNvSpPr/>
          <p:nvPr/>
        </p:nvSpPr>
        <p:spPr>
          <a:xfrm>
            <a:off x="9448495" y="5029200"/>
            <a:ext cx="2011680" cy="73152"/>
          </a:xfrm>
          <a:prstGeom prst="rect">
            <a:avLst/>
          </a:prstGeom>
          <a:solidFill>
            <a:srgbClr val="D0D0D0"/>
          </a:solidFill>
        </p:spPr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0DD03AB9-E762-A0FB-4C3C-8C056ABC164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矩形 41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418" name="矩形 417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19" name="矩形 418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20" name="矩形 419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421" name="文本框 420"/>
          <p:cNvSpPr txBox="1"/>
          <p:nvPr/>
        </p:nvSpPr>
        <p:spPr>
          <a:xfrm>
            <a:off x="822959" y="457200"/>
            <a:ext cx="10980527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sz="2800" b="1" dirty="0">
                <a:solidFill>
                  <a:srgbClr val="CF0A2C"/>
                </a:solidFill>
                <a:latin typeface="Microsoft YaHei"/>
                <a:ea typeface="Microsoft YaHei"/>
              </a:rPr>
              <a:t>对</a:t>
            </a:r>
            <a:r>
              <a:rPr lang="en-US" altLang="zh-CN" sz="2800" b="1" dirty="0" err="1">
                <a:solidFill>
                  <a:srgbClr val="CF0A2C"/>
                </a:solidFill>
                <a:latin typeface="Microsoft YaHei"/>
                <a:ea typeface="Microsoft YaHei"/>
              </a:rPr>
              <a:t>OpenHarmony</a:t>
            </a:r>
            <a:r>
              <a:rPr lang="en-US" altLang="zh-CN" sz="2800" b="1" dirty="0">
                <a:solidFill>
                  <a:srgbClr val="CF0A2C"/>
                </a:solidFill>
                <a:latin typeface="Microsoft YaHei"/>
                <a:ea typeface="Microsoft YaHei"/>
              </a:rPr>
              <a:t> 6.1 release</a:t>
            </a:r>
            <a:r>
              <a:rPr lang="zh-CN" altLang="en-US" sz="2800" b="1" dirty="0">
                <a:solidFill>
                  <a:srgbClr val="CF0A2C"/>
                </a:solidFill>
                <a:latin typeface="Microsoft YaHei"/>
                <a:ea typeface="Microsoft YaHei"/>
              </a:rPr>
              <a:t>版本的全量编译产物进行完整检测</a:t>
            </a:r>
            <a:endParaRPr lang="zh-CN" sz="2800" b="1" dirty="0">
              <a:solidFill>
                <a:srgbClr val="CF0A2C"/>
              </a:solidFill>
              <a:latin typeface="Microsoft YaHei"/>
              <a:ea typeface="Microsoft YaHei"/>
            </a:endParaRPr>
          </a:p>
        </p:txBody>
      </p:sp>
      <p:sp>
        <p:nvSpPr>
          <p:cNvPr id="422" name="矩形 421"/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23" name="矩形 422"/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424" name="矩形: 圆角 423"/>
          <p:cNvSpPr/>
          <p:nvPr/>
        </p:nvSpPr>
        <p:spPr>
          <a:xfrm>
            <a:off x="793081" y="1578511"/>
            <a:ext cx="1497299" cy="54864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425" name="矩形 424"/>
          <p:cNvSpPr/>
          <p:nvPr/>
        </p:nvSpPr>
        <p:spPr>
          <a:xfrm>
            <a:off x="793468" y="1532792"/>
            <a:ext cx="1496526" cy="45719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27" name="文本框 426"/>
          <p:cNvSpPr txBox="1"/>
          <p:nvPr/>
        </p:nvSpPr>
        <p:spPr>
          <a:xfrm>
            <a:off x="855156" y="1637947"/>
            <a:ext cx="237744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en-US" altLang="zh-CN" b="1" dirty="0">
                <a:solidFill>
                  <a:srgbClr val="CF0A2C"/>
                </a:solidFill>
                <a:latin typeface="Microsoft YaHei"/>
                <a:ea typeface="Microsoft YaHei"/>
                <a:hlinkClick r:id="rId2" action="ppaction://hlinkfile"/>
              </a:rPr>
              <a:t>EXCEL</a:t>
            </a:r>
            <a:r>
              <a:rPr lang="zh-CN" altLang="en-US" b="1" dirty="0">
                <a:solidFill>
                  <a:srgbClr val="CF0A2C"/>
                </a:solidFill>
                <a:latin typeface="Microsoft YaHei"/>
                <a:ea typeface="Microsoft YaHei"/>
                <a:hlinkClick r:id="rId2" action="ppaction://hlinkfile"/>
              </a:rPr>
              <a:t>表格</a:t>
            </a:r>
            <a:endParaRPr lang="zh-CN" b="1" dirty="0">
              <a:solidFill>
                <a:srgbClr val="CF0A2C"/>
              </a:solidFill>
              <a:latin typeface="Microsoft YaHei"/>
              <a:ea typeface="Microsoft YaHei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97410313-C492-BC9B-E8FD-C156F114EAD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  <p:sp>
        <p:nvSpPr>
          <p:cNvPr id="5" name="矩形: 圆角 4">
            <a:extLst>
              <a:ext uri="{FF2B5EF4-FFF2-40B4-BE49-F238E27FC236}">
                <a16:creationId xmlns:a16="http://schemas.microsoft.com/office/drawing/2014/main" id="{810EE4E5-E944-1ADA-ECD9-E38A6EC5CE27}"/>
              </a:ext>
            </a:extLst>
          </p:cNvPr>
          <p:cNvSpPr/>
          <p:nvPr/>
        </p:nvSpPr>
        <p:spPr>
          <a:xfrm>
            <a:off x="822959" y="3943406"/>
            <a:ext cx="1497299" cy="54864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  <p:txBody>
          <a:bodyPr/>
          <a:lstStyle/>
          <a:p>
            <a:pPr algn="ctr"/>
            <a:endParaRPr lang="zh-CN" altLang="zh-CN" b="1" dirty="0">
              <a:solidFill>
                <a:srgbClr val="CF0A2C"/>
              </a:solidFill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5A4ADF94-F643-68F2-9861-AF7AC6F97477}"/>
              </a:ext>
            </a:extLst>
          </p:cNvPr>
          <p:cNvSpPr/>
          <p:nvPr/>
        </p:nvSpPr>
        <p:spPr>
          <a:xfrm>
            <a:off x="823346" y="3920547"/>
            <a:ext cx="1496526" cy="45719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7" name="文本框 6">
            <a:extLst>
              <a:ext uri="{FF2B5EF4-FFF2-40B4-BE49-F238E27FC236}">
                <a16:creationId xmlns:a16="http://schemas.microsoft.com/office/drawing/2014/main" id="{0B091322-5BC3-CCD8-8AE5-2047E0B470D8}"/>
              </a:ext>
            </a:extLst>
          </p:cNvPr>
          <p:cNvSpPr txBox="1"/>
          <p:nvPr/>
        </p:nvSpPr>
        <p:spPr>
          <a:xfrm>
            <a:off x="893667" y="4034845"/>
            <a:ext cx="237744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en-US" altLang="zh-CN" b="1" dirty="0">
                <a:solidFill>
                  <a:srgbClr val="CF0A2C"/>
                </a:solidFill>
                <a:latin typeface="Microsoft YaHei"/>
                <a:ea typeface="Microsoft YaHei"/>
                <a:hlinkClick r:id="rId4" action="ppaction://hlinkfile"/>
              </a:rPr>
              <a:t>HTML</a:t>
            </a:r>
            <a:r>
              <a:rPr lang="zh-CN" altLang="en-US" b="1" dirty="0">
                <a:solidFill>
                  <a:srgbClr val="CF0A2C"/>
                </a:solidFill>
                <a:latin typeface="Microsoft YaHei"/>
                <a:ea typeface="Microsoft YaHei"/>
                <a:hlinkClick r:id="rId4" action="ppaction://hlinkfile"/>
              </a:rPr>
              <a:t>看板</a:t>
            </a:r>
            <a:endParaRPr lang="zh-CN" b="1" dirty="0">
              <a:solidFill>
                <a:srgbClr val="CF0A2C"/>
              </a:solidFill>
              <a:latin typeface="Microsoft YaHei"/>
              <a:ea typeface="Microsoft YaHei"/>
            </a:endParaRPr>
          </a:p>
        </p:txBody>
      </p:sp>
      <p:sp>
        <p:nvSpPr>
          <p:cNvPr id="8" name="矩形 7">
            <a:extLst>
              <a:ext uri="{FF2B5EF4-FFF2-40B4-BE49-F238E27FC236}">
                <a16:creationId xmlns:a16="http://schemas.microsoft.com/office/drawing/2014/main" id="{1A957667-8DF8-25E9-ACA5-0ECDC9BFD4A7}"/>
              </a:ext>
            </a:extLst>
          </p:cNvPr>
          <p:cNvSpPr/>
          <p:nvPr/>
        </p:nvSpPr>
        <p:spPr>
          <a:xfrm>
            <a:off x="3609433" y="3974142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9" name="文本框 8">
            <a:extLst>
              <a:ext uri="{FF2B5EF4-FFF2-40B4-BE49-F238E27FC236}">
                <a16:creationId xmlns:a16="http://schemas.microsoft.com/office/drawing/2014/main" id="{DC6CAB8A-741E-81F1-745B-AC8F94DB6F29}"/>
              </a:ext>
            </a:extLst>
          </p:cNvPr>
          <p:cNvSpPr txBox="1"/>
          <p:nvPr/>
        </p:nvSpPr>
        <p:spPr>
          <a:xfrm>
            <a:off x="3883753" y="3900989"/>
            <a:ext cx="4725774" cy="365761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总体</a:t>
            </a:r>
            <a:r>
              <a:rPr 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看板：总体统计卡片 + 覆盖率饼图</a:t>
            </a:r>
          </a:p>
        </p:txBody>
      </p:sp>
      <p:sp>
        <p:nvSpPr>
          <p:cNvPr id="10" name="矩形 9">
            <a:extLst>
              <a:ext uri="{FF2B5EF4-FFF2-40B4-BE49-F238E27FC236}">
                <a16:creationId xmlns:a16="http://schemas.microsoft.com/office/drawing/2014/main" id="{5E768D45-F792-5B16-9602-BAFAA3FD9BC7}"/>
              </a:ext>
            </a:extLst>
          </p:cNvPr>
          <p:cNvSpPr/>
          <p:nvPr/>
        </p:nvSpPr>
        <p:spPr>
          <a:xfrm>
            <a:off x="3609433" y="4477062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1" name="文本框 10">
            <a:extLst>
              <a:ext uri="{FF2B5EF4-FFF2-40B4-BE49-F238E27FC236}">
                <a16:creationId xmlns:a16="http://schemas.microsoft.com/office/drawing/2014/main" id="{BC7EFFFF-F10D-51B8-0306-EA25EB56D89B}"/>
              </a:ext>
            </a:extLst>
          </p:cNvPr>
          <p:cNvSpPr txBox="1"/>
          <p:nvPr/>
        </p:nvSpPr>
        <p:spPr>
          <a:xfrm>
            <a:off x="3883753" y="4403909"/>
            <a:ext cx="4971503" cy="365761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模块列表：模块折叠 + mini 饼图 + CFI/保护率 badge</a:t>
            </a:r>
          </a:p>
        </p:txBody>
      </p:sp>
      <p:sp>
        <p:nvSpPr>
          <p:cNvPr id="12" name="矩形 11">
            <a:extLst>
              <a:ext uri="{FF2B5EF4-FFF2-40B4-BE49-F238E27FC236}">
                <a16:creationId xmlns:a16="http://schemas.microsoft.com/office/drawing/2014/main" id="{8F5249D6-6DA0-BA25-77A6-6F00D55920FC}"/>
              </a:ext>
            </a:extLst>
          </p:cNvPr>
          <p:cNvSpPr/>
          <p:nvPr/>
        </p:nvSpPr>
        <p:spPr>
          <a:xfrm>
            <a:off x="3609433" y="4979982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3" name="文本框 12">
            <a:extLst>
              <a:ext uri="{FF2B5EF4-FFF2-40B4-BE49-F238E27FC236}">
                <a16:creationId xmlns:a16="http://schemas.microsoft.com/office/drawing/2014/main" id="{5BC9F04D-1C10-529D-2CFF-8ACAB30A5DAA}"/>
              </a:ext>
            </a:extLst>
          </p:cNvPr>
          <p:cNvSpPr txBox="1"/>
          <p:nvPr/>
        </p:nvSpPr>
        <p:spPr>
          <a:xfrm>
            <a:off x="3883753" y="4851965"/>
            <a:ext cx="7269351" cy="365762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函数搜索：搜索 CheckWant → 点击查看出现位置 → CFI/PAC/BTI 三维度</a:t>
            </a:r>
          </a:p>
        </p:txBody>
      </p:sp>
      <p:sp>
        <p:nvSpPr>
          <p:cNvPr id="14" name="矩形 13">
            <a:extLst>
              <a:ext uri="{FF2B5EF4-FFF2-40B4-BE49-F238E27FC236}">
                <a16:creationId xmlns:a16="http://schemas.microsoft.com/office/drawing/2014/main" id="{CFF7388F-2ADC-A950-9209-51C68335AE1C}"/>
              </a:ext>
            </a:extLst>
          </p:cNvPr>
          <p:cNvSpPr/>
          <p:nvPr/>
        </p:nvSpPr>
        <p:spPr>
          <a:xfrm>
            <a:off x="3609433" y="1505358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5" name="文本框 14">
            <a:extLst>
              <a:ext uri="{FF2B5EF4-FFF2-40B4-BE49-F238E27FC236}">
                <a16:creationId xmlns:a16="http://schemas.microsoft.com/office/drawing/2014/main" id="{DFCAB380-9BFA-C0C1-6EBC-F55DBC661C76}"/>
              </a:ext>
            </a:extLst>
          </p:cNvPr>
          <p:cNvSpPr txBox="1"/>
          <p:nvPr/>
        </p:nvSpPr>
        <p:spPr>
          <a:xfrm>
            <a:off x="3883753" y="1432205"/>
            <a:ext cx="4725774" cy="365761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Sheet 1 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总体统计：各项覆盖率 </a:t>
            </a:r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+ 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说明文字</a:t>
            </a:r>
            <a:endParaRPr lang="zh-CN" sz="14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6" name="矩形 15">
            <a:extLst>
              <a:ext uri="{FF2B5EF4-FFF2-40B4-BE49-F238E27FC236}">
                <a16:creationId xmlns:a16="http://schemas.microsoft.com/office/drawing/2014/main" id="{2F5FBE08-16AF-0724-7E50-68452F0E237F}"/>
              </a:ext>
            </a:extLst>
          </p:cNvPr>
          <p:cNvSpPr/>
          <p:nvPr/>
        </p:nvSpPr>
        <p:spPr>
          <a:xfrm>
            <a:off x="3609433" y="2008278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7" name="文本框 16">
            <a:extLst>
              <a:ext uri="{FF2B5EF4-FFF2-40B4-BE49-F238E27FC236}">
                <a16:creationId xmlns:a16="http://schemas.microsoft.com/office/drawing/2014/main" id="{A0BE62B7-DE73-8797-2CCF-B39E45E19F19}"/>
              </a:ext>
            </a:extLst>
          </p:cNvPr>
          <p:cNvSpPr txBox="1"/>
          <p:nvPr/>
        </p:nvSpPr>
        <p:spPr>
          <a:xfrm>
            <a:off x="3883753" y="1935125"/>
            <a:ext cx="5607977" cy="365761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Sheet 2 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模块与 </a:t>
            </a:r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.so 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详情：两级折叠展开，含 </a:t>
            </a:r>
            <a:r>
              <a:rPr lang="en-US" altLang="zh-CN" sz="1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vcall</a:t>
            </a:r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/</a:t>
            </a:r>
            <a:r>
              <a:rPr lang="en-US" altLang="zh-CN" sz="1400" b="0" dirty="0" err="1">
                <a:solidFill>
                  <a:srgbClr val="333333"/>
                </a:solidFill>
                <a:latin typeface="Microsoft YaHei"/>
                <a:ea typeface="Microsoft YaHei"/>
              </a:rPr>
              <a:t>icall</a:t>
            </a:r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/PAC/BTI 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列</a:t>
            </a:r>
            <a:endParaRPr lang="zh-CN" sz="14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18" name="矩形 17">
            <a:extLst>
              <a:ext uri="{FF2B5EF4-FFF2-40B4-BE49-F238E27FC236}">
                <a16:creationId xmlns:a16="http://schemas.microsoft.com/office/drawing/2014/main" id="{3E3CBA9E-BB47-76DA-C6FF-A5DD593A6630}"/>
              </a:ext>
            </a:extLst>
          </p:cNvPr>
          <p:cNvSpPr/>
          <p:nvPr/>
        </p:nvSpPr>
        <p:spPr>
          <a:xfrm>
            <a:off x="3609433" y="2481523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19" name="文本框 18">
            <a:extLst>
              <a:ext uri="{FF2B5EF4-FFF2-40B4-BE49-F238E27FC236}">
                <a16:creationId xmlns:a16="http://schemas.microsoft.com/office/drawing/2014/main" id="{62B43E85-1CFF-7130-5DD5-E3D50D15771C}"/>
              </a:ext>
            </a:extLst>
          </p:cNvPr>
          <p:cNvSpPr txBox="1"/>
          <p:nvPr/>
        </p:nvSpPr>
        <p:spPr>
          <a:xfrm>
            <a:off x="3883753" y="2383181"/>
            <a:ext cx="7269351" cy="365762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Sheet 3 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无 </a:t>
            </a:r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CFI 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的 </a:t>
            </a:r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.so 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列表：红色标注，按模块筛选</a:t>
            </a:r>
            <a:endParaRPr lang="zh-CN" sz="14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20" name="矩形 19">
            <a:extLst>
              <a:ext uri="{FF2B5EF4-FFF2-40B4-BE49-F238E27FC236}">
                <a16:creationId xmlns:a16="http://schemas.microsoft.com/office/drawing/2014/main" id="{AF644D13-DAB2-0335-76F8-164633710AF0}"/>
              </a:ext>
            </a:extLst>
          </p:cNvPr>
          <p:cNvSpPr/>
          <p:nvPr/>
        </p:nvSpPr>
        <p:spPr>
          <a:xfrm>
            <a:off x="3609433" y="2919275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1" name="文本框 20">
            <a:extLst>
              <a:ext uri="{FF2B5EF4-FFF2-40B4-BE49-F238E27FC236}">
                <a16:creationId xmlns:a16="http://schemas.microsoft.com/office/drawing/2014/main" id="{1FACEBDC-C35D-3FEE-812E-A9E43CAB147B}"/>
              </a:ext>
            </a:extLst>
          </p:cNvPr>
          <p:cNvSpPr txBox="1"/>
          <p:nvPr/>
        </p:nvSpPr>
        <p:spPr>
          <a:xfrm>
            <a:off x="3883753" y="2846122"/>
            <a:ext cx="4725774" cy="365761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Sheet 4 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预编译厂商库：</a:t>
            </a:r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4 </a:t>
            </a:r>
            <a:r>
              <a:rPr lang="zh-CN" altLang="en-US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个闭源驱动库标注 </a:t>
            </a:r>
            <a:r>
              <a:rPr lang="en-US" alt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NO CFI</a:t>
            </a:r>
            <a:endParaRPr lang="zh-CN" sz="14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3" name="矩形: 圆角 2">
            <a:extLst>
              <a:ext uri="{FF2B5EF4-FFF2-40B4-BE49-F238E27FC236}">
                <a16:creationId xmlns:a16="http://schemas.microsoft.com/office/drawing/2014/main" id="{8D5D53EB-C710-31D0-1BC2-6D0F5BE73457}"/>
              </a:ext>
            </a:extLst>
          </p:cNvPr>
          <p:cNvSpPr/>
          <p:nvPr/>
        </p:nvSpPr>
        <p:spPr>
          <a:xfrm>
            <a:off x="822958" y="5883106"/>
            <a:ext cx="2187349" cy="54864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  <p:txBody>
          <a:bodyPr/>
          <a:lstStyle/>
          <a:p>
            <a:pPr algn="ctr"/>
            <a:endParaRPr lang="zh-CN" altLang="zh-CN" b="1" dirty="0">
              <a:solidFill>
                <a:srgbClr val="CF0A2C"/>
              </a:solidFill>
            </a:endParaRPr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75C117CC-740C-F5B7-E310-FD1ACBB6E762}"/>
              </a:ext>
            </a:extLst>
          </p:cNvPr>
          <p:cNvSpPr/>
          <p:nvPr/>
        </p:nvSpPr>
        <p:spPr>
          <a:xfrm>
            <a:off x="822959" y="5837387"/>
            <a:ext cx="2187348" cy="45719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2" name="文本框 21">
            <a:extLst>
              <a:ext uri="{FF2B5EF4-FFF2-40B4-BE49-F238E27FC236}">
                <a16:creationId xmlns:a16="http://schemas.microsoft.com/office/drawing/2014/main" id="{87829CC1-6621-1700-5818-31D8B7D96727}"/>
              </a:ext>
            </a:extLst>
          </p:cNvPr>
          <p:cNvSpPr txBox="1"/>
          <p:nvPr/>
        </p:nvSpPr>
        <p:spPr>
          <a:xfrm>
            <a:off x="893667" y="5961696"/>
            <a:ext cx="237744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en-US" altLang="zh-CN" b="1" dirty="0">
                <a:solidFill>
                  <a:srgbClr val="CF0A2C"/>
                </a:solidFill>
                <a:latin typeface="Microsoft YaHei"/>
                <a:ea typeface="Microsoft YaHei"/>
                <a:hlinkClick r:id="rId5" action="ppaction://hlinkfile"/>
              </a:rPr>
              <a:t>HTML</a:t>
            </a:r>
            <a:r>
              <a:rPr lang="zh-CN" altLang="en-US" b="1" dirty="0">
                <a:solidFill>
                  <a:srgbClr val="CF0A2C"/>
                </a:solidFill>
                <a:latin typeface="Microsoft YaHei"/>
                <a:ea typeface="Microsoft YaHei"/>
                <a:hlinkClick r:id="rId5" action="ppaction://hlinkfile"/>
              </a:rPr>
              <a:t>看板动态版</a:t>
            </a:r>
            <a:endParaRPr lang="zh-CN" b="1" dirty="0">
              <a:solidFill>
                <a:srgbClr val="CF0A2C"/>
              </a:solidFill>
              <a:latin typeface="Microsoft YaHei"/>
              <a:ea typeface="Microsoft YaHei"/>
            </a:endParaRPr>
          </a:p>
        </p:txBody>
      </p:sp>
      <p:sp>
        <p:nvSpPr>
          <p:cNvPr id="23" name="矩形: 圆角 22">
            <a:extLst>
              <a:ext uri="{FF2B5EF4-FFF2-40B4-BE49-F238E27FC236}">
                <a16:creationId xmlns:a16="http://schemas.microsoft.com/office/drawing/2014/main" id="{E3A78246-A31E-AF5E-D779-084B292E9058}"/>
              </a:ext>
            </a:extLst>
          </p:cNvPr>
          <p:cNvSpPr/>
          <p:nvPr/>
        </p:nvSpPr>
        <p:spPr>
          <a:xfrm>
            <a:off x="5523920" y="5870446"/>
            <a:ext cx="2191468" cy="54864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  <p:txBody>
          <a:bodyPr/>
          <a:lstStyle/>
          <a:p>
            <a:pPr algn="ctr"/>
            <a:endParaRPr lang="zh-CN" altLang="zh-CN" b="1" dirty="0">
              <a:solidFill>
                <a:srgbClr val="CF0A2C"/>
              </a:solidFill>
            </a:endParaRPr>
          </a:p>
        </p:txBody>
      </p:sp>
      <p:sp>
        <p:nvSpPr>
          <p:cNvPr id="24" name="矩形 23">
            <a:extLst>
              <a:ext uri="{FF2B5EF4-FFF2-40B4-BE49-F238E27FC236}">
                <a16:creationId xmlns:a16="http://schemas.microsoft.com/office/drawing/2014/main" id="{657608D0-C325-A9A3-8A9F-1EF2A10CB97B}"/>
              </a:ext>
            </a:extLst>
          </p:cNvPr>
          <p:cNvSpPr/>
          <p:nvPr/>
        </p:nvSpPr>
        <p:spPr>
          <a:xfrm>
            <a:off x="5524306" y="5847587"/>
            <a:ext cx="2191082" cy="45719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25" name="文本框 24">
            <a:extLst>
              <a:ext uri="{FF2B5EF4-FFF2-40B4-BE49-F238E27FC236}">
                <a16:creationId xmlns:a16="http://schemas.microsoft.com/office/drawing/2014/main" id="{E623C11A-41FF-32CF-CC7F-B7B9A1E5A61F}"/>
              </a:ext>
            </a:extLst>
          </p:cNvPr>
          <p:cNvSpPr txBox="1"/>
          <p:nvPr/>
        </p:nvSpPr>
        <p:spPr>
          <a:xfrm>
            <a:off x="5580457" y="5961696"/>
            <a:ext cx="237744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en-US" b="1" dirty="0">
                <a:solidFill>
                  <a:srgbClr val="CF0A2C"/>
                </a:solidFill>
                <a:latin typeface="Microsoft YaHei"/>
                <a:ea typeface="Microsoft YaHei"/>
                <a:hlinkClick r:id="rId6" action="ppaction://hlinkfile"/>
              </a:rPr>
              <a:t>检测过程演示视频</a:t>
            </a:r>
            <a:endParaRPr lang="zh-CN" b="1" dirty="0">
              <a:solidFill>
                <a:srgbClr val="CF0A2C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7" name="矩形 486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488" name="矩形 487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89" name="矩形 488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90" name="矩形 489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491" name="文本框 490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2800" b="1">
                <a:solidFill>
                  <a:srgbClr val="CF0A2C"/>
                </a:solidFill>
                <a:latin typeface="Microsoft YaHei"/>
                <a:ea typeface="Microsoft YaHei"/>
              </a:rPr>
              <a:t>对比分析</a:t>
            </a:r>
          </a:p>
        </p:txBody>
      </p:sp>
      <p:sp>
        <p:nvSpPr>
          <p:cNvPr id="492" name="矩形 491"/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493" name="矩形 492"/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494" name="矩形: 圆角 493"/>
          <p:cNvSpPr/>
          <p:nvPr/>
        </p:nvSpPr>
        <p:spPr>
          <a:xfrm>
            <a:off x="640080" y="1371600"/>
            <a:ext cx="5318607" cy="361188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</p:sp>
      <p:sp>
        <p:nvSpPr>
          <p:cNvPr id="495" name="矩形: 圆角 494"/>
          <p:cNvSpPr/>
          <p:nvPr/>
        </p:nvSpPr>
        <p:spPr>
          <a:xfrm>
            <a:off x="6233007" y="1371600"/>
            <a:ext cx="5318607" cy="3611880"/>
          </a:xfrm>
          <a:prstGeom prst="roundRect">
            <a:avLst>
              <a:gd name="adj" fmla="val 16667"/>
            </a:avLst>
          </a:prstGeom>
          <a:solidFill>
            <a:srgbClr val="F5F5F5"/>
          </a:solidFill>
          <a:ln>
            <a:solidFill>
              <a:srgbClr val="E0E0E0"/>
            </a:solidFill>
          </a:ln>
        </p:spPr>
      </p:sp>
      <p:sp>
        <p:nvSpPr>
          <p:cNvPr id="496" name="矩形 495"/>
          <p:cNvSpPr/>
          <p:nvPr/>
        </p:nvSpPr>
        <p:spPr>
          <a:xfrm>
            <a:off x="640080" y="1371600"/>
            <a:ext cx="5318607" cy="41148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497" name="矩形 496"/>
          <p:cNvSpPr/>
          <p:nvPr/>
        </p:nvSpPr>
        <p:spPr>
          <a:xfrm>
            <a:off x="6233007" y="1371600"/>
            <a:ext cx="5318607" cy="41148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498" name="文本框 497"/>
          <p:cNvSpPr txBox="1"/>
          <p:nvPr/>
        </p:nvSpPr>
        <p:spPr>
          <a:xfrm>
            <a:off x="822960" y="1417320"/>
            <a:ext cx="4952847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500" b="1">
                <a:solidFill>
                  <a:srgbClr val="CF0A2C"/>
                </a:solidFill>
                <a:latin typeface="Microsoft YaHei"/>
                <a:ea typeface="Microsoft YaHei"/>
              </a:rPr>
              <a:t>v6.1 (AArch64, 2953 .so)</a:t>
            </a:r>
          </a:p>
        </p:txBody>
      </p:sp>
      <p:sp>
        <p:nvSpPr>
          <p:cNvPr id="499" name="文本框 498"/>
          <p:cNvSpPr txBox="1"/>
          <p:nvPr/>
        </p:nvSpPr>
        <p:spPr>
          <a:xfrm>
            <a:off x="6415887" y="1417320"/>
            <a:ext cx="4952847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500" b="1">
                <a:solidFill>
                  <a:srgbClr val="CF0A2C"/>
                </a:solidFill>
                <a:latin typeface="Microsoft YaHei"/>
                <a:ea typeface="Microsoft YaHei"/>
              </a:rPr>
              <a:t>v4.1 (ARM 32-bit, 1868 .so)</a:t>
            </a:r>
          </a:p>
        </p:txBody>
      </p:sp>
      <p:sp>
        <p:nvSpPr>
          <p:cNvPr id="500" name="矩形 499"/>
          <p:cNvSpPr/>
          <p:nvPr/>
        </p:nvSpPr>
        <p:spPr>
          <a:xfrm>
            <a:off x="685800" y="1874520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501" name="矩形 500"/>
          <p:cNvSpPr/>
          <p:nvPr/>
        </p:nvSpPr>
        <p:spPr>
          <a:xfrm>
            <a:off x="822960" y="198424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02" name="文本框 501"/>
          <p:cNvSpPr txBox="1"/>
          <p:nvPr/>
        </p:nvSpPr>
        <p:spPr>
          <a:xfrm>
            <a:off x="1005840" y="192024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CFI 开启率：59.3%（1750/2953）</a:t>
            </a:r>
          </a:p>
        </p:txBody>
      </p:sp>
      <p:sp>
        <p:nvSpPr>
          <p:cNvPr id="503" name="矩形 502"/>
          <p:cNvSpPr/>
          <p:nvPr/>
        </p:nvSpPr>
        <p:spPr>
          <a:xfrm>
            <a:off x="822960" y="248716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04" name="文本框 503"/>
          <p:cNvSpPr txBox="1"/>
          <p:nvPr/>
        </p:nvSpPr>
        <p:spPr>
          <a:xfrm>
            <a:off x="1005840" y="242316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CFI 保护函数：102,985</a:t>
            </a:r>
          </a:p>
        </p:txBody>
      </p:sp>
      <p:sp>
        <p:nvSpPr>
          <p:cNvPr id="505" name="矩形 504"/>
          <p:cNvSpPr/>
          <p:nvPr/>
        </p:nvSpPr>
        <p:spPr>
          <a:xfrm>
            <a:off x="685800" y="2880360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506" name="矩形 505"/>
          <p:cNvSpPr/>
          <p:nvPr/>
        </p:nvSpPr>
        <p:spPr>
          <a:xfrm>
            <a:off x="822960" y="299008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07" name="文本框 506"/>
          <p:cNvSpPr txBox="1"/>
          <p:nvPr/>
        </p:nvSpPr>
        <p:spPr>
          <a:xfrm>
            <a:off x="1005840" y="292608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vcall 调用点：335,579（覆盖率 1</a:t>
            </a:r>
            <a:r>
              <a:rPr lang="en-US" alt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8</a:t>
            </a:r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.9%）</a:t>
            </a:r>
          </a:p>
        </p:txBody>
      </p:sp>
      <p:sp>
        <p:nvSpPr>
          <p:cNvPr id="508" name="矩形 507"/>
          <p:cNvSpPr/>
          <p:nvPr/>
        </p:nvSpPr>
        <p:spPr>
          <a:xfrm>
            <a:off x="822960" y="349300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09" name="文本框 508"/>
          <p:cNvSpPr txBox="1"/>
          <p:nvPr/>
        </p:nvSpPr>
        <p:spPr>
          <a:xfrm>
            <a:off x="1005840" y="342900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icall 调用点：114,818（覆盖率 </a:t>
            </a:r>
            <a:r>
              <a:rPr lang="en-US" altLang="zh-CN" sz="1100" dirty="0">
                <a:solidFill>
                  <a:srgbClr val="333333"/>
                </a:solidFill>
                <a:latin typeface="Microsoft YaHei"/>
                <a:ea typeface="Microsoft YaHei"/>
              </a:rPr>
              <a:t>61</a:t>
            </a:r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.</a:t>
            </a:r>
            <a:r>
              <a:rPr lang="en-US" altLang="zh-CN" sz="1100" dirty="0">
                <a:solidFill>
                  <a:srgbClr val="333333"/>
                </a:solidFill>
                <a:latin typeface="Microsoft YaHei"/>
                <a:ea typeface="Microsoft YaHei"/>
              </a:rPr>
              <a:t>5</a:t>
            </a:r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%）</a:t>
            </a:r>
          </a:p>
        </p:txBody>
      </p:sp>
      <p:sp>
        <p:nvSpPr>
          <p:cNvPr id="510" name="矩形 509"/>
          <p:cNvSpPr/>
          <p:nvPr/>
        </p:nvSpPr>
        <p:spPr>
          <a:xfrm>
            <a:off x="685800" y="3886200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511" name="矩形 510"/>
          <p:cNvSpPr/>
          <p:nvPr/>
        </p:nvSpPr>
        <p:spPr>
          <a:xfrm>
            <a:off x="822960" y="399592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12" name="文本框 511"/>
          <p:cNvSpPr txBox="1"/>
          <p:nvPr/>
        </p:nvSpPr>
        <p:spPr>
          <a:xfrm>
            <a:off x="1005840" y="393192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PAC 保护函数：960,186（覆盖率 39.2%）</a:t>
            </a:r>
          </a:p>
        </p:txBody>
      </p:sp>
      <p:sp>
        <p:nvSpPr>
          <p:cNvPr id="513" name="矩形 512"/>
          <p:cNvSpPr/>
          <p:nvPr/>
        </p:nvSpPr>
        <p:spPr>
          <a:xfrm>
            <a:off x="822960" y="449884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14" name="文本框 513"/>
          <p:cNvSpPr txBox="1"/>
          <p:nvPr/>
        </p:nvSpPr>
        <p:spPr>
          <a:xfrm>
            <a:off x="1005840" y="443484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BTI 覆盖函数：11,651（覆盖率 0.5%）</a:t>
            </a:r>
          </a:p>
        </p:txBody>
      </p:sp>
      <p:sp>
        <p:nvSpPr>
          <p:cNvPr id="515" name="矩形 514"/>
          <p:cNvSpPr/>
          <p:nvPr/>
        </p:nvSpPr>
        <p:spPr>
          <a:xfrm>
            <a:off x="6278727" y="1874520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516" name="矩形 515"/>
          <p:cNvSpPr/>
          <p:nvPr/>
        </p:nvSpPr>
        <p:spPr>
          <a:xfrm>
            <a:off x="6415887" y="198424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17" name="文本框 516"/>
          <p:cNvSpPr txBox="1"/>
          <p:nvPr/>
        </p:nvSpPr>
        <p:spPr>
          <a:xfrm>
            <a:off x="6598767" y="192024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CFI 开启率：37.3%（697/1868）</a:t>
            </a:r>
          </a:p>
        </p:txBody>
      </p:sp>
      <p:sp>
        <p:nvSpPr>
          <p:cNvPr id="518" name="矩形 517"/>
          <p:cNvSpPr/>
          <p:nvPr/>
        </p:nvSpPr>
        <p:spPr>
          <a:xfrm>
            <a:off x="6415887" y="248716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19" name="文本框 518"/>
          <p:cNvSpPr txBox="1"/>
          <p:nvPr/>
        </p:nvSpPr>
        <p:spPr>
          <a:xfrm>
            <a:off x="6598767" y="242316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100" b="0">
                <a:solidFill>
                  <a:srgbClr val="333333"/>
                </a:solidFill>
                <a:latin typeface="Microsoft YaHei"/>
                <a:ea typeface="Microsoft YaHei"/>
              </a:rPr>
              <a:t>CFI 保护函数：33,033</a:t>
            </a:r>
          </a:p>
        </p:txBody>
      </p:sp>
      <p:sp>
        <p:nvSpPr>
          <p:cNvPr id="520" name="矩形 519"/>
          <p:cNvSpPr/>
          <p:nvPr/>
        </p:nvSpPr>
        <p:spPr>
          <a:xfrm>
            <a:off x="6278727" y="2880360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521" name="矩形 520"/>
          <p:cNvSpPr/>
          <p:nvPr/>
        </p:nvSpPr>
        <p:spPr>
          <a:xfrm>
            <a:off x="6415887" y="299008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22" name="文本框 521"/>
          <p:cNvSpPr txBox="1"/>
          <p:nvPr/>
        </p:nvSpPr>
        <p:spPr>
          <a:xfrm>
            <a:off x="6598767" y="2915133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zh-CN" sz="1100" dirty="0">
                <a:solidFill>
                  <a:srgbClr val="333333"/>
                </a:solidFill>
              </a:rPr>
              <a:t>vcall 调用点：</a:t>
            </a:r>
            <a:r>
              <a:rPr lang="en-US" altLang="zh-CN" sz="1100" dirty="0">
                <a:solidFill>
                  <a:srgbClr val="333333"/>
                </a:solidFill>
              </a:rPr>
              <a:t>130047</a:t>
            </a:r>
            <a:r>
              <a:rPr lang="zh-CN" altLang="zh-CN" sz="1100" dirty="0">
                <a:solidFill>
                  <a:srgbClr val="333333"/>
                </a:solidFill>
              </a:rPr>
              <a:t>（覆盖率 1</a:t>
            </a:r>
            <a:r>
              <a:rPr lang="en-US" altLang="zh-CN" sz="1100" dirty="0">
                <a:solidFill>
                  <a:srgbClr val="333333"/>
                </a:solidFill>
              </a:rPr>
              <a:t>0</a:t>
            </a:r>
            <a:r>
              <a:rPr lang="zh-CN" altLang="zh-CN" sz="1100" dirty="0">
                <a:solidFill>
                  <a:srgbClr val="333333"/>
                </a:solidFill>
              </a:rPr>
              <a:t>.9%）</a:t>
            </a:r>
          </a:p>
          <a:p>
            <a:endParaRPr lang="zh-CN" sz="11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23" name="矩形 522"/>
          <p:cNvSpPr/>
          <p:nvPr/>
        </p:nvSpPr>
        <p:spPr>
          <a:xfrm>
            <a:off x="6415887" y="349300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24" name="文本框 523"/>
          <p:cNvSpPr txBox="1"/>
          <p:nvPr/>
        </p:nvSpPr>
        <p:spPr>
          <a:xfrm>
            <a:off x="6598767" y="342900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zh-CN" sz="1100" dirty="0">
                <a:solidFill>
                  <a:srgbClr val="333333"/>
                </a:solidFill>
              </a:rPr>
              <a:t>icall 调用点：1</a:t>
            </a:r>
            <a:r>
              <a:rPr lang="en-US" altLang="zh-CN" sz="1100" dirty="0">
                <a:solidFill>
                  <a:srgbClr val="333333"/>
                </a:solidFill>
              </a:rPr>
              <a:t>29641</a:t>
            </a:r>
            <a:r>
              <a:rPr lang="zh-CN" altLang="zh-CN" sz="1100" dirty="0">
                <a:solidFill>
                  <a:srgbClr val="333333"/>
                </a:solidFill>
              </a:rPr>
              <a:t>（覆盖率 </a:t>
            </a:r>
            <a:r>
              <a:rPr lang="en-US" altLang="zh-CN" sz="1100" dirty="0">
                <a:solidFill>
                  <a:srgbClr val="333333"/>
                </a:solidFill>
              </a:rPr>
              <a:t>5</a:t>
            </a:r>
            <a:r>
              <a:rPr lang="zh-CN" altLang="zh-CN" sz="1100" dirty="0">
                <a:solidFill>
                  <a:srgbClr val="333333"/>
                </a:solidFill>
              </a:rPr>
              <a:t>.</a:t>
            </a:r>
            <a:r>
              <a:rPr lang="en-US" altLang="zh-CN" sz="1100" dirty="0">
                <a:solidFill>
                  <a:srgbClr val="333333"/>
                </a:solidFill>
              </a:rPr>
              <a:t>1</a:t>
            </a:r>
            <a:r>
              <a:rPr lang="zh-CN" altLang="zh-CN" sz="1100" dirty="0">
                <a:solidFill>
                  <a:srgbClr val="333333"/>
                </a:solidFill>
              </a:rPr>
              <a:t>%）</a:t>
            </a:r>
          </a:p>
          <a:p>
            <a:endParaRPr lang="zh-CN" sz="11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525" name="矩形 524"/>
          <p:cNvSpPr/>
          <p:nvPr/>
        </p:nvSpPr>
        <p:spPr>
          <a:xfrm>
            <a:off x="6278727" y="3886200"/>
            <a:ext cx="5227167" cy="45720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526" name="矩形 525"/>
          <p:cNvSpPr/>
          <p:nvPr/>
        </p:nvSpPr>
        <p:spPr>
          <a:xfrm>
            <a:off x="6415887" y="3995928"/>
            <a:ext cx="91440" cy="9144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27" name="文本框 526"/>
          <p:cNvSpPr txBox="1"/>
          <p:nvPr/>
        </p:nvSpPr>
        <p:spPr>
          <a:xfrm>
            <a:off x="6598767" y="3931920"/>
            <a:ext cx="4769967" cy="41148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en-US" alt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32</a:t>
            </a:r>
            <a:r>
              <a:rPr lang="zh-CN" altLang="en-US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位</a:t>
            </a:r>
            <a:r>
              <a:rPr lang="zh-CN" sz="1100" b="0" dirty="0">
                <a:solidFill>
                  <a:srgbClr val="333333"/>
                </a:solidFill>
                <a:latin typeface="Microsoft YaHei"/>
                <a:ea typeface="Microsoft YaHei"/>
              </a:rPr>
              <a:t>不支持 PAC/BTI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9EA3214C-D869-3334-A747-71CD31243A4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1" name="矩形 56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562" name="矩形 561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63" name="矩形 562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64" name="矩形 563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565" name="文本框 564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2800" b="1">
                <a:solidFill>
                  <a:srgbClr val="CF0A2C"/>
                </a:solidFill>
                <a:latin typeface="Microsoft YaHei"/>
                <a:ea typeface="Microsoft YaHei"/>
              </a:rPr>
              <a:t>项目时间线</a:t>
            </a:r>
          </a:p>
        </p:txBody>
      </p:sp>
      <p:sp>
        <p:nvSpPr>
          <p:cNvPr id="566" name="矩形 565"/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67" name="矩形 566"/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568" name="矩形: 圆角 567"/>
          <p:cNvSpPr/>
          <p:nvPr/>
        </p:nvSpPr>
        <p:spPr>
          <a:xfrm>
            <a:off x="640080" y="1389888"/>
            <a:ext cx="2590723" cy="4389120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>
            <a:solidFill>
              <a:srgbClr val="E0E0E0"/>
            </a:solidFill>
          </a:ln>
        </p:spPr>
      </p:sp>
      <p:sp>
        <p:nvSpPr>
          <p:cNvPr id="569" name="矩形 568"/>
          <p:cNvSpPr/>
          <p:nvPr/>
        </p:nvSpPr>
        <p:spPr>
          <a:xfrm>
            <a:off x="640080" y="1371600"/>
            <a:ext cx="54864" cy="43891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70" name="文本框 569"/>
          <p:cNvSpPr txBox="1"/>
          <p:nvPr/>
        </p:nvSpPr>
        <p:spPr>
          <a:xfrm>
            <a:off x="822960" y="1508760"/>
            <a:ext cx="2270683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 dirty="0">
                <a:solidFill>
                  <a:srgbClr val="CF0A2C"/>
                </a:solidFill>
                <a:latin typeface="Microsoft YaHei"/>
                <a:ea typeface="Microsoft YaHei"/>
              </a:rPr>
              <a:t>阶段一（7.1-7.14）环境搭建与 CFI 基础</a:t>
            </a:r>
            <a:r>
              <a:rPr lang="zh-CN" altLang="en-US" sz="1200" b="1" dirty="0">
                <a:solidFill>
                  <a:srgbClr val="CF0A2C"/>
                </a:solidFill>
                <a:latin typeface="Microsoft YaHei"/>
                <a:ea typeface="Microsoft YaHei"/>
              </a:rPr>
              <a:t>学习</a:t>
            </a:r>
            <a:endParaRPr lang="zh-CN" sz="1200" b="1" dirty="0">
              <a:solidFill>
                <a:srgbClr val="CF0A2C"/>
              </a:solidFill>
              <a:latin typeface="Microsoft YaHei"/>
              <a:ea typeface="Microsoft YaHei"/>
            </a:endParaRPr>
          </a:p>
        </p:txBody>
      </p:sp>
      <p:sp>
        <p:nvSpPr>
          <p:cNvPr id="571" name="椭圆 570"/>
          <p:cNvSpPr/>
          <p:nvPr/>
        </p:nvSpPr>
        <p:spPr>
          <a:xfrm>
            <a:off x="735576" y="2153025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572" name="文本框 571"/>
          <p:cNvSpPr txBox="1"/>
          <p:nvPr/>
        </p:nvSpPr>
        <p:spPr>
          <a:xfrm>
            <a:off x="822702" y="2076139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源码获取、编译环境、rk3568 烧录</a:t>
            </a:r>
          </a:p>
        </p:txBody>
      </p:sp>
      <p:sp>
        <p:nvSpPr>
          <p:cNvPr id="573" name="椭圆 572"/>
          <p:cNvSpPr/>
          <p:nvPr/>
        </p:nvSpPr>
        <p:spPr>
          <a:xfrm>
            <a:off x="743818" y="2696706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574" name="文本框 573"/>
          <p:cNvSpPr txBox="1"/>
          <p:nvPr/>
        </p:nvSpPr>
        <p:spPr>
          <a:xfrm>
            <a:off x="822701" y="2591616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CFI 反汇编分析：__cfi_check、.cfi 后缀、影子区</a:t>
            </a:r>
          </a:p>
        </p:txBody>
      </p:sp>
      <p:sp>
        <p:nvSpPr>
          <p:cNvPr id="575" name="矩形: 圆角 574"/>
          <p:cNvSpPr/>
          <p:nvPr/>
        </p:nvSpPr>
        <p:spPr>
          <a:xfrm>
            <a:off x="3413683" y="1371600"/>
            <a:ext cx="2590723" cy="4389120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>
            <a:solidFill>
              <a:srgbClr val="E0E0E0"/>
            </a:solidFill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576" name="矩形 575"/>
          <p:cNvSpPr/>
          <p:nvPr/>
        </p:nvSpPr>
        <p:spPr>
          <a:xfrm>
            <a:off x="3413683" y="1371600"/>
            <a:ext cx="54864" cy="43891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77" name="文本框 576"/>
          <p:cNvSpPr txBox="1"/>
          <p:nvPr/>
        </p:nvSpPr>
        <p:spPr>
          <a:xfrm>
            <a:off x="3596563" y="1508760"/>
            <a:ext cx="2270683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阶段二（7.15-7.28）检测引擎实现</a:t>
            </a:r>
          </a:p>
        </p:txBody>
      </p:sp>
      <p:sp>
        <p:nvSpPr>
          <p:cNvPr id="578" name="椭圆 577"/>
          <p:cNvSpPr/>
          <p:nvPr/>
        </p:nvSpPr>
        <p:spPr>
          <a:xfrm>
            <a:off x="3596563" y="2154797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579" name="文本框 578"/>
          <p:cNvSpPr txBox="1"/>
          <p:nvPr/>
        </p:nvSpPr>
        <p:spPr>
          <a:xfrm>
            <a:off x="3678858" y="2072532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5 维检测全覆盖（.so/函数/vcall/icall/PAC/BTI）</a:t>
            </a:r>
          </a:p>
        </p:txBody>
      </p:sp>
      <p:sp>
        <p:nvSpPr>
          <p:cNvPr id="580" name="椭圆 579"/>
          <p:cNvSpPr/>
          <p:nvPr/>
        </p:nvSpPr>
        <p:spPr>
          <a:xfrm>
            <a:off x="3596563" y="2685019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581" name="文本框 580"/>
          <p:cNvSpPr txBox="1"/>
          <p:nvPr/>
        </p:nvSpPr>
        <p:spPr>
          <a:xfrm>
            <a:off x="3665142" y="2610612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AArch64 + ARM Thumb 双架构指令解码</a:t>
            </a:r>
          </a:p>
        </p:txBody>
      </p:sp>
      <p:sp>
        <p:nvSpPr>
          <p:cNvPr id="582" name="椭圆 581"/>
          <p:cNvSpPr/>
          <p:nvPr/>
        </p:nvSpPr>
        <p:spPr>
          <a:xfrm>
            <a:off x="3603534" y="3220941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583" name="文本框 582"/>
          <p:cNvSpPr txBox="1"/>
          <p:nvPr/>
        </p:nvSpPr>
        <p:spPr>
          <a:xfrm>
            <a:off x="3665142" y="3144086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v4.1 + v6.1 全量批量验证</a:t>
            </a:r>
          </a:p>
        </p:txBody>
      </p:sp>
      <p:sp>
        <p:nvSpPr>
          <p:cNvPr id="584" name="矩形: 圆角 583"/>
          <p:cNvSpPr/>
          <p:nvPr/>
        </p:nvSpPr>
        <p:spPr>
          <a:xfrm>
            <a:off x="6187286" y="1371600"/>
            <a:ext cx="2590723" cy="4389120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>
            <a:solidFill>
              <a:srgbClr val="E0E0E0"/>
            </a:solidFill>
          </a:ln>
        </p:spPr>
        <p:txBody>
          <a:bodyPr/>
          <a:lstStyle/>
          <a:p>
            <a:endParaRPr lang="zh-CN" altLang="en-US" dirty="0"/>
          </a:p>
        </p:txBody>
      </p:sp>
      <p:sp>
        <p:nvSpPr>
          <p:cNvPr id="585" name="矩形 584"/>
          <p:cNvSpPr/>
          <p:nvPr/>
        </p:nvSpPr>
        <p:spPr>
          <a:xfrm>
            <a:off x="6187286" y="1371600"/>
            <a:ext cx="54864" cy="43891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86" name="文本框 585"/>
          <p:cNvSpPr txBox="1"/>
          <p:nvPr/>
        </p:nvSpPr>
        <p:spPr>
          <a:xfrm>
            <a:off x="6370166" y="1508760"/>
            <a:ext cx="2270683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>
                <a:solidFill>
                  <a:srgbClr val="CF0A2C"/>
                </a:solidFill>
                <a:latin typeface="Microsoft YaHei"/>
                <a:ea typeface="Microsoft YaHei"/>
              </a:rPr>
              <a:t>阶段三（7.29-8.25）Web 可视化 + 性能优化</a:t>
            </a:r>
          </a:p>
        </p:txBody>
      </p:sp>
      <p:sp>
        <p:nvSpPr>
          <p:cNvPr id="587" name="椭圆 586"/>
          <p:cNvSpPr/>
          <p:nvPr/>
        </p:nvSpPr>
        <p:spPr>
          <a:xfrm>
            <a:off x="6370162" y="2172022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588" name="文本框 587"/>
          <p:cNvSpPr txBox="1"/>
          <p:nvPr/>
        </p:nvSpPr>
        <p:spPr>
          <a:xfrm>
            <a:off x="6425026" y="2067575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SQLite + HTML + Excel + Flask 报告管线</a:t>
            </a:r>
          </a:p>
        </p:txBody>
      </p:sp>
      <p:sp>
        <p:nvSpPr>
          <p:cNvPr id="589" name="椭圆 588"/>
          <p:cNvSpPr/>
          <p:nvPr/>
        </p:nvSpPr>
        <p:spPr>
          <a:xfrm>
            <a:off x="6367102" y="2692200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590" name="文本框 589"/>
          <p:cNvSpPr txBox="1"/>
          <p:nvPr/>
        </p:nvSpPr>
        <p:spPr>
          <a:xfrm>
            <a:off x="6425027" y="2607135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ProcessPoolExecutor 并行检测</a:t>
            </a:r>
          </a:p>
        </p:txBody>
      </p:sp>
      <p:sp>
        <p:nvSpPr>
          <p:cNvPr id="591" name="椭圆 590"/>
          <p:cNvSpPr/>
          <p:nvPr/>
        </p:nvSpPr>
        <p:spPr>
          <a:xfrm>
            <a:off x="6367102" y="3205324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592" name="文本框 591"/>
          <p:cNvSpPr txBox="1"/>
          <p:nvPr/>
        </p:nvSpPr>
        <p:spPr>
          <a:xfrm>
            <a:off x="6425026" y="3117105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bisect O(n log n) CFI 匹配优化</a:t>
            </a:r>
          </a:p>
        </p:txBody>
      </p:sp>
      <p:sp>
        <p:nvSpPr>
          <p:cNvPr id="593" name="椭圆 592"/>
          <p:cNvSpPr/>
          <p:nvPr/>
        </p:nvSpPr>
        <p:spPr>
          <a:xfrm>
            <a:off x="6367102" y="3611077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594" name="文本框 593"/>
          <p:cNvSpPr txBox="1"/>
          <p:nvPr/>
        </p:nvSpPr>
        <p:spPr>
          <a:xfrm>
            <a:off x="6425025" y="3499191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tools.py 拆分（1215行→5模块815行）</a:t>
            </a:r>
          </a:p>
        </p:txBody>
      </p:sp>
      <p:sp>
        <p:nvSpPr>
          <p:cNvPr id="595" name="矩形: 圆角 594"/>
          <p:cNvSpPr/>
          <p:nvPr/>
        </p:nvSpPr>
        <p:spPr>
          <a:xfrm>
            <a:off x="8960889" y="1371600"/>
            <a:ext cx="2590723" cy="4389120"/>
          </a:xfrm>
          <a:prstGeom prst="roundRect">
            <a:avLst>
              <a:gd name="adj" fmla="val 16667"/>
            </a:avLst>
          </a:prstGeom>
          <a:solidFill>
            <a:srgbClr val="FAFAFA"/>
          </a:solidFill>
          <a:ln>
            <a:solidFill>
              <a:srgbClr val="E0E0E0"/>
            </a:solidFill>
          </a:ln>
        </p:spPr>
      </p:sp>
      <p:sp>
        <p:nvSpPr>
          <p:cNvPr id="596" name="矩形 595"/>
          <p:cNvSpPr/>
          <p:nvPr/>
        </p:nvSpPr>
        <p:spPr>
          <a:xfrm>
            <a:off x="8960889" y="1371600"/>
            <a:ext cx="54864" cy="43891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597" name="文本框 596"/>
          <p:cNvSpPr txBox="1"/>
          <p:nvPr/>
        </p:nvSpPr>
        <p:spPr>
          <a:xfrm>
            <a:off x="9143769" y="1508760"/>
            <a:ext cx="2270683" cy="3200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200" b="1" dirty="0">
                <a:solidFill>
                  <a:srgbClr val="CF0A2C"/>
                </a:solidFill>
                <a:latin typeface="Microsoft YaHei"/>
                <a:ea typeface="Microsoft YaHei"/>
              </a:rPr>
              <a:t>阶段四（8.26-8.28）Skill 封装 + 文档</a:t>
            </a:r>
          </a:p>
        </p:txBody>
      </p:sp>
      <p:sp>
        <p:nvSpPr>
          <p:cNvPr id="598" name="椭圆 597"/>
          <p:cNvSpPr/>
          <p:nvPr/>
        </p:nvSpPr>
        <p:spPr>
          <a:xfrm>
            <a:off x="9198632" y="2116449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599" name="文本框 598"/>
          <p:cNvSpPr txBox="1"/>
          <p:nvPr/>
        </p:nvSpPr>
        <p:spPr>
          <a:xfrm>
            <a:off x="9235208" y="2039596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21 工具自动注册 + 7 种 LLM 支持</a:t>
            </a:r>
          </a:p>
        </p:txBody>
      </p:sp>
      <p:sp>
        <p:nvSpPr>
          <p:cNvPr id="600" name="椭圆 599"/>
          <p:cNvSpPr/>
          <p:nvPr/>
        </p:nvSpPr>
        <p:spPr>
          <a:xfrm>
            <a:off x="9199688" y="2668729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601" name="文本框 600"/>
          <p:cNvSpPr txBox="1"/>
          <p:nvPr/>
        </p:nvSpPr>
        <p:spPr>
          <a:xfrm>
            <a:off x="9235208" y="2588202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安全知识库（6 文件）+ 风险评估引擎</a:t>
            </a:r>
          </a:p>
        </p:txBody>
      </p:sp>
      <p:sp>
        <p:nvSpPr>
          <p:cNvPr id="602" name="椭圆 601"/>
          <p:cNvSpPr/>
          <p:nvPr/>
        </p:nvSpPr>
        <p:spPr>
          <a:xfrm>
            <a:off x="9198632" y="3181113"/>
            <a:ext cx="73152" cy="73152"/>
          </a:xfrm>
          <a:prstGeom prst="ellipse">
            <a:avLst/>
          </a:prstGeom>
          <a:solidFill>
            <a:srgbClr val="CF0A2C"/>
          </a:solidFill>
        </p:spPr>
      </p:sp>
      <p:sp>
        <p:nvSpPr>
          <p:cNvPr id="603" name="文本框 602"/>
          <p:cNvSpPr txBox="1"/>
          <p:nvPr/>
        </p:nvSpPr>
        <p:spPr>
          <a:xfrm>
            <a:off x="9239587" y="3098527"/>
            <a:ext cx="2087803" cy="2743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000" b="0" dirty="0">
                <a:solidFill>
                  <a:srgbClr val="333333"/>
                </a:solidFill>
                <a:latin typeface="Microsoft YaHei"/>
                <a:ea typeface="Microsoft YaHei"/>
              </a:rPr>
              <a:t>GitHub 开源 + README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B6D9B7D4-35A8-4FAC-FB62-27C75EE48BE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237ED7-8981-BE29-8A8B-6EC2168F93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矩形 677">
            <a:extLst>
              <a:ext uri="{FF2B5EF4-FFF2-40B4-BE49-F238E27FC236}">
                <a16:creationId xmlns:a16="http://schemas.microsoft.com/office/drawing/2014/main" id="{3A6A6D77-89E1-FE08-1592-78FACBE1908D}"/>
              </a:ext>
            </a:extLst>
          </p:cNvPr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679" name="矩形 678">
            <a:extLst>
              <a:ext uri="{FF2B5EF4-FFF2-40B4-BE49-F238E27FC236}">
                <a16:creationId xmlns:a16="http://schemas.microsoft.com/office/drawing/2014/main" id="{C4E30362-85A3-34B0-B3CD-74B4DFEF7872}"/>
              </a:ext>
            </a:extLst>
          </p:cNvPr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80" name="矩形 679">
            <a:extLst>
              <a:ext uri="{FF2B5EF4-FFF2-40B4-BE49-F238E27FC236}">
                <a16:creationId xmlns:a16="http://schemas.microsoft.com/office/drawing/2014/main" id="{B8863ED1-1B5C-6923-5DD2-B6C3ADBB8A4F}"/>
              </a:ext>
            </a:extLst>
          </p:cNvPr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81" name="矩形 680">
            <a:extLst>
              <a:ext uri="{FF2B5EF4-FFF2-40B4-BE49-F238E27FC236}">
                <a16:creationId xmlns:a16="http://schemas.microsoft.com/office/drawing/2014/main" id="{349187D1-0E54-941E-4974-ED6209A7F58F}"/>
              </a:ext>
            </a:extLst>
          </p:cNvPr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682" name="文本框 681">
            <a:extLst>
              <a:ext uri="{FF2B5EF4-FFF2-40B4-BE49-F238E27FC236}">
                <a16:creationId xmlns:a16="http://schemas.microsoft.com/office/drawing/2014/main" id="{A5770FD7-9591-A803-2C6A-4DAE30DD3C06}"/>
              </a:ext>
            </a:extLst>
          </p:cNvPr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zh-CN" sz="2800" b="1" dirty="0">
                <a:solidFill>
                  <a:srgbClr val="CF0A2C"/>
                </a:solidFill>
              </a:rPr>
              <a:t>工程优化亮点</a:t>
            </a:r>
          </a:p>
          <a:p>
            <a:endParaRPr lang="zh-CN" sz="2800" b="1" dirty="0">
              <a:solidFill>
                <a:srgbClr val="CF0A2C"/>
              </a:solidFill>
              <a:latin typeface="Microsoft YaHei"/>
              <a:ea typeface="Microsoft YaHei"/>
            </a:endParaRPr>
          </a:p>
        </p:txBody>
      </p:sp>
      <p:sp>
        <p:nvSpPr>
          <p:cNvPr id="683" name="矩形 682">
            <a:extLst>
              <a:ext uri="{FF2B5EF4-FFF2-40B4-BE49-F238E27FC236}">
                <a16:creationId xmlns:a16="http://schemas.microsoft.com/office/drawing/2014/main" id="{8148E25B-DDB5-3AB3-E25B-CA3286864518}"/>
              </a:ext>
            </a:extLst>
          </p:cNvPr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84" name="矩形 683">
            <a:extLst>
              <a:ext uri="{FF2B5EF4-FFF2-40B4-BE49-F238E27FC236}">
                <a16:creationId xmlns:a16="http://schemas.microsoft.com/office/drawing/2014/main" id="{87F166B8-2284-208F-03F3-3034972FA09E}"/>
              </a:ext>
            </a:extLst>
          </p:cNvPr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685" name="矩形 684">
            <a:extLst>
              <a:ext uri="{FF2B5EF4-FFF2-40B4-BE49-F238E27FC236}">
                <a16:creationId xmlns:a16="http://schemas.microsoft.com/office/drawing/2014/main" id="{A7A1D2A6-211A-7620-D12D-CDA56D1AD2D7}"/>
              </a:ext>
            </a:extLst>
          </p:cNvPr>
          <p:cNvSpPr/>
          <p:nvPr/>
        </p:nvSpPr>
        <p:spPr>
          <a:xfrm>
            <a:off x="1051560" y="1591732"/>
            <a:ext cx="10515600" cy="62068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686" name="矩形 685">
            <a:extLst>
              <a:ext uri="{FF2B5EF4-FFF2-40B4-BE49-F238E27FC236}">
                <a16:creationId xmlns:a16="http://schemas.microsoft.com/office/drawing/2014/main" id="{F4A5AD43-14A0-7BFB-B3C7-7FDB3360E319}"/>
              </a:ext>
            </a:extLst>
          </p:cNvPr>
          <p:cNvSpPr/>
          <p:nvPr/>
        </p:nvSpPr>
        <p:spPr>
          <a:xfrm>
            <a:off x="862628" y="1902072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87" name="文本框 686">
            <a:extLst>
              <a:ext uri="{FF2B5EF4-FFF2-40B4-BE49-F238E27FC236}">
                <a16:creationId xmlns:a16="http://schemas.microsoft.com/office/drawing/2014/main" id="{3A72D1F7-C1D6-0E30-953B-8CDE31C43232}"/>
              </a:ext>
            </a:extLst>
          </p:cNvPr>
          <p:cNvSpPr txBox="1"/>
          <p:nvPr/>
        </p:nvSpPr>
        <p:spPr>
          <a:xfrm>
            <a:off x="988583" y="1664208"/>
            <a:ext cx="960120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zh-CN" sz="1400" dirty="0">
                <a:solidFill>
                  <a:srgbClr val="333333"/>
                </a:solidFill>
              </a:rPr>
              <a:t>性能优化：ProcessPoolExecutor 多核并行（9分钟→2分钟）+ bisect 二分查找替换 O(n²) + SQLite 索引先插后建（快 10 倍）</a:t>
            </a:r>
          </a:p>
          <a:p>
            <a:endParaRPr lang="zh-CN" sz="14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sp>
        <p:nvSpPr>
          <p:cNvPr id="688" name="矩形 687">
            <a:extLst>
              <a:ext uri="{FF2B5EF4-FFF2-40B4-BE49-F238E27FC236}">
                <a16:creationId xmlns:a16="http://schemas.microsoft.com/office/drawing/2014/main" id="{21D118F5-0C81-6E4B-E41C-1308CAD43F4C}"/>
              </a:ext>
            </a:extLst>
          </p:cNvPr>
          <p:cNvSpPr/>
          <p:nvPr/>
        </p:nvSpPr>
        <p:spPr>
          <a:xfrm>
            <a:off x="878855" y="3288669"/>
            <a:ext cx="109728" cy="109728"/>
          </a:xfrm>
          <a:prstGeom prst="rect">
            <a:avLst/>
          </a:prstGeom>
          <a:solidFill>
            <a:srgbClr val="CF0A2C"/>
          </a:solidFill>
        </p:spPr>
        <p:txBody>
          <a:bodyPr/>
          <a:lstStyle/>
          <a:p>
            <a:endParaRPr lang="zh-CN" altLang="en-US" dirty="0"/>
          </a:p>
        </p:txBody>
      </p:sp>
      <p:sp>
        <p:nvSpPr>
          <p:cNvPr id="690" name="矩形 689">
            <a:extLst>
              <a:ext uri="{FF2B5EF4-FFF2-40B4-BE49-F238E27FC236}">
                <a16:creationId xmlns:a16="http://schemas.microsoft.com/office/drawing/2014/main" id="{F0B0E743-DE02-D0AF-6C27-21ABA38515B5}"/>
              </a:ext>
            </a:extLst>
          </p:cNvPr>
          <p:cNvSpPr/>
          <p:nvPr/>
        </p:nvSpPr>
        <p:spPr>
          <a:xfrm>
            <a:off x="1051560" y="4522352"/>
            <a:ext cx="10515600" cy="607238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691" name="矩形 690">
            <a:extLst>
              <a:ext uri="{FF2B5EF4-FFF2-40B4-BE49-F238E27FC236}">
                <a16:creationId xmlns:a16="http://schemas.microsoft.com/office/drawing/2014/main" id="{FCBEE3F6-5A79-A7C2-40B4-73F84B4F40BE}"/>
              </a:ext>
            </a:extLst>
          </p:cNvPr>
          <p:cNvSpPr/>
          <p:nvPr/>
        </p:nvSpPr>
        <p:spPr>
          <a:xfrm>
            <a:off x="878855" y="4657097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92" name="文本框 691">
            <a:extLst>
              <a:ext uri="{FF2B5EF4-FFF2-40B4-BE49-F238E27FC236}">
                <a16:creationId xmlns:a16="http://schemas.microsoft.com/office/drawing/2014/main" id="{8C3481C2-7076-C5E9-F81D-1479091EE73F}"/>
              </a:ext>
            </a:extLst>
          </p:cNvPr>
          <p:cNvSpPr txBox="1"/>
          <p:nvPr/>
        </p:nvSpPr>
        <p:spPr>
          <a:xfrm>
            <a:off x="1051560" y="4568072"/>
            <a:ext cx="960120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zh-CN" sz="1400" dirty="0">
                <a:solidFill>
                  <a:srgbClr val="333333"/>
                </a:solidFill>
              </a:rPr>
              <a:t>安全知识库 + 风险评估：6 个知识文件加载到系统提示（10KB）+ reflect_check 规则引擎自动评估风险等级（7 条规则）</a:t>
            </a:r>
          </a:p>
          <a:p>
            <a:endParaRPr lang="zh-CN" sz="14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5676BD10-83C1-60AE-9A56-1A4045FDF1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E615DDC7-5BB3-B45C-6F98-6BFAA7762CEA}"/>
              </a:ext>
            </a:extLst>
          </p:cNvPr>
          <p:cNvSpPr/>
          <p:nvPr/>
        </p:nvSpPr>
        <p:spPr>
          <a:xfrm>
            <a:off x="1051560" y="3055656"/>
            <a:ext cx="10515600" cy="691516"/>
          </a:xfrm>
          <a:prstGeom prst="rect">
            <a:avLst/>
          </a:prstGeom>
          <a:solidFill>
            <a:srgbClr val="FAFAFA"/>
          </a:solidFill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5748FFC9-16E4-47ED-272A-3E493C3387A8}"/>
              </a:ext>
            </a:extLst>
          </p:cNvPr>
          <p:cNvSpPr txBox="1"/>
          <p:nvPr/>
        </p:nvSpPr>
        <p:spPr>
          <a:xfrm>
            <a:off x="988583" y="3129856"/>
            <a:ext cx="9601200" cy="503113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zh-CN" sz="1400" dirty="0">
                <a:solidFill>
                  <a:srgbClr val="333333"/>
                </a:solidFill>
              </a:rPr>
              <a:t>架构重构：4 个 run_* 函数合并为统一 run_detection() + 4 处重复报告代码提取为 generate_reports() + Flask app.py 从 base64 改为模板文件</a:t>
            </a:r>
          </a:p>
          <a:p>
            <a:endParaRPr lang="zh-CN" altLang="zh-CN" sz="1400" dirty="0">
              <a:solidFill>
                <a:srgbClr val="333333"/>
              </a:solidFill>
            </a:endParaRPr>
          </a:p>
          <a:p>
            <a:endParaRPr lang="zh-CN" sz="14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</p:spTree>
    <p:extLst>
      <p:ext uri="{BB962C8B-B14F-4D97-AF65-F5344CB8AC3E}">
        <p14:creationId xmlns:p14="http://schemas.microsoft.com/office/powerpoint/2010/main" val="3792703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矩形 660"/>
          <p:cNvSpPr/>
          <p:nvPr/>
        </p:nvSpPr>
        <p:spPr>
          <a:xfrm>
            <a:off x="0" y="0"/>
            <a:ext cx="73152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662" name="矩形 661"/>
          <p:cNvSpPr/>
          <p:nvPr/>
        </p:nvSpPr>
        <p:spPr>
          <a:xfrm>
            <a:off x="71323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63" name="矩形 662"/>
          <p:cNvSpPr/>
          <p:nvPr/>
        </p:nvSpPr>
        <p:spPr>
          <a:xfrm>
            <a:off x="1097280" y="822960"/>
            <a:ext cx="2286000" cy="1097280"/>
          </a:xfrm>
          <a:prstGeom prst="rect">
            <a:avLst/>
          </a:prstGeom>
          <a:solidFill>
            <a:srgbClr val="F5F5F5"/>
          </a:solidFill>
        </p:spPr>
      </p:sp>
      <p:sp>
        <p:nvSpPr>
          <p:cNvPr id="664" name="矩形 663"/>
          <p:cNvSpPr/>
          <p:nvPr/>
        </p:nvSpPr>
        <p:spPr>
          <a:xfrm>
            <a:off x="1097280" y="1005840"/>
            <a:ext cx="54864" cy="36576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65" name="文本框 664"/>
          <p:cNvSpPr txBox="1"/>
          <p:nvPr/>
        </p:nvSpPr>
        <p:spPr>
          <a:xfrm>
            <a:off x="1463040" y="914400"/>
            <a:ext cx="1828800" cy="9144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6000" b="1">
                <a:solidFill>
                  <a:srgbClr val="CF0A2C"/>
                </a:solidFill>
                <a:latin typeface="Microsoft YaHei"/>
                <a:ea typeface="Microsoft YaHei"/>
              </a:rPr>
              <a:t>04</a:t>
            </a:r>
          </a:p>
        </p:txBody>
      </p:sp>
      <p:sp>
        <p:nvSpPr>
          <p:cNvPr id="666" name="文本框 665"/>
          <p:cNvSpPr txBox="1"/>
          <p:nvPr/>
        </p:nvSpPr>
        <p:spPr>
          <a:xfrm>
            <a:off x="1463040" y="2103120"/>
            <a:ext cx="7315200" cy="73152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3200" b="1">
                <a:solidFill>
                  <a:srgbClr val="333333"/>
                </a:solidFill>
                <a:latin typeface="Microsoft YaHei"/>
                <a:ea typeface="Microsoft YaHei"/>
              </a:rPr>
              <a:t>自我总结与收获</a:t>
            </a:r>
          </a:p>
        </p:txBody>
      </p:sp>
      <p:sp>
        <p:nvSpPr>
          <p:cNvPr id="667" name="文本框 666"/>
          <p:cNvSpPr txBox="1"/>
          <p:nvPr/>
        </p:nvSpPr>
        <p:spPr>
          <a:xfrm>
            <a:off x="1463040" y="2926080"/>
            <a:ext cx="7315200" cy="4572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600" b="0">
                <a:solidFill>
                  <a:srgbClr val="999999"/>
                </a:solidFill>
                <a:latin typeface="Microsoft YaHei"/>
                <a:ea typeface="Microsoft YaHei"/>
              </a:rPr>
              <a:t>Self Summary</a:t>
            </a:r>
          </a:p>
        </p:txBody>
      </p:sp>
      <p:sp>
        <p:nvSpPr>
          <p:cNvPr id="668" name="矩形 667"/>
          <p:cNvSpPr/>
          <p:nvPr/>
        </p:nvSpPr>
        <p:spPr>
          <a:xfrm>
            <a:off x="1463040" y="3474720"/>
            <a:ext cx="27432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669" name="矩形 668"/>
          <p:cNvSpPr/>
          <p:nvPr/>
        </p:nvSpPr>
        <p:spPr>
          <a:xfrm>
            <a:off x="9448495" y="5029200"/>
            <a:ext cx="2011680" cy="73152"/>
          </a:xfrm>
          <a:prstGeom prst="rect">
            <a:avLst/>
          </a:prstGeom>
          <a:solidFill>
            <a:srgbClr val="D0D0D0"/>
          </a:solidFill>
        </p:spPr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7B604A6F-5908-5E55-8D0F-769E68D7ECA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8" name="矩形 677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679" name="矩形 678"/>
          <p:cNvSpPr/>
          <p:nvPr/>
        </p:nvSpPr>
        <p:spPr>
          <a:xfrm>
            <a:off x="438912" y="0"/>
            <a:ext cx="18288" cy="685800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80" name="矩形 679"/>
          <p:cNvSpPr/>
          <p:nvPr/>
        </p:nvSpPr>
        <p:spPr>
          <a:xfrm>
            <a:off x="457200" y="0"/>
            <a:ext cx="11734495" cy="54864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81" name="矩形 680"/>
          <p:cNvSpPr/>
          <p:nvPr/>
        </p:nvSpPr>
        <p:spPr>
          <a:xfrm>
            <a:off x="457200" y="54864"/>
            <a:ext cx="11734495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682" name="文本框 681"/>
          <p:cNvSpPr txBox="1"/>
          <p:nvPr/>
        </p:nvSpPr>
        <p:spPr>
          <a:xfrm>
            <a:off x="822960" y="457200"/>
            <a:ext cx="100584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2800" b="1">
                <a:solidFill>
                  <a:srgbClr val="CF0A2C"/>
                </a:solidFill>
                <a:latin typeface="Microsoft YaHei"/>
                <a:ea typeface="Microsoft YaHei"/>
              </a:rPr>
              <a:t>总结与收获</a:t>
            </a:r>
          </a:p>
        </p:txBody>
      </p:sp>
      <p:sp>
        <p:nvSpPr>
          <p:cNvPr id="683" name="矩形 682"/>
          <p:cNvSpPr/>
          <p:nvPr/>
        </p:nvSpPr>
        <p:spPr>
          <a:xfrm>
            <a:off x="822960" y="1005840"/>
            <a:ext cx="1371600" cy="27432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84" name="矩形 683"/>
          <p:cNvSpPr/>
          <p:nvPr/>
        </p:nvSpPr>
        <p:spPr>
          <a:xfrm>
            <a:off x="2286000" y="1010412"/>
            <a:ext cx="822960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685" name="矩形 684"/>
          <p:cNvSpPr/>
          <p:nvPr/>
        </p:nvSpPr>
        <p:spPr>
          <a:xfrm>
            <a:off x="1051560" y="1591732"/>
            <a:ext cx="10515600" cy="62068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686" name="矩形 685"/>
          <p:cNvSpPr/>
          <p:nvPr/>
        </p:nvSpPr>
        <p:spPr>
          <a:xfrm>
            <a:off x="862628" y="1902072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87" name="文本框 686"/>
          <p:cNvSpPr txBox="1"/>
          <p:nvPr/>
        </p:nvSpPr>
        <p:spPr>
          <a:xfrm>
            <a:off x="988583" y="1664208"/>
            <a:ext cx="960120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技术成长：Agent 架构设计（工具系统 + LLM 调度 + 系统提示工程）+ 并行检测优化 + 安全检测领域知识（CFI/PAC/BTI 原理）</a:t>
            </a:r>
          </a:p>
        </p:txBody>
      </p:sp>
      <p:sp>
        <p:nvSpPr>
          <p:cNvPr id="688" name="矩形 687"/>
          <p:cNvSpPr/>
          <p:nvPr/>
        </p:nvSpPr>
        <p:spPr>
          <a:xfrm>
            <a:off x="878855" y="3288669"/>
            <a:ext cx="109728" cy="109728"/>
          </a:xfrm>
          <a:prstGeom prst="rect">
            <a:avLst/>
          </a:prstGeom>
          <a:solidFill>
            <a:srgbClr val="CF0A2C"/>
          </a:solidFill>
        </p:spPr>
        <p:txBody>
          <a:bodyPr/>
          <a:lstStyle/>
          <a:p>
            <a:endParaRPr lang="zh-CN" altLang="en-US" dirty="0"/>
          </a:p>
        </p:txBody>
      </p:sp>
      <p:sp>
        <p:nvSpPr>
          <p:cNvPr id="690" name="矩形 689"/>
          <p:cNvSpPr/>
          <p:nvPr/>
        </p:nvSpPr>
        <p:spPr>
          <a:xfrm>
            <a:off x="1051560" y="4522352"/>
            <a:ext cx="10515600" cy="411480"/>
          </a:xfrm>
          <a:prstGeom prst="rect">
            <a:avLst/>
          </a:prstGeom>
          <a:solidFill>
            <a:srgbClr val="FAFAFA"/>
          </a:solidFill>
        </p:spPr>
      </p:sp>
      <p:sp>
        <p:nvSpPr>
          <p:cNvPr id="691" name="矩形 690"/>
          <p:cNvSpPr/>
          <p:nvPr/>
        </p:nvSpPr>
        <p:spPr>
          <a:xfrm>
            <a:off x="878855" y="4657097"/>
            <a:ext cx="109728" cy="109728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692" name="文本框 691"/>
          <p:cNvSpPr txBox="1"/>
          <p:nvPr/>
        </p:nvSpPr>
        <p:spPr>
          <a:xfrm>
            <a:off x="1051560" y="4568072"/>
            <a:ext cx="9601200" cy="36576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400" b="0" dirty="0">
                <a:solidFill>
                  <a:srgbClr val="333333"/>
                </a:solidFill>
                <a:latin typeface="Microsoft YaHei"/>
                <a:ea typeface="Microsoft YaHei"/>
              </a:rPr>
              <a:t>交付成果：统一检测引擎（7 模式/5 维度/32位+64位/并行）+ 21 工具 Agent + Web 可视化报告 + GitHub 开源</a:t>
            </a:r>
          </a:p>
        </p:txBody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AF3064F6-7F87-1ADC-CF97-3C9CA02388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  <p:sp>
        <p:nvSpPr>
          <p:cNvPr id="4" name="矩形 3">
            <a:extLst>
              <a:ext uri="{FF2B5EF4-FFF2-40B4-BE49-F238E27FC236}">
                <a16:creationId xmlns:a16="http://schemas.microsoft.com/office/drawing/2014/main" id="{C9A0D080-CE75-6D33-0649-C4136252E5AD}"/>
              </a:ext>
            </a:extLst>
          </p:cNvPr>
          <p:cNvSpPr/>
          <p:nvPr/>
        </p:nvSpPr>
        <p:spPr>
          <a:xfrm>
            <a:off x="1051560" y="3055656"/>
            <a:ext cx="10515600" cy="691516"/>
          </a:xfrm>
          <a:prstGeom prst="rect">
            <a:avLst/>
          </a:prstGeom>
          <a:solidFill>
            <a:srgbClr val="FAFAFA"/>
          </a:solidFill>
        </p:spPr>
        <p:txBody>
          <a:bodyPr/>
          <a:lstStyle/>
          <a:p>
            <a:endParaRPr lang="zh-CN" altLang="en-US" dirty="0"/>
          </a:p>
        </p:txBody>
      </p:sp>
      <p:sp>
        <p:nvSpPr>
          <p:cNvPr id="5" name="文本框 4">
            <a:extLst>
              <a:ext uri="{FF2B5EF4-FFF2-40B4-BE49-F238E27FC236}">
                <a16:creationId xmlns:a16="http://schemas.microsoft.com/office/drawing/2014/main" id="{6C111297-530D-898B-EED2-12C0A3CE7B03}"/>
              </a:ext>
            </a:extLst>
          </p:cNvPr>
          <p:cNvSpPr txBox="1"/>
          <p:nvPr/>
        </p:nvSpPr>
        <p:spPr>
          <a:xfrm>
            <a:off x="988583" y="3129856"/>
            <a:ext cx="9601200" cy="503113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altLang="zh-CN" sz="1400" dirty="0">
                <a:solidFill>
                  <a:srgbClr val="333333"/>
                </a:solidFill>
              </a:rPr>
              <a:t>个人收获：掌握 AI Agent 全流程开发 + 深入理解 ARM 安全架构 + 积累 AI 辅助开发经验 + 提升工程化能力 + 学会用控制变量法排查性能问题</a:t>
            </a:r>
          </a:p>
          <a:p>
            <a:endParaRPr lang="zh-CN" sz="1400" b="0" dirty="0">
              <a:solidFill>
                <a:srgbClr val="333333"/>
              </a:solidFill>
              <a:latin typeface="Microsoft YaHei"/>
              <a:ea typeface="Microsoft YaHei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4" name="矩形 703"/>
          <p:cNvSpPr/>
          <p:nvPr/>
        </p:nvSpPr>
        <p:spPr>
          <a:xfrm>
            <a:off x="0" y="0"/>
            <a:ext cx="137160" cy="6858000"/>
          </a:xfrm>
          <a:prstGeom prst="rect">
            <a:avLst/>
          </a:prstGeom>
          <a:solidFill>
            <a:srgbClr val="F0F0F0"/>
          </a:solidFill>
        </p:spPr>
      </p:sp>
      <p:sp>
        <p:nvSpPr>
          <p:cNvPr id="705" name="矩形 704"/>
          <p:cNvSpPr/>
          <p:nvPr/>
        </p:nvSpPr>
        <p:spPr>
          <a:xfrm>
            <a:off x="0" y="0"/>
            <a:ext cx="3200400" cy="73152"/>
          </a:xfrm>
          <a:prstGeom prst="rect">
            <a:avLst/>
          </a:prstGeom>
          <a:solidFill>
            <a:srgbClr val="D0D0D0"/>
          </a:solidFill>
        </p:spPr>
      </p:sp>
      <p:sp>
        <p:nvSpPr>
          <p:cNvPr id="706" name="矩形 705"/>
          <p:cNvSpPr/>
          <p:nvPr/>
        </p:nvSpPr>
        <p:spPr>
          <a:xfrm>
            <a:off x="2743200" y="2103120"/>
            <a:ext cx="667512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707" name="矩形 706"/>
          <p:cNvSpPr/>
          <p:nvPr/>
        </p:nvSpPr>
        <p:spPr>
          <a:xfrm>
            <a:off x="2743200" y="3840480"/>
            <a:ext cx="6675120" cy="13716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708" name="矩形 707"/>
          <p:cNvSpPr/>
          <p:nvPr/>
        </p:nvSpPr>
        <p:spPr>
          <a:xfrm>
            <a:off x="9448495" y="0"/>
            <a:ext cx="2743200" cy="1645920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709" name="矩形 708"/>
          <p:cNvSpPr/>
          <p:nvPr/>
        </p:nvSpPr>
        <p:spPr>
          <a:xfrm>
            <a:off x="5029200" y="2560320"/>
            <a:ext cx="2103120" cy="36576"/>
          </a:xfrm>
          <a:prstGeom prst="rect">
            <a:avLst/>
          </a:prstGeom>
          <a:solidFill>
            <a:srgbClr val="CF0A2C"/>
          </a:solidFill>
        </p:spPr>
      </p:sp>
      <p:sp>
        <p:nvSpPr>
          <p:cNvPr id="710" name="矩形 709"/>
          <p:cNvSpPr/>
          <p:nvPr/>
        </p:nvSpPr>
        <p:spPr>
          <a:xfrm>
            <a:off x="3657600" y="2569464"/>
            <a:ext cx="1188720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711" name="矩形 710"/>
          <p:cNvSpPr/>
          <p:nvPr/>
        </p:nvSpPr>
        <p:spPr>
          <a:xfrm>
            <a:off x="7315200" y="2569464"/>
            <a:ext cx="1188720" cy="18288"/>
          </a:xfrm>
          <a:prstGeom prst="rect">
            <a:avLst/>
          </a:prstGeom>
          <a:solidFill>
            <a:srgbClr val="E0E0E0"/>
          </a:solidFill>
        </p:spPr>
      </p:sp>
      <p:sp>
        <p:nvSpPr>
          <p:cNvPr id="712" name="文本框 711"/>
          <p:cNvSpPr txBox="1"/>
          <p:nvPr/>
        </p:nvSpPr>
        <p:spPr>
          <a:xfrm>
            <a:off x="1371600" y="2926080"/>
            <a:ext cx="9144000" cy="91440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4400" b="1">
                <a:solidFill>
                  <a:srgbClr val="333333"/>
                </a:solidFill>
                <a:latin typeface="Microsoft YaHei"/>
                <a:ea typeface="Microsoft YaHei"/>
              </a:rPr>
              <a:t>Thank You</a:t>
            </a:r>
          </a:p>
        </p:txBody>
      </p:sp>
      <p:sp>
        <p:nvSpPr>
          <p:cNvPr id="713" name="文本框 712"/>
          <p:cNvSpPr txBox="1"/>
          <p:nvPr/>
        </p:nvSpPr>
        <p:spPr>
          <a:xfrm>
            <a:off x="1371600" y="3931920"/>
            <a:ext cx="9144000" cy="548640"/>
          </a:xfrm>
          <a:prstGeom prst="rect">
            <a:avLst/>
          </a:prstGeom>
        </p:spPr>
        <p:txBody>
          <a:bodyPr wrap="square" lIns="91440" tIns="45720" rIns="91440" bIns="45720" rtlCol="0"/>
          <a:lstStyle/>
          <a:p>
            <a:r>
              <a:rPr lang="zh-CN" sz="1800" b="0">
                <a:solidFill>
                  <a:srgbClr val="666666"/>
                </a:solidFill>
                <a:latin typeface="Microsoft YaHei"/>
                <a:ea typeface="Microsoft YaHei"/>
              </a:rPr>
              <a:t>感谢您的关注</a:t>
            </a:r>
          </a:p>
        </p:txBody>
      </p:sp>
      <p:sp>
        <p:nvSpPr>
          <p:cNvPr id="714" name="矩形 713"/>
          <p:cNvSpPr/>
          <p:nvPr/>
        </p:nvSpPr>
        <p:spPr>
          <a:xfrm>
            <a:off x="0" y="6400800"/>
            <a:ext cx="12191695" cy="457200"/>
          </a:xfrm>
          <a:prstGeom prst="rect">
            <a:avLst/>
          </a:prstGeom>
          <a:solidFill>
            <a:srgbClr val="F5F5F5"/>
          </a:solidFill>
        </p:spPr>
      </p:sp>
      <p:pic>
        <p:nvPicPr>
          <p:cNvPr id="2" name="图片 1">
            <a:extLst>
              <a:ext uri="{FF2B5EF4-FFF2-40B4-BE49-F238E27FC236}">
                <a16:creationId xmlns:a16="http://schemas.microsoft.com/office/drawing/2014/main" id="{FE332789-13C5-99EE-B20A-FE877F7518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1455758" y="6250761"/>
            <a:ext cx="735937" cy="607239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Huawei Theme">
  <a:themeElements>
    <a:clrScheme name="Huawei">
      <a:dk1>
        <a:sysClr val="windowText" lastClr="000000"/>
      </a:dk1>
      <a:lt1>
        <a:sysClr val="window" lastClr="FFFFFF"/>
      </a:lt1>
      <a:dk2>
        <a:srgbClr val="333333"/>
      </a:dk2>
      <a:lt2>
        <a:srgbClr val="F5F5F5"/>
      </a:lt2>
      <a:accent1>
        <a:srgbClr val="CF0A2C"/>
      </a:accent1>
      <a:accent2>
        <a:srgbClr val="666666"/>
      </a:accent2>
      <a:accent3>
        <a:srgbClr val="999999"/>
      </a:accent3>
      <a:accent4>
        <a:srgbClr val="FFFFFF"/>
      </a:accent4>
      <a:accent5>
        <a:srgbClr val="FFFFFF"/>
      </a:accent5>
      <a:accent6>
        <a:srgbClr val="FFFFFF"/>
      </a:accent6>
      <a:hlink>
        <a:srgbClr val="CF0A2C"/>
      </a:hlink>
      <a:folHlink>
        <a:srgbClr val="CF0A2C"/>
      </a:folHlink>
    </a:clrScheme>
    <a:fontScheme name="Huawei">
      <a:majorFont>
        <a:latin typeface="Microsoft YaHei"/>
        <a:ea typeface="Microsoft YaHei"/>
        <a:cs typeface="Microsoft YaHei"/>
      </a:majorFont>
      <a:minorFont>
        <a:latin typeface="Microsoft YaHei"/>
        <a:ea typeface="Microsoft YaHei"/>
        <a:cs typeface="Microsoft YaHei"/>
      </a:minorFont>
    </a:fontScheme>
    <a:fmtScheme name="Office"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>
          <a:solidFill>
            <a:schemeClr val="phClr"/>
          </a:solidFill>
        </a:ln>
        <a:ln w="12700">
          <a:solidFill>
            <a:schemeClr val="phClr"/>
          </a:solidFill>
        </a:ln>
        <a:ln w="19050">
          <a:solidFill>
            <a:schemeClr val="phClr"/>
          </a:solidFill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257</TotalTime>
  <Words>1260</Words>
  <Application>Microsoft Office PowerPoint</Application>
  <PresentationFormat>宽屏</PresentationFormat>
  <Paragraphs>166</Paragraphs>
  <Slides>18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18</vt:i4>
      </vt:variant>
    </vt:vector>
  </HeadingPairs>
  <TitlesOfParts>
    <vt:vector size="21" baseType="lpstr">
      <vt:lpstr>Microsoft YaHei</vt:lpstr>
      <vt:lpstr>Arial</vt:lpstr>
      <vt:lpstr>Huawei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泽东 李</cp:lastModifiedBy>
  <cp:revision>83</cp:revision>
  <dcterms:modified xsi:type="dcterms:W3CDTF">2026-08-24T04:04:01Z</dcterms:modified>
</cp:coreProperties>
</file>