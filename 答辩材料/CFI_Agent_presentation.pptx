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2" r:id="rId15"/>
    <p:sldId id="278" r:id="rId16"/>
    <p:sldId id="275" r:id="rId17"/>
    <p:sldId id="276" r:id="rId18"/>
    <p:sldId id="277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8" d="100"/>
          <a:sy n="148" d="100"/>
        </p:scale>
        <p:origin x="5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cfi_detection_report.xlsx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&#26816;&#27979;&#36807;&#31243;&#28436;&#31034;.mp4" TargetMode="External"/><Relationship Id="rId5" Type="http://schemas.openxmlformats.org/officeDocument/2006/relationships/hyperlink" Target="html&#30475;&#26495;&#21160;&#24577;&#29256;.mp4" TargetMode="External"/><Relationship Id="rId4" Type="http://schemas.openxmlformats.org/officeDocument/2006/relationships/hyperlink" Target="cfi_report.html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0F0F0"/>
          </a:solidFill>
        </p:spPr>
      </p:sp>
      <p:sp>
        <p:nvSpPr>
          <p:cNvPr id="3" name="矩形 2"/>
          <p:cNvSpPr/>
          <p:nvPr/>
        </p:nvSpPr>
        <p:spPr>
          <a:xfrm>
            <a:off x="0" y="0"/>
            <a:ext cx="3200400" cy="73152"/>
          </a:xfrm>
          <a:prstGeom prst="rect">
            <a:avLst/>
          </a:prstGeom>
          <a:solidFill>
            <a:srgbClr val="D0D0D0"/>
          </a:solidFill>
        </p:spPr>
      </p:sp>
      <p:sp>
        <p:nvSpPr>
          <p:cNvPr id="4" name="矩形 3"/>
          <p:cNvSpPr/>
          <p:nvPr/>
        </p:nvSpPr>
        <p:spPr>
          <a:xfrm>
            <a:off x="2743200" y="1828800"/>
            <a:ext cx="6675120" cy="13716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5" name="矩形 4"/>
          <p:cNvSpPr/>
          <p:nvPr/>
        </p:nvSpPr>
        <p:spPr>
          <a:xfrm>
            <a:off x="2743200" y="3200400"/>
            <a:ext cx="6675120" cy="13716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6" name="矩形 5"/>
          <p:cNvSpPr/>
          <p:nvPr/>
        </p:nvSpPr>
        <p:spPr>
          <a:xfrm>
            <a:off x="8534095" y="0"/>
            <a:ext cx="3657600" cy="228600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7" name="矩形 6"/>
          <p:cNvSpPr/>
          <p:nvPr/>
        </p:nvSpPr>
        <p:spPr>
          <a:xfrm>
            <a:off x="8534095" y="0"/>
            <a:ext cx="3657600" cy="2286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" name="矩形 7"/>
          <p:cNvSpPr/>
          <p:nvPr/>
        </p:nvSpPr>
        <p:spPr>
          <a:xfrm>
            <a:off x="9448495" y="0"/>
            <a:ext cx="2743200" cy="164592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9" name="文本框 8"/>
          <p:cNvSpPr txBox="1"/>
          <p:nvPr/>
        </p:nvSpPr>
        <p:spPr>
          <a:xfrm>
            <a:off x="1208132" y="2162556"/>
            <a:ext cx="10144411" cy="109728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4400" b="1" dirty="0">
                <a:solidFill>
                  <a:srgbClr val="333333"/>
                </a:solidFill>
                <a:latin typeface="Microsoft YaHei"/>
                <a:ea typeface="Microsoft YaHei"/>
              </a:rPr>
              <a:t>OpenHarmony CFI 安全检</a:t>
            </a:r>
            <a:r>
              <a:rPr lang="zh-CN" altLang="en-US" sz="4400" b="1" dirty="0">
                <a:solidFill>
                  <a:srgbClr val="333333"/>
                </a:solidFill>
                <a:latin typeface="Microsoft YaHei"/>
                <a:ea typeface="Microsoft YaHei"/>
              </a:rPr>
              <a:t>测</a:t>
            </a:r>
            <a:r>
              <a:rPr lang="zh-CN" sz="4400" b="1" dirty="0">
                <a:solidFill>
                  <a:srgbClr val="333333"/>
                </a:solidFill>
                <a:latin typeface="Microsoft YaHei"/>
                <a:ea typeface="Microsoft YaHei"/>
              </a:rPr>
              <a:t>Agent</a:t>
            </a:r>
          </a:p>
        </p:txBody>
      </p:sp>
      <p:sp>
        <p:nvSpPr>
          <p:cNvPr id="11" name="矩形 10"/>
          <p:cNvSpPr/>
          <p:nvPr/>
        </p:nvSpPr>
        <p:spPr>
          <a:xfrm>
            <a:off x="5029200" y="3931920"/>
            <a:ext cx="2103120" cy="36576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12" name="矩形 11"/>
          <p:cNvSpPr/>
          <p:nvPr/>
        </p:nvSpPr>
        <p:spPr>
          <a:xfrm>
            <a:off x="3657600" y="3941063"/>
            <a:ext cx="1188720" cy="18288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3" name="矩形 12"/>
          <p:cNvSpPr/>
          <p:nvPr/>
        </p:nvSpPr>
        <p:spPr>
          <a:xfrm>
            <a:off x="7315200" y="3941063"/>
            <a:ext cx="1188720" cy="18288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4" name="矩形 1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5F5F5"/>
          </a:solidFill>
        </p:spPr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72F16CD4-587A-5075-FA32-77EFB06040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758" y="5793561"/>
            <a:ext cx="735937" cy="6072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0F0F0"/>
          </a:solidFill>
        </p:spPr>
      </p:sp>
      <p:sp>
        <p:nvSpPr>
          <p:cNvPr id="24" name="矩形 23"/>
          <p:cNvSpPr/>
          <p:nvPr/>
        </p:nvSpPr>
        <p:spPr>
          <a:xfrm>
            <a:off x="438912" y="0"/>
            <a:ext cx="18288" cy="685800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25" name="矩形 24"/>
          <p:cNvSpPr/>
          <p:nvPr/>
        </p:nvSpPr>
        <p:spPr>
          <a:xfrm>
            <a:off x="457200" y="0"/>
            <a:ext cx="11734495" cy="54864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26" name="矩形 25"/>
          <p:cNvSpPr/>
          <p:nvPr/>
        </p:nvSpPr>
        <p:spPr>
          <a:xfrm>
            <a:off x="457200" y="54864"/>
            <a:ext cx="11734495" cy="18288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27" name="文本框 26"/>
          <p:cNvSpPr txBox="1"/>
          <p:nvPr/>
        </p:nvSpPr>
        <p:spPr>
          <a:xfrm>
            <a:off x="822960" y="457200"/>
            <a:ext cx="2743200" cy="54864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2800" b="1">
                <a:solidFill>
                  <a:srgbClr val="CF0A2C"/>
                </a:solidFill>
                <a:latin typeface="Microsoft YaHei"/>
                <a:ea typeface="Microsoft YaHei"/>
              </a:rPr>
              <a:t>目录</a:t>
            </a:r>
          </a:p>
        </p:txBody>
      </p:sp>
      <p:sp>
        <p:nvSpPr>
          <p:cNvPr id="28" name="矩形 27"/>
          <p:cNvSpPr/>
          <p:nvPr/>
        </p:nvSpPr>
        <p:spPr>
          <a:xfrm>
            <a:off x="822960" y="1005840"/>
            <a:ext cx="1097280" cy="27432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29" name="矩形 28"/>
          <p:cNvSpPr/>
          <p:nvPr/>
        </p:nvSpPr>
        <p:spPr>
          <a:xfrm>
            <a:off x="2011680" y="1010412"/>
            <a:ext cx="8229600" cy="13716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30" name="文本框 29"/>
          <p:cNvSpPr txBox="1"/>
          <p:nvPr/>
        </p:nvSpPr>
        <p:spPr>
          <a:xfrm>
            <a:off x="822960" y="1097280"/>
            <a:ext cx="274320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000" b="0">
                <a:solidFill>
                  <a:srgbClr val="999999"/>
                </a:solidFill>
                <a:latin typeface="Microsoft YaHei"/>
                <a:ea typeface="Microsoft YaHei"/>
              </a:rPr>
              <a:t>CONTENTS</a:t>
            </a:r>
          </a:p>
        </p:txBody>
      </p:sp>
      <p:sp>
        <p:nvSpPr>
          <p:cNvPr id="31" name="矩形: 圆角 30"/>
          <p:cNvSpPr/>
          <p:nvPr/>
        </p:nvSpPr>
        <p:spPr>
          <a:xfrm>
            <a:off x="822960" y="1554480"/>
            <a:ext cx="4754880" cy="14630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E0E0E0"/>
            </a:solidFill>
          </a:ln>
        </p:spPr>
      </p:sp>
      <p:sp>
        <p:nvSpPr>
          <p:cNvPr id="32" name="矩形 31"/>
          <p:cNvSpPr/>
          <p:nvPr/>
        </p:nvSpPr>
        <p:spPr>
          <a:xfrm>
            <a:off x="822960" y="1554480"/>
            <a:ext cx="54864" cy="146304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33" name="文本框 32"/>
          <p:cNvSpPr txBox="1"/>
          <p:nvPr/>
        </p:nvSpPr>
        <p:spPr>
          <a:xfrm>
            <a:off x="1097280" y="1691640"/>
            <a:ext cx="1097280" cy="7315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3600" b="1">
                <a:solidFill>
                  <a:srgbClr val="CF0A2C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1097280" y="2377440"/>
            <a:ext cx="4297680" cy="36576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600" b="1">
                <a:solidFill>
                  <a:srgbClr val="333333"/>
                </a:solidFill>
                <a:latin typeface="Microsoft YaHei"/>
                <a:ea typeface="Microsoft YaHei"/>
              </a:rPr>
              <a:t>自我介绍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1097280" y="2697480"/>
            <a:ext cx="429768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000" b="0">
                <a:solidFill>
                  <a:srgbClr val="999999"/>
                </a:solidFill>
                <a:latin typeface="Microsoft YaHei"/>
                <a:ea typeface="Microsoft YaHei"/>
              </a:rPr>
              <a:t>Self Introduction</a:t>
            </a:r>
          </a:p>
        </p:txBody>
      </p:sp>
      <p:sp>
        <p:nvSpPr>
          <p:cNvPr id="36" name="矩形: 圆角 35"/>
          <p:cNvSpPr/>
          <p:nvPr/>
        </p:nvSpPr>
        <p:spPr>
          <a:xfrm>
            <a:off x="6126480" y="1554480"/>
            <a:ext cx="4754880" cy="14630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E0E0E0"/>
            </a:solidFill>
          </a:ln>
        </p:spPr>
      </p:sp>
      <p:sp>
        <p:nvSpPr>
          <p:cNvPr id="37" name="矩形 36"/>
          <p:cNvSpPr/>
          <p:nvPr/>
        </p:nvSpPr>
        <p:spPr>
          <a:xfrm>
            <a:off x="6126480" y="1554480"/>
            <a:ext cx="54864" cy="146304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38" name="文本框 37"/>
          <p:cNvSpPr txBox="1"/>
          <p:nvPr/>
        </p:nvSpPr>
        <p:spPr>
          <a:xfrm>
            <a:off x="6400800" y="1691640"/>
            <a:ext cx="1097280" cy="7315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3600" b="1">
                <a:solidFill>
                  <a:srgbClr val="CF0A2C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6400800" y="2377440"/>
            <a:ext cx="4297680" cy="36576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600" b="1">
                <a:solidFill>
                  <a:srgbClr val="333333"/>
                </a:solidFill>
                <a:latin typeface="Microsoft YaHei"/>
                <a:ea typeface="Microsoft YaHei"/>
              </a:rPr>
              <a:t>实习工作内容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6400800" y="2697480"/>
            <a:ext cx="429768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000" b="0">
                <a:solidFill>
                  <a:srgbClr val="999999"/>
                </a:solidFill>
                <a:latin typeface="Microsoft YaHei"/>
                <a:ea typeface="Microsoft YaHei"/>
              </a:rPr>
              <a:t>Internship Work Content</a:t>
            </a:r>
          </a:p>
        </p:txBody>
      </p:sp>
      <p:sp>
        <p:nvSpPr>
          <p:cNvPr id="41" name="矩形: 圆角 40"/>
          <p:cNvSpPr/>
          <p:nvPr/>
        </p:nvSpPr>
        <p:spPr>
          <a:xfrm>
            <a:off x="822960" y="3200400"/>
            <a:ext cx="4754880" cy="14630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E0E0E0"/>
            </a:solidFill>
          </a:ln>
        </p:spPr>
      </p:sp>
      <p:sp>
        <p:nvSpPr>
          <p:cNvPr id="42" name="矩形 41"/>
          <p:cNvSpPr/>
          <p:nvPr/>
        </p:nvSpPr>
        <p:spPr>
          <a:xfrm>
            <a:off x="822960" y="3200400"/>
            <a:ext cx="54864" cy="146304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43" name="文本框 42"/>
          <p:cNvSpPr txBox="1"/>
          <p:nvPr/>
        </p:nvSpPr>
        <p:spPr>
          <a:xfrm>
            <a:off x="1097280" y="3337560"/>
            <a:ext cx="1097280" cy="7315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3600" b="1">
                <a:solidFill>
                  <a:srgbClr val="CF0A2C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1097280" y="4023360"/>
            <a:ext cx="4297680" cy="36576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600" b="1">
                <a:solidFill>
                  <a:srgbClr val="333333"/>
                </a:solidFill>
                <a:latin typeface="Microsoft YaHei"/>
                <a:ea typeface="Microsoft YaHei"/>
              </a:rPr>
              <a:t>成果展示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1097280" y="4343400"/>
            <a:ext cx="429768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000" b="0">
                <a:solidFill>
                  <a:srgbClr val="999999"/>
                </a:solidFill>
                <a:latin typeface="Microsoft YaHei"/>
                <a:ea typeface="Microsoft YaHei"/>
              </a:rPr>
              <a:t>Achievement Display</a:t>
            </a:r>
          </a:p>
        </p:txBody>
      </p:sp>
      <p:sp>
        <p:nvSpPr>
          <p:cNvPr id="46" name="矩形: 圆角 45"/>
          <p:cNvSpPr/>
          <p:nvPr/>
        </p:nvSpPr>
        <p:spPr>
          <a:xfrm>
            <a:off x="6126480" y="3200400"/>
            <a:ext cx="4754880" cy="14630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E0E0E0"/>
            </a:solidFill>
          </a:ln>
        </p:spPr>
      </p:sp>
      <p:sp>
        <p:nvSpPr>
          <p:cNvPr id="47" name="矩形 46"/>
          <p:cNvSpPr/>
          <p:nvPr/>
        </p:nvSpPr>
        <p:spPr>
          <a:xfrm>
            <a:off x="6126480" y="3200400"/>
            <a:ext cx="54864" cy="146304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48" name="文本框 47"/>
          <p:cNvSpPr txBox="1"/>
          <p:nvPr/>
        </p:nvSpPr>
        <p:spPr>
          <a:xfrm>
            <a:off x="6400800" y="3337560"/>
            <a:ext cx="1097280" cy="7315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3600" b="1">
                <a:solidFill>
                  <a:srgbClr val="CF0A2C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6400800" y="4023360"/>
            <a:ext cx="4297680" cy="36576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600" b="1">
                <a:solidFill>
                  <a:srgbClr val="333333"/>
                </a:solidFill>
                <a:latin typeface="Microsoft YaHei"/>
                <a:ea typeface="Microsoft YaHei"/>
              </a:rPr>
              <a:t>自我总结与收获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6400800" y="4343400"/>
            <a:ext cx="429768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000" b="0">
                <a:solidFill>
                  <a:srgbClr val="999999"/>
                </a:solidFill>
                <a:latin typeface="Microsoft YaHei"/>
                <a:ea typeface="Microsoft YaHei"/>
              </a:rPr>
              <a:t>Self Summary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17E5E27-5AF9-E5FA-2B12-C930F7D9B4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758" y="6250761"/>
            <a:ext cx="735937" cy="6072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 59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F0F0F0"/>
          </a:solidFill>
        </p:spPr>
      </p:sp>
      <p:sp>
        <p:nvSpPr>
          <p:cNvPr id="61" name="矩形 60"/>
          <p:cNvSpPr/>
          <p:nvPr/>
        </p:nvSpPr>
        <p:spPr>
          <a:xfrm>
            <a:off x="713232" y="0"/>
            <a:ext cx="18288" cy="685800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62" name="矩形 61"/>
          <p:cNvSpPr/>
          <p:nvPr/>
        </p:nvSpPr>
        <p:spPr>
          <a:xfrm>
            <a:off x="1097280" y="822960"/>
            <a:ext cx="2286000" cy="1097280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63" name="矩形 62"/>
          <p:cNvSpPr/>
          <p:nvPr/>
        </p:nvSpPr>
        <p:spPr>
          <a:xfrm>
            <a:off x="1097280" y="1005840"/>
            <a:ext cx="54864" cy="365760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64" name="文本框 63"/>
          <p:cNvSpPr txBox="1"/>
          <p:nvPr/>
        </p:nvSpPr>
        <p:spPr>
          <a:xfrm>
            <a:off x="1463040" y="914400"/>
            <a:ext cx="1828800" cy="91440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6000" b="1">
                <a:solidFill>
                  <a:srgbClr val="CF0A2C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1463040" y="2103120"/>
            <a:ext cx="7315200" cy="7315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3200" b="1">
                <a:solidFill>
                  <a:srgbClr val="333333"/>
                </a:solidFill>
                <a:latin typeface="Microsoft YaHei"/>
                <a:ea typeface="Microsoft YaHei"/>
              </a:rPr>
              <a:t>自我介绍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1463040" y="2926080"/>
            <a:ext cx="7315200" cy="45720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600" b="0">
                <a:solidFill>
                  <a:srgbClr val="999999"/>
                </a:solidFill>
                <a:latin typeface="Microsoft YaHei"/>
                <a:ea typeface="Microsoft YaHei"/>
              </a:rPr>
              <a:t>Self Introduction</a:t>
            </a:r>
          </a:p>
        </p:txBody>
      </p:sp>
      <p:sp>
        <p:nvSpPr>
          <p:cNvPr id="67" name="矩形 66"/>
          <p:cNvSpPr/>
          <p:nvPr/>
        </p:nvSpPr>
        <p:spPr>
          <a:xfrm>
            <a:off x="1463040" y="3474720"/>
            <a:ext cx="2743200" cy="13716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68" name="矩形 67"/>
          <p:cNvSpPr/>
          <p:nvPr/>
        </p:nvSpPr>
        <p:spPr>
          <a:xfrm>
            <a:off x="9448495" y="5029200"/>
            <a:ext cx="2011680" cy="73152"/>
          </a:xfrm>
          <a:prstGeom prst="rect">
            <a:avLst/>
          </a:prstGeom>
          <a:solidFill>
            <a:srgbClr val="D0D0D0"/>
          </a:solidFill>
        </p:spPr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71C5E3C-E074-4E8B-1B31-04ED73E284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6063" y="6250761"/>
            <a:ext cx="735937" cy="6072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矩形 7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0F0F0"/>
          </a:solidFill>
        </p:spPr>
      </p:sp>
      <p:sp>
        <p:nvSpPr>
          <p:cNvPr id="78" name="矩形 77"/>
          <p:cNvSpPr/>
          <p:nvPr/>
        </p:nvSpPr>
        <p:spPr>
          <a:xfrm>
            <a:off x="438912" y="0"/>
            <a:ext cx="18288" cy="685800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79" name="矩形 78"/>
          <p:cNvSpPr/>
          <p:nvPr/>
        </p:nvSpPr>
        <p:spPr>
          <a:xfrm>
            <a:off x="457200" y="0"/>
            <a:ext cx="11734495" cy="54864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80" name="矩形 79"/>
          <p:cNvSpPr/>
          <p:nvPr/>
        </p:nvSpPr>
        <p:spPr>
          <a:xfrm>
            <a:off x="457200" y="54864"/>
            <a:ext cx="11734495" cy="18288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81" name="文本框 80"/>
          <p:cNvSpPr txBox="1"/>
          <p:nvPr/>
        </p:nvSpPr>
        <p:spPr>
          <a:xfrm>
            <a:off x="822960" y="457200"/>
            <a:ext cx="10058400" cy="54864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2800" b="1">
                <a:solidFill>
                  <a:srgbClr val="CF0A2C"/>
                </a:solidFill>
                <a:latin typeface="Microsoft YaHei"/>
                <a:ea typeface="Microsoft YaHei"/>
              </a:rPr>
              <a:t>自我介绍</a:t>
            </a:r>
          </a:p>
        </p:txBody>
      </p:sp>
      <p:sp>
        <p:nvSpPr>
          <p:cNvPr id="82" name="矩形 81"/>
          <p:cNvSpPr/>
          <p:nvPr/>
        </p:nvSpPr>
        <p:spPr>
          <a:xfrm>
            <a:off x="822960" y="1005840"/>
            <a:ext cx="1371600" cy="27432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83" name="矩形 82"/>
          <p:cNvSpPr/>
          <p:nvPr/>
        </p:nvSpPr>
        <p:spPr>
          <a:xfrm>
            <a:off x="2286000" y="1010412"/>
            <a:ext cx="8229600" cy="13716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84" name="文本框 83"/>
          <p:cNvSpPr txBox="1"/>
          <p:nvPr/>
        </p:nvSpPr>
        <p:spPr>
          <a:xfrm>
            <a:off x="822960" y="1097280"/>
            <a:ext cx="274320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000" b="0">
                <a:solidFill>
                  <a:srgbClr val="999999"/>
                </a:solidFill>
                <a:latin typeface="Microsoft YaHei"/>
                <a:ea typeface="Microsoft YaHei"/>
              </a:rPr>
              <a:t>SELF INTRODUCTION</a:t>
            </a:r>
          </a:p>
        </p:txBody>
      </p:sp>
      <p:sp>
        <p:nvSpPr>
          <p:cNvPr id="85" name="矩形: 圆角 84"/>
          <p:cNvSpPr/>
          <p:nvPr/>
        </p:nvSpPr>
        <p:spPr>
          <a:xfrm>
            <a:off x="822960" y="1371600"/>
            <a:ext cx="10515600" cy="4160520"/>
          </a:xfrm>
          <a:prstGeom prst="roundRect">
            <a:avLst>
              <a:gd name="adj" fmla="val 16667"/>
            </a:avLst>
          </a:prstGeom>
          <a:ln>
            <a:solidFill>
              <a:srgbClr val="E0E0E0"/>
            </a:solidFill>
          </a:ln>
        </p:spPr>
      </p:sp>
      <p:sp>
        <p:nvSpPr>
          <p:cNvPr id="86" name="矩形 85"/>
          <p:cNvSpPr/>
          <p:nvPr/>
        </p:nvSpPr>
        <p:spPr>
          <a:xfrm>
            <a:off x="822960" y="1371600"/>
            <a:ext cx="2011680" cy="594360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87" name="矩形 86"/>
          <p:cNvSpPr/>
          <p:nvPr/>
        </p:nvSpPr>
        <p:spPr>
          <a:xfrm>
            <a:off x="2834640" y="1371600"/>
            <a:ext cx="8503920" cy="594360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88" name="矩形 87"/>
          <p:cNvSpPr/>
          <p:nvPr/>
        </p:nvSpPr>
        <p:spPr>
          <a:xfrm>
            <a:off x="822960" y="1956816"/>
            <a:ext cx="10515600" cy="9144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89" name="矩形 88"/>
          <p:cNvSpPr/>
          <p:nvPr/>
        </p:nvSpPr>
        <p:spPr>
          <a:xfrm>
            <a:off x="822960" y="1371600"/>
            <a:ext cx="36576" cy="594360"/>
          </a:xfrm>
          <a:prstGeom prst="rect">
            <a:avLst/>
          </a:prstGeom>
          <a:solidFill>
            <a:srgbClr val="D0D0D0"/>
          </a:solidFill>
        </p:spPr>
      </p:sp>
      <p:sp>
        <p:nvSpPr>
          <p:cNvPr id="90" name="文本框 89"/>
          <p:cNvSpPr txBox="1"/>
          <p:nvPr/>
        </p:nvSpPr>
        <p:spPr>
          <a:xfrm>
            <a:off x="960120" y="1481328"/>
            <a:ext cx="178308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300" b="1">
                <a:solidFill>
                  <a:srgbClr val="666666"/>
                </a:solidFill>
                <a:latin typeface="Microsoft YaHei"/>
                <a:ea typeface="Microsoft YaHei"/>
              </a:rPr>
              <a:t>姓名</a:t>
            </a:r>
          </a:p>
        </p:txBody>
      </p:sp>
      <p:sp>
        <p:nvSpPr>
          <p:cNvPr id="91" name="矩形 90"/>
          <p:cNvSpPr/>
          <p:nvPr/>
        </p:nvSpPr>
        <p:spPr>
          <a:xfrm>
            <a:off x="2825496" y="1371600"/>
            <a:ext cx="9144" cy="59436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92" name="文本框 91"/>
          <p:cNvSpPr txBox="1"/>
          <p:nvPr/>
        </p:nvSpPr>
        <p:spPr>
          <a:xfrm>
            <a:off x="3017520" y="1481328"/>
            <a:ext cx="822960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altLang="en-US" sz="1300" dirty="0">
                <a:solidFill>
                  <a:srgbClr val="333333"/>
                </a:solidFill>
                <a:latin typeface="Microsoft YaHei"/>
                <a:ea typeface="Microsoft YaHei"/>
              </a:rPr>
              <a:t>李泽东</a:t>
            </a:r>
            <a:endParaRPr lang="zh-CN" sz="13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822960" y="2551176"/>
            <a:ext cx="10515600" cy="9144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94" name="矩形 93"/>
          <p:cNvSpPr/>
          <p:nvPr/>
        </p:nvSpPr>
        <p:spPr>
          <a:xfrm>
            <a:off x="822960" y="1965960"/>
            <a:ext cx="36576" cy="594360"/>
          </a:xfrm>
          <a:prstGeom prst="rect">
            <a:avLst/>
          </a:prstGeom>
          <a:solidFill>
            <a:srgbClr val="D0D0D0"/>
          </a:solidFill>
        </p:spPr>
      </p:sp>
      <p:sp>
        <p:nvSpPr>
          <p:cNvPr id="95" name="文本框 94"/>
          <p:cNvSpPr txBox="1"/>
          <p:nvPr/>
        </p:nvSpPr>
        <p:spPr>
          <a:xfrm>
            <a:off x="960120" y="2075688"/>
            <a:ext cx="178308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300" b="1">
                <a:solidFill>
                  <a:srgbClr val="666666"/>
                </a:solidFill>
                <a:latin typeface="Microsoft YaHei"/>
                <a:ea typeface="Microsoft YaHei"/>
              </a:rPr>
              <a:t>部门</a:t>
            </a:r>
          </a:p>
        </p:txBody>
      </p:sp>
      <p:sp>
        <p:nvSpPr>
          <p:cNvPr id="96" name="矩形 95"/>
          <p:cNvSpPr/>
          <p:nvPr/>
        </p:nvSpPr>
        <p:spPr>
          <a:xfrm>
            <a:off x="2825496" y="1965960"/>
            <a:ext cx="9144" cy="59436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97" name="文本框 96"/>
          <p:cNvSpPr txBox="1"/>
          <p:nvPr/>
        </p:nvSpPr>
        <p:spPr>
          <a:xfrm>
            <a:off x="3017520" y="2075688"/>
            <a:ext cx="822960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altLang="en-US" sz="1300" dirty="0">
                <a:solidFill>
                  <a:srgbClr val="333333"/>
                </a:solidFill>
                <a:latin typeface="Microsoft YaHei"/>
                <a:ea typeface="Microsoft YaHei"/>
              </a:rPr>
              <a:t>鸿蒙系统安全与应急响应部</a:t>
            </a:r>
            <a:r>
              <a:rPr lang="en-US" altLang="zh-CN" sz="1300" dirty="0">
                <a:solidFill>
                  <a:srgbClr val="333333"/>
                </a:solidFill>
                <a:latin typeface="Microsoft YaHei"/>
                <a:ea typeface="Microsoft YaHei"/>
              </a:rPr>
              <a:t>(</a:t>
            </a:r>
            <a:r>
              <a:rPr lang="zh-CN" altLang="en-US" sz="1300" dirty="0">
                <a:solidFill>
                  <a:srgbClr val="333333"/>
                </a:solidFill>
                <a:latin typeface="Microsoft YaHei"/>
                <a:ea typeface="Microsoft YaHei"/>
              </a:rPr>
              <a:t>终端</a:t>
            </a:r>
            <a:r>
              <a:rPr lang="en-US" altLang="zh-CN" sz="1300" dirty="0">
                <a:solidFill>
                  <a:srgbClr val="333333"/>
                </a:solidFill>
                <a:latin typeface="Microsoft YaHei"/>
                <a:ea typeface="Microsoft YaHei"/>
              </a:rPr>
              <a:t>BG)</a:t>
            </a:r>
            <a:endParaRPr lang="zh-CN" sz="13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822960" y="2560320"/>
            <a:ext cx="2011680" cy="594360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99" name="矩形 98"/>
          <p:cNvSpPr/>
          <p:nvPr/>
        </p:nvSpPr>
        <p:spPr>
          <a:xfrm>
            <a:off x="2834640" y="2560320"/>
            <a:ext cx="8503920" cy="594360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100" name="矩形 99"/>
          <p:cNvSpPr/>
          <p:nvPr/>
        </p:nvSpPr>
        <p:spPr>
          <a:xfrm>
            <a:off x="822960" y="3145536"/>
            <a:ext cx="10515600" cy="9144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01" name="矩形 100"/>
          <p:cNvSpPr/>
          <p:nvPr/>
        </p:nvSpPr>
        <p:spPr>
          <a:xfrm>
            <a:off x="822960" y="2560320"/>
            <a:ext cx="36576" cy="594360"/>
          </a:xfrm>
          <a:prstGeom prst="rect">
            <a:avLst/>
          </a:prstGeom>
          <a:solidFill>
            <a:srgbClr val="D0D0D0"/>
          </a:solidFill>
        </p:spPr>
      </p:sp>
      <p:sp>
        <p:nvSpPr>
          <p:cNvPr id="102" name="文本框 101"/>
          <p:cNvSpPr txBox="1"/>
          <p:nvPr/>
        </p:nvSpPr>
        <p:spPr>
          <a:xfrm>
            <a:off x="960120" y="2670048"/>
            <a:ext cx="178308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300" b="1">
                <a:solidFill>
                  <a:srgbClr val="666666"/>
                </a:solidFill>
                <a:latin typeface="Microsoft YaHei"/>
                <a:ea typeface="Microsoft YaHei"/>
              </a:rPr>
              <a:t>主管</a:t>
            </a:r>
          </a:p>
        </p:txBody>
      </p:sp>
      <p:sp>
        <p:nvSpPr>
          <p:cNvPr id="103" name="矩形 102"/>
          <p:cNvSpPr/>
          <p:nvPr/>
        </p:nvSpPr>
        <p:spPr>
          <a:xfrm>
            <a:off x="2825496" y="2560320"/>
            <a:ext cx="9144" cy="59436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04" name="文本框 103"/>
          <p:cNvSpPr txBox="1"/>
          <p:nvPr/>
        </p:nvSpPr>
        <p:spPr>
          <a:xfrm>
            <a:off x="3017520" y="2670048"/>
            <a:ext cx="822960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altLang="en-US" sz="1300" b="0" dirty="0">
                <a:solidFill>
                  <a:srgbClr val="333333"/>
                </a:solidFill>
                <a:latin typeface="Microsoft YaHei"/>
                <a:ea typeface="Microsoft YaHei"/>
              </a:rPr>
              <a:t>刘</a:t>
            </a:r>
            <a:r>
              <a:rPr lang="zh-CN" altLang="en-US" sz="1300" dirty="0">
                <a:solidFill>
                  <a:srgbClr val="333333"/>
                </a:solidFill>
                <a:latin typeface="Microsoft YaHei"/>
                <a:ea typeface="Microsoft YaHei"/>
              </a:rPr>
              <a:t>元章</a:t>
            </a:r>
            <a:endParaRPr lang="zh-CN" sz="13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822960" y="3739896"/>
            <a:ext cx="10515600" cy="9144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06" name="矩形 105"/>
          <p:cNvSpPr/>
          <p:nvPr/>
        </p:nvSpPr>
        <p:spPr>
          <a:xfrm>
            <a:off x="822960" y="3154680"/>
            <a:ext cx="36576" cy="594360"/>
          </a:xfrm>
          <a:prstGeom prst="rect">
            <a:avLst/>
          </a:prstGeom>
          <a:solidFill>
            <a:srgbClr val="D0D0D0"/>
          </a:solidFill>
        </p:spPr>
      </p:sp>
      <p:sp>
        <p:nvSpPr>
          <p:cNvPr id="107" name="文本框 106"/>
          <p:cNvSpPr txBox="1"/>
          <p:nvPr/>
        </p:nvSpPr>
        <p:spPr>
          <a:xfrm>
            <a:off x="960120" y="3264408"/>
            <a:ext cx="178308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300" b="1">
                <a:solidFill>
                  <a:srgbClr val="666666"/>
                </a:solidFill>
                <a:latin typeface="Microsoft YaHei"/>
                <a:ea typeface="Microsoft YaHei"/>
              </a:rPr>
              <a:t>导师</a:t>
            </a:r>
          </a:p>
        </p:txBody>
      </p:sp>
      <p:sp>
        <p:nvSpPr>
          <p:cNvPr id="108" name="矩形 107"/>
          <p:cNvSpPr/>
          <p:nvPr/>
        </p:nvSpPr>
        <p:spPr>
          <a:xfrm>
            <a:off x="2825496" y="3154680"/>
            <a:ext cx="9144" cy="59436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09" name="文本框 108"/>
          <p:cNvSpPr txBox="1"/>
          <p:nvPr/>
        </p:nvSpPr>
        <p:spPr>
          <a:xfrm>
            <a:off x="3017520" y="3264408"/>
            <a:ext cx="822960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altLang="en-US" sz="1300" dirty="0">
                <a:solidFill>
                  <a:srgbClr val="333333"/>
                </a:solidFill>
                <a:latin typeface="Microsoft YaHei"/>
                <a:ea typeface="Microsoft YaHei"/>
              </a:rPr>
              <a:t>徐知仁</a:t>
            </a:r>
            <a:endParaRPr lang="zh-CN" sz="13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822960" y="3749040"/>
            <a:ext cx="2011680" cy="594360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111" name="矩形 110"/>
          <p:cNvSpPr/>
          <p:nvPr/>
        </p:nvSpPr>
        <p:spPr>
          <a:xfrm>
            <a:off x="2834640" y="3749040"/>
            <a:ext cx="8503920" cy="594360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112" name="矩形 111"/>
          <p:cNvSpPr/>
          <p:nvPr/>
        </p:nvSpPr>
        <p:spPr>
          <a:xfrm>
            <a:off x="822960" y="4334256"/>
            <a:ext cx="10515600" cy="9144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13" name="矩形 112"/>
          <p:cNvSpPr/>
          <p:nvPr/>
        </p:nvSpPr>
        <p:spPr>
          <a:xfrm>
            <a:off x="822960" y="3749040"/>
            <a:ext cx="36576" cy="594360"/>
          </a:xfrm>
          <a:prstGeom prst="rect">
            <a:avLst/>
          </a:prstGeom>
          <a:solidFill>
            <a:srgbClr val="D0D0D0"/>
          </a:solidFill>
        </p:spPr>
      </p:sp>
      <p:sp>
        <p:nvSpPr>
          <p:cNvPr id="114" name="文本框 113"/>
          <p:cNvSpPr txBox="1"/>
          <p:nvPr/>
        </p:nvSpPr>
        <p:spPr>
          <a:xfrm>
            <a:off x="960120" y="3858768"/>
            <a:ext cx="178308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300" b="1">
                <a:solidFill>
                  <a:srgbClr val="666666"/>
                </a:solidFill>
                <a:latin typeface="Microsoft YaHei"/>
                <a:ea typeface="Microsoft YaHei"/>
              </a:rPr>
              <a:t>实习日期</a:t>
            </a:r>
          </a:p>
        </p:txBody>
      </p:sp>
      <p:sp>
        <p:nvSpPr>
          <p:cNvPr id="115" name="矩形 114"/>
          <p:cNvSpPr/>
          <p:nvPr/>
        </p:nvSpPr>
        <p:spPr>
          <a:xfrm>
            <a:off x="2825496" y="3749040"/>
            <a:ext cx="9144" cy="59436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16" name="文本框 115"/>
          <p:cNvSpPr txBox="1"/>
          <p:nvPr/>
        </p:nvSpPr>
        <p:spPr>
          <a:xfrm>
            <a:off x="3017520" y="3858768"/>
            <a:ext cx="822960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300" b="0" dirty="0">
                <a:solidFill>
                  <a:srgbClr val="333333"/>
                </a:solidFill>
                <a:latin typeface="Microsoft YaHei"/>
                <a:ea typeface="Microsoft YaHei"/>
              </a:rPr>
              <a:t>2026年7月</a:t>
            </a:r>
            <a:r>
              <a:rPr lang="en-US" altLang="zh-CN" sz="1300" b="0" dirty="0">
                <a:solidFill>
                  <a:srgbClr val="333333"/>
                </a:solidFill>
                <a:latin typeface="Microsoft YaHei"/>
                <a:ea typeface="Microsoft YaHei"/>
              </a:rPr>
              <a:t>1</a:t>
            </a:r>
            <a:r>
              <a:rPr lang="zh-CN" altLang="en-US" sz="1300" b="0" dirty="0">
                <a:solidFill>
                  <a:srgbClr val="333333"/>
                </a:solidFill>
                <a:latin typeface="Microsoft YaHei"/>
                <a:ea typeface="Microsoft YaHei"/>
              </a:rPr>
              <a:t>日</a:t>
            </a:r>
            <a:r>
              <a:rPr lang="zh-CN" sz="1300" b="0" dirty="0">
                <a:solidFill>
                  <a:srgbClr val="333333"/>
                </a:solidFill>
                <a:latin typeface="Microsoft YaHei"/>
                <a:ea typeface="Microsoft YaHei"/>
              </a:rPr>
              <a:t> - 2026年8</a:t>
            </a:r>
            <a:r>
              <a:rPr lang="zh-CN" altLang="en-US" sz="1300" b="0" dirty="0">
                <a:solidFill>
                  <a:srgbClr val="333333"/>
                </a:solidFill>
                <a:latin typeface="Microsoft YaHei"/>
                <a:ea typeface="Microsoft YaHei"/>
              </a:rPr>
              <a:t>月</a:t>
            </a:r>
            <a:r>
              <a:rPr lang="en-US" altLang="zh-CN" sz="1300" b="0" dirty="0">
                <a:solidFill>
                  <a:srgbClr val="333333"/>
                </a:solidFill>
                <a:latin typeface="Microsoft YaHei"/>
                <a:ea typeface="Microsoft YaHei"/>
              </a:rPr>
              <a:t>28</a:t>
            </a:r>
            <a:r>
              <a:rPr lang="zh-CN" altLang="en-US" sz="1300" b="0" dirty="0">
                <a:solidFill>
                  <a:srgbClr val="333333"/>
                </a:solidFill>
                <a:latin typeface="Microsoft YaHei"/>
                <a:ea typeface="Microsoft YaHei"/>
              </a:rPr>
              <a:t>日</a:t>
            </a:r>
            <a:endParaRPr lang="zh-CN" sz="13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822960" y="4928616"/>
            <a:ext cx="10515600" cy="9144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18" name="矩形 117"/>
          <p:cNvSpPr/>
          <p:nvPr/>
        </p:nvSpPr>
        <p:spPr>
          <a:xfrm>
            <a:off x="822960" y="4343400"/>
            <a:ext cx="36576" cy="594360"/>
          </a:xfrm>
          <a:prstGeom prst="rect">
            <a:avLst/>
          </a:prstGeom>
          <a:solidFill>
            <a:srgbClr val="D0D0D0"/>
          </a:solidFill>
        </p:spPr>
      </p:sp>
      <p:sp>
        <p:nvSpPr>
          <p:cNvPr id="119" name="文本框 118"/>
          <p:cNvSpPr txBox="1"/>
          <p:nvPr/>
        </p:nvSpPr>
        <p:spPr>
          <a:xfrm>
            <a:off x="960120" y="4453128"/>
            <a:ext cx="178308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300" b="1">
                <a:solidFill>
                  <a:srgbClr val="666666"/>
                </a:solidFill>
                <a:latin typeface="Microsoft YaHei"/>
                <a:ea typeface="Microsoft YaHei"/>
              </a:rPr>
              <a:t>实习课题</a:t>
            </a:r>
          </a:p>
        </p:txBody>
      </p:sp>
      <p:sp>
        <p:nvSpPr>
          <p:cNvPr id="120" name="矩形 119"/>
          <p:cNvSpPr/>
          <p:nvPr/>
        </p:nvSpPr>
        <p:spPr>
          <a:xfrm>
            <a:off x="2825496" y="4343400"/>
            <a:ext cx="9144" cy="59436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21" name="文本框 120"/>
          <p:cNvSpPr txBox="1"/>
          <p:nvPr/>
        </p:nvSpPr>
        <p:spPr>
          <a:xfrm>
            <a:off x="3017520" y="4453128"/>
            <a:ext cx="822960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300" b="0">
                <a:solidFill>
                  <a:srgbClr val="333333"/>
                </a:solidFill>
                <a:latin typeface="Microsoft YaHei"/>
                <a:ea typeface="Microsoft YaHei"/>
              </a:rPr>
              <a:t>OpenHarmony CFI 安全检测 Agent</a:t>
            </a:r>
          </a:p>
        </p:txBody>
      </p:sp>
      <p:sp>
        <p:nvSpPr>
          <p:cNvPr id="122" name="矩形 121"/>
          <p:cNvSpPr/>
          <p:nvPr/>
        </p:nvSpPr>
        <p:spPr>
          <a:xfrm>
            <a:off x="822960" y="4937760"/>
            <a:ext cx="2011680" cy="594360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123" name="矩形 122"/>
          <p:cNvSpPr/>
          <p:nvPr/>
        </p:nvSpPr>
        <p:spPr>
          <a:xfrm>
            <a:off x="2834640" y="4937760"/>
            <a:ext cx="8503920" cy="594360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124" name="矩形 123"/>
          <p:cNvSpPr/>
          <p:nvPr/>
        </p:nvSpPr>
        <p:spPr>
          <a:xfrm>
            <a:off x="822960" y="4937760"/>
            <a:ext cx="36576" cy="594360"/>
          </a:xfrm>
          <a:prstGeom prst="rect">
            <a:avLst/>
          </a:prstGeom>
          <a:solidFill>
            <a:srgbClr val="D0D0D0"/>
          </a:solidFill>
        </p:spPr>
      </p:sp>
      <p:sp>
        <p:nvSpPr>
          <p:cNvPr id="125" name="文本框 124"/>
          <p:cNvSpPr txBox="1"/>
          <p:nvPr/>
        </p:nvSpPr>
        <p:spPr>
          <a:xfrm>
            <a:off x="960120" y="5047488"/>
            <a:ext cx="178308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300" b="1">
                <a:solidFill>
                  <a:srgbClr val="666666"/>
                </a:solidFill>
                <a:latin typeface="Microsoft YaHei"/>
                <a:ea typeface="Microsoft YaHei"/>
              </a:rPr>
              <a:t>教育经历</a:t>
            </a:r>
          </a:p>
        </p:txBody>
      </p:sp>
      <p:sp>
        <p:nvSpPr>
          <p:cNvPr id="126" name="矩形 125"/>
          <p:cNvSpPr/>
          <p:nvPr/>
        </p:nvSpPr>
        <p:spPr>
          <a:xfrm>
            <a:off x="2825496" y="4937760"/>
            <a:ext cx="9144" cy="59436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27" name="文本框 126"/>
          <p:cNvSpPr txBox="1"/>
          <p:nvPr/>
        </p:nvSpPr>
        <p:spPr>
          <a:xfrm>
            <a:off x="3017520" y="5047488"/>
            <a:ext cx="822960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altLang="en-US" sz="1300" dirty="0">
                <a:solidFill>
                  <a:srgbClr val="333333"/>
                </a:solidFill>
                <a:latin typeface="Microsoft YaHei"/>
                <a:ea typeface="Microsoft YaHei"/>
              </a:rPr>
              <a:t>本科就读于吉林大学，现哈尔滨工业大学研二在读</a:t>
            </a:r>
            <a:endParaRPr lang="zh-CN" sz="13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9DFF1E7-D5B8-0332-5F73-698FE3D90F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758" y="6250761"/>
            <a:ext cx="735937" cy="6072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矩形 136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F0F0F0"/>
          </a:solidFill>
        </p:spPr>
      </p:sp>
      <p:sp>
        <p:nvSpPr>
          <p:cNvPr id="138" name="矩形 137"/>
          <p:cNvSpPr/>
          <p:nvPr/>
        </p:nvSpPr>
        <p:spPr>
          <a:xfrm>
            <a:off x="713232" y="0"/>
            <a:ext cx="18288" cy="685800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139" name="矩形 138"/>
          <p:cNvSpPr/>
          <p:nvPr/>
        </p:nvSpPr>
        <p:spPr>
          <a:xfrm>
            <a:off x="1097280" y="822960"/>
            <a:ext cx="2286000" cy="1097280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140" name="矩形 139"/>
          <p:cNvSpPr/>
          <p:nvPr/>
        </p:nvSpPr>
        <p:spPr>
          <a:xfrm>
            <a:off x="1097280" y="1005840"/>
            <a:ext cx="54864" cy="365760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141" name="文本框 140"/>
          <p:cNvSpPr txBox="1"/>
          <p:nvPr/>
        </p:nvSpPr>
        <p:spPr>
          <a:xfrm>
            <a:off x="1463040" y="914400"/>
            <a:ext cx="1828800" cy="91440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6000" b="1">
                <a:solidFill>
                  <a:srgbClr val="CF0A2C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42" name="文本框 141"/>
          <p:cNvSpPr txBox="1"/>
          <p:nvPr/>
        </p:nvSpPr>
        <p:spPr>
          <a:xfrm>
            <a:off x="1463040" y="2103120"/>
            <a:ext cx="7315200" cy="7315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3200" b="1">
                <a:solidFill>
                  <a:srgbClr val="333333"/>
                </a:solidFill>
                <a:latin typeface="Microsoft YaHei"/>
                <a:ea typeface="Microsoft YaHei"/>
              </a:rPr>
              <a:t>实习工作内容</a:t>
            </a:r>
          </a:p>
        </p:txBody>
      </p:sp>
      <p:sp>
        <p:nvSpPr>
          <p:cNvPr id="143" name="文本框 142"/>
          <p:cNvSpPr txBox="1"/>
          <p:nvPr/>
        </p:nvSpPr>
        <p:spPr>
          <a:xfrm>
            <a:off x="1463040" y="2926080"/>
            <a:ext cx="7315200" cy="45720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600" b="0">
                <a:solidFill>
                  <a:srgbClr val="999999"/>
                </a:solidFill>
                <a:latin typeface="Microsoft YaHei"/>
                <a:ea typeface="Microsoft YaHei"/>
              </a:rPr>
              <a:t>Internship Work Content</a:t>
            </a:r>
          </a:p>
        </p:txBody>
      </p:sp>
      <p:sp>
        <p:nvSpPr>
          <p:cNvPr id="144" name="矩形 143"/>
          <p:cNvSpPr/>
          <p:nvPr/>
        </p:nvSpPr>
        <p:spPr>
          <a:xfrm>
            <a:off x="1463040" y="3474720"/>
            <a:ext cx="2743200" cy="13716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45" name="矩形 144"/>
          <p:cNvSpPr/>
          <p:nvPr/>
        </p:nvSpPr>
        <p:spPr>
          <a:xfrm>
            <a:off x="9448495" y="5029200"/>
            <a:ext cx="2011680" cy="73152"/>
          </a:xfrm>
          <a:prstGeom prst="rect">
            <a:avLst/>
          </a:prstGeom>
          <a:solidFill>
            <a:srgbClr val="D0D0D0"/>
          </a:solidFill>
        </p:spPr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EF75ADD-F036-CE04-3B18-1D9E667581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6063" y="6250761"/>
            <a:ext cx="735937" cy="6072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矩形 15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0F0F0"/>
          </a:solidFill>
        </p:spPr>
      </p:sp>
      <p:sp>
        <p:nvSpPr>
          <p:cNvPr id="155" name="矩形 154"/>
          <p:cNvSpPr/>
          <p:nvPr/>
        </p:nvSpPr>
        <p:spPr>
          <a:xfrm>
            <a:off x="438912" y="0"/>
            <a:ext cx="18288" cy="685800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156" name="矩形 155"/>
          <p:cNvSpPr/>
          <p:nvPr/>
        </p:nvSpPr>
        <p:spPr>
          <a:xfrm>
            <a:off x="457200" y="0"/>
            <a:ext cx="11734495" cy="54864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157" name="矩形 156"/>
          <p:cNvSpPr/>
          <p:nvPr/>
        </p:nvSpPr>
        <p:spPr>
          <a:xfrm>
            <a:off x="457200" y="54864"/>
            <a:ext cx="11734495" cy="18288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58" name="文本框 157"/>
          <p:cNvSpPr txBox="1"/>
          <p:nvPr/>
        </p:nvSpPr>
        <p:spPr>
          <a:xfrm>
            <a:off x="822960" y="457200"/>
            <a:ext cx="10058400" cy="54864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2800" b="1">
                <a:solidFill>
                  <a:srgbClr val="CF0A2C"/>
                </a:solidFill>
                <a:latin typeface="Microsoft YaHei"/>
                <a:ea typeface="Microsoft YaHei"/>
              </a:rPr>
              <a:t>项目背景与目标</a:t>
            </a:r>
          </a:p>
        </p:txBody>
      </p:sp>
      <p:sp>
        <p:nvSpPr>
          <p:cNvPr id="159" name="矩形 158"/>
          <p:cNvSpPr/>
          <p:nvPr/>
        </p:nvSpPr>
        <p:spPr>
          <a:xfrm>
            <a:off x="822960" y="1005840"/>
            <a:ext cx="1371600" cy="27432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160" name="矩形 159"/>
          <p:cNvSpPr/>
          <p:nvPr/>
        </p:nvSpPr>
        <p:spPr>
          <a:xfrm>
            <a:off x="2286000" y="1010412"/>
            <a:ext cx="8229600" cy="13716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61" name="矩形 160"/>
          <p:cNvSpPr/>
          <p:nvPr/>
        </p:nvSpPr>
        <p:spPr>
          <a:xfrm>
            <a:off x="640080" y="1280160"/>
            <a:ext cx="10515600" cy="41148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162" name="矩形 161"/>
          <p:cNvSpPr/>
          <p:nvPr/>
        </p:nvSpPr>
        <p:spPr>
          <a:xfrm>
            <a:off x="822960" y="1399032"/>
            <a:ext cx="109728" cy="109728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163" name="文本框 162"/>
          <p:cNvSpPr txBox="1"/>
          <p:nvPr/>
        </p:nvSpPr>
        <p:spPr>
          <a:xfrm>
            <a:off x="1097280" y="1325880"/>
            <a:ext cx="9601200" cy="36576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400" b="0">
                <a:solidFill>
                  <a:srgbClr val="333333"/>
                </a:solidFill>
                <a:latin typeface="Microsoft YaHei"/>
                <a:ea typeface="Microsoft YaHei"/>
              </a:rPr>
              <a:t>基于 OpenHarmony 平台，借助 AI Agent 辅助开发</a:t>
            </a:r>
          </a:p>
        </p:txBody>
      </p:sp>
      <p:sp>
        <p:nvSpPr>
          <p:cNvPr id="164" name="矩形 163"/>
          <p:cNvSpPr/>
          <p:nvPr/>
        </p:nvSpPr>
        <p:spPr>
          <a:xfrm>
            <a:off x="822960" y="1901952"/>
            <a:ext cx="109728" cy="109728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165" name="文本框 164"/>
          <p:cNvSpPr txBox="1"/>
          <p:nvPr/>
        </p:nvSpPr>
        <p:spPr>
          <a:xfrm>
            <a:off x="1097280" y="1828800"/>
            <a:ext cx="9601200" cy="36576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400" b="0" dirty="0">
                <a:solidFill>
                  <a:srgbClr val="333333"/>
                </a:solidFill>
                <a:latin typeface="Microsoft YaHei"/>
                <a:ea typeface="Microsoft YaHei"/>
              </a:rPr>
              <a:t>覆盖前向 CFI（.so/函数/调用点级）</a:t>
            </a:r>
            <a:r>
              <a:rPr lang="zh-CN" altLang="en-US" sz="1400" b="0" dirty="0">
                <a:solidFill>
                  <a:srgbClr val="333333"/>
                </a:solidFill>
                <a:latin typeface="Microsoft YaHei"/>
                <a:ea typeface="Microsoft YaHei"/>
              </a:rPr>
              <a:t>，</a:t>
            </a:r>
            <a:r>
              <a:rPr lang="en-US" altLang="zh-CN" sz="1400" b="0" dirty="0">
                <a:solidFill>
                  <a:srgbClr val="333333"/>
                </a:solidFill>
                <a:latin typeface="Microsoft YaHei"/>
                <a:ea typeface="Microsoft YaHei"/>
              </a:rPr>
              <a:t>BTI</a:t>
            </a:r>
            <a:r>
              <a:rPr lang="zh-CN" sz="1400" b="0" dirty="0">
                <a:solidFill>
                  <a:srgbClr val="333333"/>
                </a:solidFill>
                <a:latin typeface="Microsoft YaHei"/>
                <a:ea typeface="Microsoft YaHei"/>
              </a:rPr>
              <a:t>与后向 PAC的双架构安全检测系统</a:t>
            </a:r>
          </a:p>
        </p:txBody>
      </p:sp>
      <p:sp>
        <p:nvSpPr>
          <p:cNvPr id="166" name="矩形 165"/>
          <p:cNvSpPr/>
          <p:nvPr/>
        </p:nvSpPr>
        <p:spPr>
          <a:xfrm>
            <a:off x="640080" y="2286000"/>
            <a:ext cx="10515600" cy="41148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167" name="矩形 166"/>
          <p:cNvSpPr/>
          <p:nvPr/>
        </p:nvSpPr>
        <p:spPr>
          <a:xfrm>
            <a:off x="822960" y="2404872"/>
            <a:ext cx="109728" cy="109728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168" name="文本框 167"/>
          <p:cNvSpPr txBox="1"/>
          <p:nvPr/>
        </p:nvSpPr>
        <p:spPr>
          <a:xfrm>
            <a:off x="1097280" y="2331720"/>
            <a:ext cx="9601200" cy="36576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400" b="0">
                <a:solidFill>
                  <a:srgbClr val="333333"/>
                </a:solidFill>
                <a:latin typeface="Microsoft YaHei"/>
                <a:ea typeface="Microsoft YaHei"/>
              </a:rPr>
              <a:t>构建 LLM 驱动 Agent 通过自然语言触发检测</a:t>
            </a:r>
          </a:p>
        </p:txBody>
      </p:sp>
      <p:sp>
        <p:nvSpPr>
          <p:cNvPr id="169" name="矩形 168"/>
          <p:cNvSpPr/>
          <p:nvPr/>
        </p:nvSpPr>
        <p:spPr>
          <a:xfrm>
            <a:off x="822960" y="2907792"/>
            <a:ext cx="109728" cy="109728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170" name="文本框 169"/>
          <p:cNvSpPr txBox="1"/>
          <p:nvPr/>
        </p:nvSpPr>
        <p:spPr>
          <a:xfrm>
            <a:off x="1097280" y="2834640"/>
            <a:ext cx="9601200" cy="36576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400" b="0">
                <a:solidFill>
                  <a:srgbClr val="333333"/>
                </a:solidFill>
                <a:latin typeface="Microsoft YaHei"/>
                <a:ea typeface="Microsoft YaHei"/>
              </a:rPr>
              <a:t>结果以 SQLite + HTML/Excel 看板直观展示，已开源至 GitHub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ED45678-A19D-5D12-C480-EB53427AB7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6063" y="6250761"/>
            <a:ext cx="735937" cy="6072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0F0F0"/>
          </a:solidFill>
        </p:spPr>
      </p:sp>
      <p:sp>
        <p:nvSpPr>
          <p:cNvPr id="181" name="矩形 180"/>
          <p:cNvSpPr/>
          <p:nvPr/>
        </p:nvSpPr>
        <p:spPr>
          <a:xfrm>
            <a:off x="438912" y="0"/>
            <a:ext cx="18288" cy="685800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182" name="矩形 181"/>
          <p:cNvSpPr/>
          <p:nvPr/>
        </p:nvSpPr>
        <p:spPr>
          <a:xfrm>
            <a:off x="457200" y="0"/>
            <a:ext cx="11734495" cy="54864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183" name="矩形 182"/>
          <p:cNvSpPr/>
          <p:nvPr/>
        </p:nvSpPr>
        <p:spPr>
          <a:xfrm>
            <a:off x="457200" y="54864"/>
            <a:ext cx="11734495" cy="18288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84" name="文本框 183"/>
          <p:cNvSpPr txBox="1"/>
          <p:nvPr/>
        </p:nvSpPr>
        <p:spPr>
          <a:xfrm>
            <a:off x="822960" y="457200"/>
            <a:ext cx="10058400" cy="54864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en-US" altLang="zh-CN" sz="2800" b="1" dirty="0" err="1">
                <a:solidFill>
                  <a:srgbClr val="CF0A2C"/>
                </a:solidFill>
                <a:latin typeface="Microsoft YaHei"/>
                <a:ea typeface="Microsoft YaHei"/>
              </a:rPr>
              <a:t>OpenHarmony</a:t>
            </a:r>
            <a:r>
              <a:rPr lang="en-US" altLang="zh-CN" sz="2800" b="1" dirty="0">
                <a:solidFill>
                  <a:srgbClr val="CF0A2C"/>
                </a:solidFill>
                <a:latin typeface="Microsoft YaHei"/>
                <a:ea typeface="Microsoft YaHei"/>
              </a:rPr>
              <a:t> CFI</a:t>
            </a:r>
            <a:r>
              <a:rPr lang="zh-CN" altLang="en-US" sz="2800" b="1" dirty="0">
                <a:solidFill>
                  <a:srgbClr val="CF0A2C"/>
                </a:solidFill>
                <a:latin typeface="Microsoft YaHei"/>
                <a:ea typeface="Microsoft YaHei"/>
              </a:rPr>
              <a:t>相关技术</a:t>
            </a:r>
            <a:endParaRPr lang="zh-CN" sz="2800" b="1" dirty="0">
              <a:solidFill>
                <a:srgbClr val="CF0A2C"/>
              </a:solidFill>
              <a:latin typeface="Microsoft YaHei"/>
              <a:ea typeface="Microsoft YaHei"/>
            </a:endParaRPr>
          </a:p>
        </p:txBody>
      </p:sp>
      <p:sp>
        <p:nvSpPr>
          <p:cNvPr id="185" name="矩形 184"/>
          <p:cNvSpPr/>
          <p:nvPr/>
        </p:nvSpPr>
        <p:spPr>
          <a:xfrm>
            <a:off x="822960" y="1005840"/>
            <a:ext cx="1371600" cy="27432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186" name="矩形 185"/>
          <p:cNvSpPr/>
          <p:nvPr/>
        </p:nvSpPr>
        <p:spPr>
          <a:xfrm>
            <a:off x="2286000" y="1010412"/>
            <a:ext cx="8229600" cy="13716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87" name="矩形: 圆角 186"/>
          <p:cNvSpPr/>
          <p:nvPr/>
        </p:nvSpPr>
        <p:spPr>
          <a:xfrm>
            <a:off x="640080" y="1371600"/>
            <a:ext cx="5318607" cy="210312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E0E0E0"/>
            </a:solidFill>
          </a:ln>
        </p:spPr>
      </p:sp>
      <p:sp>
        <p:nvSpPr>
          <p:cNvPr id="188" name="矩形: 圆角 187"/>
          <p:cNvSpPr/>
          <p:nvPr/>
        </p:nvSpPr>
        <p:spPr>
          <a:xfrm>
            <a:off x="6233007" y="1371600"/>
            <a:ext cx="5318607" cy="210312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E0E0E0"/>
            </a:solidFill>
          </a:ln>
        </p:spPr>
      </p:sp>
      <p:sp>
        <p:nvSpPr>
          <p:cNvPr id="189" name="矩形 188"/>
          <p:cNvSpPr/>
          <p:nvPr/>
        </p:nvSpPr>
        <p:spPr>
          <a:xfrm>
            <a:off x="640080" y="1371600"/>
            <a:ext cx="5318607" cy="411480"/>
          </a:xfrm>
          <a:prstGeom prst="rect">
            <a:avLst/>
          </a:prstGeom>
          <a:solidFill>
            <a:srgbClr val="F0F0F0"/>
          </a:solidFill>
        </p:spPr>
      </p:sp>
      <p:sp>
        <p:nvSpPr>
          <p:cNvPr id="190" name="矩形 189"/>
          <p:cNvSpPr/>
          <p:nvPr/>
        </p:nvSpPr>
        <p:spPr>
          <a:xfrm>
            <a:off x="6233007" y="1371600"/>
            <a:ext cx="5318607" cy="411480"/>
          </a:xfrm>
          <a:prstGeom prst="rect">
            <a:avLst/>
          </a:prstGeom>
          <a:solidFill>
            <a:srgbClr val="F0F0F0"/>
          </a:solidFill>
        </p:spPr>
      </p:sp>
      <p:sp>
        <p:nvSpPr>
          <p:cNvPr id="191" name="文本框 190"/>
          <p:cNvSpPr txBox="1"/>
          <p:nvPr/>
        </p:nvSpPr>
        <p:spPr>
          <a:xfrm>
            <a:off x="822960" y="1417320"/>
            <a:ext cx="4952847" cy="32004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500" b="1">
                <a:solidFill>
                  <a:srgbClr val="CF0A2C"/>
                </a:solidFill>
                <a:latin typeface="Microsoft YaHei"/>
                <a:ea typeface="Microsoft YaHei"/>
              </a:rPr>
              <a:t>前向 CFI（LLVM CFI）</a:t>
            </a:r>
          </a:p>
        </p:txBody>
      </p:sp>
      <p:sp>
        <p:nvSpPr>
          <p:cNvPr id="192" name="文本框 191"/>
          <p:cNvSpPr txBox="1"/>
          <p:nvPr/>
        </p:nvSpPr>
        <p:spPr>
          <a:xfrm>
            <a:off x="6415887" y="1417320"/>
            <a:ext cx="4952847" cy="32004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500" b="1" dirty="0">
                <a:solidFill>
                  <a:srgbClr val="CF0A2C"/>
                </a:solidFill>
                <a:latin typeface="Microsoft YaHei"/>
                <a:ea typeface="Microsoft YaHei"/>
              </a:rPr>
              <a:t>后向 CFI（PAC ）</a:t>
            </a:r>
          </a:p>
        </p:txBody>
      </p:sp>
      <p:sp>
        <p:nvSpPr>
          <p:cNvPr id="193" name="矩形 192"/>
          <p:cNvSpPr/>
          <p:nvPr/>
        </p:nvSpPr>
        <p:spPr>
          <a:xfrm>
            <a:off x="685800" y="1874520"/>
            <a:ext cx="5227167" cy="4572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194" name="矩形 193"/>
          <p:cNvSpPr/>
          <p:nvPr/>
        </p:nvSpPr>
        <p:spPr>
          <a:xfrm>
            <a:off x="822960" y="1984248"/>
            <a:ext cx="91440" cy="9144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195" name="文本框 194"/>
          <p:cNvSpPr txBox="1"/>
          <p:nvPr/>
        </p:nvSpPr>
        <p:spPr>
          <a:xfrm>
            <a:off x="1005840" y="1920240"/>
            <a:ext cx="4769967" cy="41148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100" b="0">
                <a:solidFill>
                  <a:srgbClr val="333333"/>
                </a:solidFill>
                <a:latin typeface="Microsoft YaHei"/>
                <a:ea typeface="Microsoft YaHei"/>
              </a:rPr>
              <a:t>编译期为每个受保护函数生成 func.cfi（含类型检查）+ func（原始函数体）</a:t>
            </a:r>
          </a:p>
        </p:txBody>
      </p:sp>
      <p:sp>
        <p:nvSpPr>
          <p:cNvPr id="196" name="矩形 195"/>
          <p:cNvSpPr/>
          <p:nvPr/>
        </p:nvSpPr>
        <p:spPr>
          <a:xfrm>
            <a:off x="822960" y="2487168"/>
            <a:ext cx="91440" cy="9144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197" name="文本框 196"/>
          <p:cNvSpPr txBox="1"/>
          <p:nvPr/>
        </p:nvSpPr>
        <p:spPr>
          <a:xfrm>
            <a:off x="1005840" y="2423160"/>
            <a:ext cx="4769967" cy="41148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100" b="0">
                <a:solidFill>
                  <a:srgbClr val="333333"/>
                </a:solidFill>
                <a:latin typeface="Microsoft YaHei"/>
                <a:ea typeface="Microsoft YaHei"/>
              </a:rPr>
              <a:t>间接调用通过 __cfi_slowpath 校验目标类型哈希</a:t>
            </a:r>
          </a:p>
        </p:txBody>
      </p:sp>
      <p:sp>
        <p:nvSpPr>
          <p:cNvPr id="198" name="矩形 197"/>
          <p:cNvSpPr/>
          <p:nvPr/>
        </p:nvSpPr>
        <p:spPr>
          <a:xfrm>
            <a:off x="685800" y="2880360"/>
            <a:ext cx="5227167" cy="4572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199" name="矩形 198"/>
          <p:cNvSpPr/>
          <p:nvPr/>
        </p:nvSpPr>
        <p:spPr>
          <a:xfrm>
            <a:off x="822960" y="2990088"/>
            <a:ext cx="91440" cy="9144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200" name="文本框 199"/>
          <p:cNvSpPr txBox="1"/>
          <p:nvPr/>
        </p:nvSpPr>
        <p:spPr>
          <a:xfrm>
            <a:off x="1005840" y="2926080"/>
            <a:ext cx="4769967" cy="41148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100" b="0">
                <a:solidFill>
                  <a:srgbClr val="333333"/>
                </a:solidFill>
                <a:latin typeface="Microsoft YaHei"/>
                <a:ea typeface="Microsoft YaHei"/>
              </a:rPr>
              <a:t>防护：vtable hijacking、间接调用劫持</a:t>
            </a:r>
          </a:p>
        </p:txBody>
      </p:sp>
      <p:sp>
        <p:nvSpPr>
          <p:cNvPr id="201" name="矩形 200"/>
          <p:cNvSpPr/>
          <p:nvPr/>
        </p:nvSpPr>
        <p:spPr>
          <a:xfrm>
            <a:off x="6278727" y="1874520"/>
            <a:ext cx="5227167" cy="4572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202" name="矩形 201"/>
          <p:cNvSpPr/>
          <p:nvPr/>
        </p:nvSpPr>
        <p:spPr>
          <a:xfrm>
            <a:off x="6415887" y="1984248"/>
            <a:ext cx="91440" cy="9144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203" name="文本框 202"/>
          <p:cNvSpPr txBox="1"/>
          <p:nvPr/>
        </p:nvSpPr>
        <p:spPr>
          <a:xfrm>
            <a:off x="6598767" y="1920240"/>
            <a:ext cx="4769967" cy="41148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100" b="0" dirty="0">
                <a:solidFill>
                  <a:srgbClr val="333333"/>
                </a:solidFill>
                <a:latin typeface="Microsoft YaHei"/>
                <a:ea typeface="Microsoft YaHei"/>
              </a:rPr>
              <a:t>PAC：ARMv8.3 指针认证，函数入口签名返回地址，返回时验证</a:t>
            </a:r>
          </a:p>
        </p:txBody>
      </p:sp>
      <p:sp>
        <p:nvSpPr>
          <p:cNvPr id="204" name="矩形 203"/>
          <p:cNvSpPr/>
          <p:nvPr/>
        </p:nvSpPr>
        <p:spPr>
          <a:xfrm>
            <a:off x="6415887" y="2487168"/>
            <a:ext cx="91440" cy="9144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205" name="文本框 204"/>
          <p:cNvSpPr txBox="1"/>
          <p:nvPr/>
        </p:nvSpPr>
        <p:spPr>
          <a:xfrm>
            <a:off x="6598767" y="2423160"/>
            <a:ext cx="4769967" cy="41148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altLang="en-US" sz="1100" dirty="0">
                <a:solidFill>
                  <a:srgbClr val="333333"/>
                </a:solidFill>
                <a:latin typeface="Microsoft YaHei"/>
                <a:ea typeface="Microsoft YaHei"/>
              </a:rPr>
              <a:t>防护</a:t>
            </a:r>
            <a:r>
              <a:rPr lang="zh-CN" sz="1100" b="0" dirty="0">
                <a:solidFill>
                  <a:srgbClr val="333333"/>
                </a:solidFill>
                <a:latin typeface="Microsoft YaHei"/>
                <a:ea typeface="Microsoft YaHei"/>
              </a:rPr>
              <a:t>：</a:t>
            </a:r>
            <a:r>
              <a:rPr lang="en-US" altLang="zh-CN" sz="1100" b="0" dirty="0">
                <a:solidFill>
                  <a:srgbClr val="333333"/>
                </a:solidFill>
                <a:latin typeface="Microsoft YaHei"/>
                <a:ea typeface="Microsoft YaHei"/>
              </a:rPr>
              <a:t>ROP</a:t>
            </a:r>
            <a:r>
              <a:rPr lang="zh-CN" altLang="en-US" sz="1100" b="0" dirty="0">
                <a:solidFill>
                  <a:srgbClr val="333333"/>
                </a:solidFill>
                <a:latin typeface="Microsoft YaHei"/>
                <a:ea typeface="Microsoft YaHei"/>
              </a:rPr>
              <a:t>（</a:t>
            </a:r>
            <a:r>
              <a:rPr lang="zh-CN" altLang="en-US" sz="1100" dirty="0">
                <a:solidFill>
                  <a:srgbClr val="333333"/>
                </a:solidFill>
                <a:latin typeface="Microsoft YaHei"/>
                <a:ea typeface="Microsoft YaHei"/>
              </a:rPr>
              <a:t>返回地址篡改）</a:t>
            </a:r>
            <a:endParaRPr lang="zh-CN" sz="11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06" name="矩形 205"/>
          <p:cNvSpPr/>
          <p:nvPr/>
        </p:nvSpPr>
        <p:spPr>
          <a:xfrm>
            <a:off x="6278727" y="2880360"/>
            <a:ext cx="5227167" cy="4572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207" name="矩形 206"/>
          <p:cNvSpPr/>
          <p:nvPr/>
        </p:nvSpPr>
        <p:spPr>
          <a:xfrm>
            <a:off x="6415887" y="2990088"/>
            <a:ext cx="91440" cy="9144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208" name="文本框 207"/>
          <p:cNvSpPr txBox="1"/>
          <p:nvPr/>
        </p:nvSpPr>
        <p:spPr>
          <a:xfrm>
            <a:off x="6598767" y="2926080"/>
            <a:ext cx="4769967" cy="41148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100" b="0" dirty="0">
                <a:solidFill>
                  <a:srgbClr val="333333"/>
                </a:solidFill>
                <a:latin typeface="Microsoft YaHei"/>
                <a:ea typeface="Microsoft YaHei"/>
              </a:rPr>
              <a:t>仅 AArch64 支持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A9B53E8-F3D7-C146-7DBE-A7DBD41E21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6063" y="6250761"/>
            <a:ext cx="735937" cy="607239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FEF5CB91-D8CA-247E-61D2-DFB0342A104D}"/>
              </a:ext>
            </a:extLst>
          </p:cNvPr>
          <p:cNvSpPr/>
          <p:nvPr/>
        </p:nvSpPr>
        <p:spPr>
          <a:xfrm>
            <a:off x="638024" y="3945228"/>
            <a:ext cx="5318607" cy="210312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E0E0E0"/>
            </a:solidFill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B293189-8151-5F5D-01DE-FACE9591EEFF}"/>
              </a:ext>
            </a:extLst>
          </p:cNvPr>
          <p:cNvSpPr/>
          <p:nvPr/>
        </p:nvSpPr>
        <p:spPr>
          <a:xfrm>
            <a:off x="640080" y="3945228"/>
            <a:ext cx="5318607" cy="411480"/>
          </a:xfrm>
          <a:prstGeom prst="rect">
            <a:avLst/>
          </a:prstGeom>
          <a:solidFill>
            <a:srgbClr val="F0F0F0"/>
          </a:solidFill>
        </p:spPr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6E8EAE8-94FF-E511-9625-2DB87FA1B136}"/>
              </a:ext>
            </a:extLst>
          </p:cNvPr>
          <p:cNvSpPr txBox="1"/>
          <p:nvPr/>
        </p:nvSpPr>
        <p:spPr>
          <a:xfrm>
            <a:off x="822960" y="3990948"/>
            <a:ext cx="4952847" cy="32004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altLang="en-US" sz="1500" b="1" dirty="0">
                <a:solidFill>
                  <a:srgbClr val="CF0A2C"/>
                </a:solidFill>
                <a:latin typeface="Microsoft YaHei"/>
                <a:ea typeface="Microsoft YaHei"/>
              </a:rPr>
              <a:t>前</a:t>
            </a:r>
            <a:r>
              <a:rPr lang="zh-CN" sz="1500" b="1" dirty="0">
                <a:solidFill>
                  <a:srgbClr val="CF0A2C"/>
                </a:solidFill>
                <a:latin typeface="Microsoft YaHei"/>
                <a:ea typeface="Microsoft YaHei"/>
              </a:rPr>
              <a:t>向 CFI（BTI）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CF11233-B3DB-48D7-1F31-DD64719EC6A7}"/>
              </a:ext>
            </a:extLst>
          </p:cNvPr>
          <p:cNvSpPr/>
          <p:nvPr/>
        </p:nvSpPr>
        <p:spPr>
          <a:xfrm>
            <a:off x="685800" y="4448148"/>
            <a:ext cx="5227167" cy="4572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F20605C-8A55-7170-217A-699DDEC9751C}"/>
              </a:ext>
            </a:extLst>
          </p:cNvPr>
          <p:cNvSpPr/>
          <p:nvPr/>
        </p:nvSpPr>
        <p:spPr>
          <a:xfrm>
            <a:off x="822960" y="4557876"/>
            <a:ext cx="91440" cy="9144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A0EA9B9-5C88-D167-167C-E158B1DDD777}"/>
              </a:ext>
            </a:extLst>
          </p:cNvPr>
          <p:cNvSpPr txBox="1"/>
          <p:nvPr/>
        </p:nvSpPr>
        <p:spPr>
          <a:xfrm>
            <a:off x="1005840" y="4493868"/>
            <a:ext cx="4769967" cy="41148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altLang="zh-CN" sz="1100" dirty="0">
                <a:solidFill>
                  <a:srgbClr val="333333"/>
                </a:solidFill>
              </a:rPr>
              <a:t>BTI：ARMv8.5 分支目标标识，函数入口插入 BTI 指令</a:t>
            </a:r>
          </a:p>
          <a:p>
            <a:endParaRPr lang="zh-CN" sz="11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B2504B-3246-5A33-EC16-D7D31AF8115F}"/>
              </a:ext>
            </a:extLst>
          </p:cNvPr>
          <p:cNvSpPr/>
          <p:nvPr/>
        </p:nvSpPr>
        <p:spPr>
          <a:xfrm>
            <a:off x="822960" y="5060796"/>
            <a:ext cx="91440" cy="9144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8C4C75F-79B7-5C67-8E9D-6D86187F4701}"/>
              </a:ext>
            </a:extLst>
          </p:cNvPr>
          <p:cNvSpPr txBox="1"/>
          <p:nvPr/>
        </p:nvSpPr>
        <p:spPr>
          <a:xfrm>
            <a:off x="1005840" y="4996788"/>
            <a:ext cx="4769967" cy="41148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altLang="en-US" sz="1100" b="0" dirty="0">
                <a:solidFill>
                  <a:srgbClr val="333333"/>
                </a:solidFill>
                <a:latin typeface="Microsoft YaHei"/>
                <a:ea typeface="Microsoft YaHei"/>
              </a:rPr>
              <a:t>防护</a:t>
            </a:r>
            <a:r>
              <a:rPr lang="zh-CN" sz="1100" b="0" dirty="0">
                <a:solidFill>
                  <a:srgbClr val="333333"/>
                </a:solidFill>
                <a:latin typeface="Microsoft YaHei"/>
                <a:ea typeface="Microsoft YaHei"/>
              </a:rPr>
              <a:t>： JOP</a:t>
            </a:r>
            <a:r>
              <a:rPr lang="zh-CN" altLang="en-US" sz="1100" b="0" dirty="0">
                <a:solidFill>
                  <a:srgbClr val="333333"/>
                </a:solidFill>
                <a:latin typeface="Microsoft YaHei"/>
                <a:ea typeface="Microsoft YaHei"/>
              </a:rPr>
              <a:t>（跳转劫持）</a:t>
            </a:r>
            <a:endParaRPr lang="zh-CN" sz="11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1BCEBFE-81C9-F7FA-D222-CDD8CF3BAC48}"/>
              </a:ext>
            </a:extLst>
          </p:cNvPr>
          <p:cNvSpPr/>
          <p:nvPr/>
        </p:nvSpPr>
        <p:spPr>
          <a:xfrm>
            <a:off x="685800" y="5453988"/>
            <a:ext cx="5227167" cy="4572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E26C895-39A7-62CC-8B15-CC3750AF9CE2}"/>
              </a:ext>
            </a:extLst>
          </p:cNvPr>
          <p:cNvSpPr/>
          <p:nvPr/>
        </p:nvSpPr>
        <p:spPr>
          <a:xfrm>
            <a:off x="822960" y="5563716"/>
            <a:ext cx="91440" cy="9144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4C01F82-388D-056A-5DB2-085721E2EC88}"/>
              </a:ext>
            </a:extLst>
          </p:cNvPr>
          <p:cNvSpPr txBox="1"/>
          <p:nvPr/>
        </p:nvSpPr>
        <p:spPr>
          <a:xfrm>
            <a:off x="1005840" y="5499708"/>
            <a:ext cx="4769967" cy="41148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100" b="0" dirty="0">
                <a:solidFill>
                  <a:srgbClr val="333333"/>
                </a:solidFill>
                <a:latin typeface="Microsoft YaHei"/>
                <a:ea typeface="Microsoft YaHei"/>
              </a:rPr>
              <a:t>仅 AArch64 支持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矩形 21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0F0F0"/>
          </a:solidFill>
        </p:spPr>
      </p:sp>
      <p:sp>
        <p:nvSpPr>
          <p:cNvPr id="219" name="矩形 218"/>
          <p:cNvSpPr/>
          <p:nvPr/>
        </p:nvSpPr>
        <p:spPr>
          <a:xfrm>
            <a:off x="438912" y="0"/>
            <a:ext cx="18288" cy="685800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220" name="矩形 219"/>
          <p:cNvSpPr/>
          <p:nvPr/>
        </p:nvSpPr>
        <p:spPr>
          <a:xfrm>
            <a:off x="457200" y="0"/>
            <a:ext cx="11734495" cy="54864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221" name="矩形 220"/>
          <p:cNvSpPr/>
          <p:nvPr/>
        </p:nvSpPr>
        <p:spPr>
          <a:xfrm>
            <a:off x="457200" y="54864"/>
            <a:ext cx="11734495" cy="18288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222" name="文本框 221"/>
          <p:cNvSpPr txBox="1"/>
          <p:nvPr/>
        </p:nvSpPr>
        <p:spPr>
          <a:xfrm>
            <a:off x="822960" y="457200"/>
            <a:ext cx="10058400" cy="54864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2800" b="1">
                <a:solidFill>
                  <a:srgbClr val="CF0A2C"/>
                </a:solidFill>
                <a:latin typeface="Microsoft YaHei"/>
                <a:ea typeface="Microsoft YaHei"/>
              </a:rPr>
              <a:t>5 个检测维度 + 双架构支持</a:t>
            </a:r>
          </a:p>
        </p:txBody>
      </p:sp>
      <p:sp>
        <p:nvSpPr>
          <p:cNvPr id="223" name="矩形 222"/>
          <p:cNvSpPr/>
          <p:nvPr/>
        </p:nvSpPr>
        <p:spPr>
          <a:xfrm>
            <a:off x="822960" y="1005840"/>
            <a:ext cx="1371600" cy="27432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224" name="矩形 223"/>
          <p:cNvSpPr/>
          <p:nvPr/>
        </p:nvSpPr>
        <p:spPr>
          <a:xfrm>
            <a:off x="2286000" y="1010412"/>
            <a:ext cx="8229600" cy="13716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225" name="矩形 224"/>
          <p:cNvSpPr/>
          <p:nvPr/>
        </p:nvSpPr>
        <p:spPr>
          <a:xfrm>
            <a:off x="822960" y="1325880"/>
            <a:ext cx="10515600" cy="41148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226" name="文本框 225"/>
          <p:cNvSpPr txBox="1"/>
          <p:nvPr/>
        </p:nvSpPr>
        <p:spPr>
          <a:xfrm>
            <a:off x="914400" y="1371600"/>
            <a:ext cx="1463040" cy="32004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维度</a:t>
            </a:r>
          </a:p>
        </p:txBody>
      </p:sp>
      <p:sp>
        <p:nvSpPr>
          <p:cNvPr id="227" name="文本框 226"/>
          <p:cNvSpPr txBox="1"/>
          <p:nvPr/>
        </p:nvSpPr>
        <p:spPr>
          <a:xfrm>
            <a:off x="2560320" y="1371600"/>
            <a:ext cx="3931920" cy="32004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检测内容</a:t>
            </a:r>
          </a:p>
        </p:txBody>
      </p:sp>
      <p:sp>
        <p:nvSpPr>
          <p:cNvPr id="228" name="文本框 227"/>
          <p:cNvSpPr txBox="1"/>
          <p:nvPr/>
        </p:nvSpPr>
        <p:spPr>
          <a:xfrm>
            <a:off x="6675120" y="1371600"/>
            <a:ext cx="4572000" cy="32004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检测方法</a:t>
            </a:r>
          </a:p>
        </p:txBody>
      </p:sp>
      <p:sp>
        <p:nvSpPr>
          <p:cNvPr id="229" name="矩形 228"/>
          <p:cNvSpPr/>
          <p:nvPr/>
        </p:nvSpPr>
        <p:spPr>
          <a:xfrm>
            <a:off x="822960" y="1737360"/>
            <a:ext cx="10515600" cy="502920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230" name="矩形 229"/>
          <p:cNvSpPr/>
          <p:nvPr/>
        </p:nvSpPr>
        <p:spPr>
          <a:xfrm>
            <a:off x="822960" y="2231136"/>
            <a:ext cx="10515600" cy="9144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231" name="矩形 230"/>
          <p:cNvSpPr/>
          <p:nvPr/>
        </p:nvSpPr>
        <p:spPr>
          <a:xfrm>
            <a:off x="822960" y="1737360"/>
            <a:ext cx="36576" cy="50292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232" name="文本框 231"/>
          <p:cNvSpPr txBox="1"/>
          <p:nvPr/>
        </p:nvSpPr>
        <p:spPr>
          <a:xfrm>
            <a:off x="960120" y="1847088"/>
            <a:ext cx="141732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200" b="1">
                <a:solidFill>
                  <a:srgbClr val="CF0A2C"/>
                </a:solidFill>
                <a:latin typeface="Microsoft YaHei"/>
                <a:ea typeface="Microsoft YaHei"/>
              </a:rPr>
              <a:t>.so 级</a:t>
            </a:r>
          </a:p>
        </p:txBody>
      </p:sp>
      <p:sp>
        <p:nvSpPr>
          <p:cNvPr id="233" name="矩形 232"/>
          <p:cNvSpPr/>
          <p:nvPr/>
        </p:nvSpPr>
        <p:spPr>
          <a:xfrm>
            <a:off x="2459736" y="1737360"/>
            <a:ext cx="9144" cy="50292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234" name="矩形 233"/>
          <p:cNvSpPr/>
          <p:nvPr/>
        </p:nvSpPr>
        <p:spPr>
          <a:xfrm>
            <a:off x="6574536" y="1737360"/>
            <a:ext cx="9144" cy="50292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235" name="文本框 234"/>
          <p:cNvSpPr txBox="1"/>
          <p:nvPr/>
        </p:nvSpPr>
        <p:spPr>
          <a:xfrm>
            <a:off x="2606040" y="1847088"/>
            <a:ext cx="388620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100" b="0">
                <a:solidFill>
                  <a:srgbClr val="333333"/>
                </a:solidFill>
                <a:latin typeface="Microsoft YaHei"/>
                <a:ea typeface="Microsoft YaHei"/>
              </a:rPr>
              <a:t>CFI 是否开启</a:t>
            </a:r>
          </a:p>
        </p:txBody>
      </p:sp>
      <p:sp>
        <p:nvSpPr>
          <p:cNvPr id="236" name="文本框 235"/>
          <p:cNvSpPr txBox="1"/>
          <p:nvPr/>
        </p:nvSpPr>
        <p:spPr>
          <a:xfrm>
            <a:off x="6720840" y="1847088"/>
            <a:ext cx="452628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100" b="0">
                <a:solidFill>
                  <a:srgbClr val="333333"/>
                </a:solidFill>
                <a:latin typeface="Microsoft YaHei"/>
                <a:ea typeface="Microsoft YaHei"/>
              </a:rPr>
              <a:t>检测 __cfi_check 符号</a:t>
            </a:r>
          </a:p>
        </p:txBody>
      </p:sp>
      <p:sp>
        <p:nvSpPr>
          <p:cNvPr id="237" name="矩形 236"/>
          <p:cNvSpPr/>
          <p:nvPr/>
        </p:nvSpPr>
        <p:spPr>
          <a:xfrm>
            <a:off x="822960" y="2734056"/>
            <a:ext cx="10515600" cy="9144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238" name="矩形 237"/>
          <p:cNvSpPr/>
          <p:nvPr/>
        </p:nvSpPr>
        <p:spPr>
          <a:xfrm>
            <a:off x="822960" y="2240280"/>
            <a:ext cx="36576" cy="50292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239" name="文本框 238"/>
          <p:cNvSpPr txBox="1"/>
          <p:nvPr/>
        </p:nvSpPr>
        <p:spPr>
          <a:xfrm>
            <a:off x="960120" y="2350008"/>
            <a:ext cx="141732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200" b="1">
                <a:solidFill>
                  <a:srgbClr val="CF0A2C"/>
                </a:solidFill>
                <a:latin typeface="Microsoft YaHei"/>
                <a:ea typeface="Microsoft YaHei"/>
              </a:rPr>
              <a:t>函数级</a:t>
            </a:r>
          </a:p>
        </p:txBody>
      </p:sp>
      <p:sp>
        <p:nvSpPr>
          <p:cNvPr id="240" name="矩形 239"/>
          <p:cNvSpPr/>
          <p:nvPr/>
        </p:nvSpPr>
        <p:spPr>
          <a:xfrm>
            <a:off x="2459736" y="2240280"/>
            <a:ext cx="9144" cy="50292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241" name="矩形 240"/>
          <p:cNvSpPr/>
          <p:nvPr/>
        </p:nvSpPr>
        <p:spPr>
          <a:xfrm>
            <a:off x="6574536" y="2240280"/>
            <a:ext cx="9144" cy="50292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242" name="文本框 241"/>
          <p:cNvSpPr txBox="1"/>
          <p:nvPr/>
        </p:nvSpPr>
        <p:spPr>
          <a:xfrm>
            <a:off x="2606040" y="2350008"/>
            <a:ext cx="388620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100" b="0">
                <a:solidFill>
                  <a:srgbClr val="333333"/>
                </a:solidFill>
                <a:latin typeface="Microsoft YaHei"/>
                <a:ea typeface="Microsoft YaHei"/>
              </a:rPr>
              <a:t>函数受保护/未保护</a:t>
            </a:r>
          </a:p>
        </p:txBody>
      </p:sp>
      <p:sp>
        <p:nvSpPr>
          <p:cNvPr id="243" name="文本框 242"/>
          <p:cNvSpPr txBox="1"/>
          <p:nvPr/>
        </p:nvSpPr>
        <p:spPr>
          <a:xfrm>
            <a:off x="6720840" y="2350008"/>
            <a:ext cx="452628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100" b="0">
                <a:solidFill>
                  <a:srgbClr val="333333"/>
                </a:solidFill>
                <a:latin typeface="Microsoft YaHei"/>
                <a:ea typeface="Microsoft YaHei"/>
              </a:rPr>
              <a:t>func.cfi 后缀分类</a:t>
            </a:r>
          </a:p>
        </p:txBody>
      </p:sp>
      <p:sp>
        <p:nvSpPr>
          <p:cNvPr id="244" name="矩形 243"/>
          <p:cNvSpPr/>
          <p:nvPr/>
        </p:nvSpPr>
        <p:spPr>
          <a:xfrm>
            <a:off x="822960" y="2743200"/>
            <a:ext cx="10515600" cy="502920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245" name="矩形 244"/>
          <p:cNvSpPr/>
          <p:nvPr/>
        </p:nvSpPr>
        <p:spPr>
          <a:xfrm>
            <a:off x="822960" y="3236976"/>
            <a:ext cx="10515600" cy="9144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246" name="矩形 245"/>
          <p:cNvSpPr/>
          <p:nvPr/>
        </p:nvSpPr>
        <p:spPr>
          <a:xfrm>
            <a:off x="822960" y="2743200"/>
            <a:ext cx="36576" cy="50292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247" name="文本框 246"/>
          <p:cNvSpPr txBox="1"/>
          <p:nvPr/>
        </p:nvSpPr>
        <p:spPr>
          <a:xfrm>
            <a:off x="960120" y="2852928"/>
            <a:ext cx="141732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200" b="1">
                <a:solidFill>
                  <a:srgbClr val="CF0A2C"/>
                </a:solidFill>
                <a:latin typeface="Microsoft YaHei"/>
                <a:ea typeface="Microsoft YaHei"/>
              </a:rPr>
              <a:t>调用点</a:t>
            </a:r>
          </a:p>
        </p:txBody>
      </p:sp>
      <p:sp>
        <p:nvSpPr>
          <p:cNvPr id="248" name="矩形 247"/>
          <p:cNvSpPr/>
          <p:nvPr/>
        </p:nvSpPr>
        <p:spPr>
          <a:xfrm>
            <a:off x="2459736" y="2743200"/>
            <a:ext cx="9144" cy="50292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249" name="矩形 248"/>
          <p:cNvSpPr/>
          <p:nvPr/>
        </p:nvSpPr>
        <p:spPr>
          <a:xfrm>
            <a:off x="6574536" y="2743200"/>
            <a:ext cx="9144" cy="50292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250" name="文本框 249"/>
          <p:cNvSpPr txBox="1"/>
          <p:nvPr/>
        </p:nvSpPr>
        <p:spPr>
          <a:xfrm>
            <a:off x="2606040" y="2852928"/>
            <a:ext cx="388620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100" b="0">
                <a:solidFill>
                  <a:srgbClr val="333333"/>
                </a:solidFill>
                <a:latin typeface="Microsoft YaHei"/>
                <a:ea typeface="Microsoft YaHei"/>
              </a:rPr>
              <a:t>vcall + icall CFI 覆盖率</a:t>
            </a:r>
          </a:p>
        </p:txBody>
      </p:sp>
      <p:sp>
        <p:nvSpPr>
          <p:cNvPr id="251" name="文本框 250"/>
          <p:cNvSpPr txBox="1"/>
          <p:nvPr/>
        </p:nvSpPr>
        <p:spPr>
          <a:xfrm>
            <a:off x="6720840" y="2852928"/>
            <a:ext cx="452628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100" b="0">
                <a:solidFill>
                  <a:srgbClr val="333333"/>
                </a:solidFill>
                <a:latin typeface="Microsoft YaHei"/>
                <a:ea typeface="Microsoft YaHei"/>
              </a:rPr>
              <a:t>BLR 扫描 + ±48字节 slowpath 判定</a:t>
            </a:r>
          </a:p>
        </p:txBody>
      </p:sp>
      <p:sp>
        <p:nvSpPr>
          <p:cNvPr id="252" name="矩形 251"/>
          <p:cNvSpPr/>
          <p:nvPr/>
        </p:nvSpPr>
        <p:spPr>
          <a:xfrm>
            <a:off x="822960" y="3739896"/>
            <a:ext cx="10515600" cy="9144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253" name="矩形 252"/>
          <p:cNvSpPr/>
          <p:nvPr/>
        </p:nvSpPr>
        <p:spPr>
          <a:xfrm>
            <a:off x="822960" y="3246120"/>
            <a:ext cx="36576" cy="50292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254" name="文本框 253"/>
          <p:cNvSpPr txBox="1"/>
          <p:nvPr/>
        </p:nvSpPr>
        <p:spPr>
          <a:xfrm>
            <a:off x="960120" y="3355848"/>
            <a:ext cx="141732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200" b="1">
                <a:solidFill>
                  <a:srgbClr val="CF0A2C"/>
                </a:solidFill>
                <a:latin typeface="Microsoft YaHei"/>
                <a:ea typeface="Microsoft YaHei"/>
              </a:rPr>
              <a:t>PAC</a:t>
            </a:r>
          </a:p>
        </p:txBody>
      </p:sp>
      <p:sp>
        <p:nvSpPr>
          <p:cNvPr id="255" name="矩形 254"/>
          <p:cNvSpPr/>
          <p:nvPr/>
        </p:nvSpPr>
        <p:spPr>
          <a:xfrm>
            <a:off x="2459736" y="3246120"/>
            <a:ext cx="9144" cy="50292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256" name="矩形 255"/>
          <p:cNvSpPr/>
          <p:nvPr/>
        </p:nvSpPr>
        <p:spPr>
          <a:xfrm>
            <a:off x="6574536" y="3246120"/>
            <a:ext cx="9144" cy="50292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257" name="文本框 256"/>
          <p:cNvSpPr txBox="1"/>
          <p:nvPr/>
        </p:nvSpPr>
        <p:spPr>
          <a:xfrm>
            <a:off x="2606040" y="3355848"/>
            <a:ext cx="388620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100" b="0">
                <a:solidFill>
                  <a:srgbClr val="333333"/>
                </a:solidFill>
                <a:latin typeface="Microsoft YaHei"/>
                <a:ea typeface="Microsoft YaHei"/>
              </a:rPr>
              <a:t>返回地址签名/认证覆盖率</a:t>
            </a:r>
          </a:p>
        </p:txBody>
      </p:sp>
      <p:sp>
        <p:nvSpPr>
          <p:cNvPr id="258" name="文本框 257"/>
          <p:cNvSpPr txBox="1"/>
          <p:nvPr/>
        </p:nvSpPr>
        <p:spPr>
          <a:xfrm>
            <a:off x="6720840" y="3355848"/>
            <a:ext cx="452628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100" b="0">
                <a:solidFill>
                  <a:srgbClr val="333333"/>
                </a:solidFill>
                <a:latin typeface="Microsoft YaHei"/>
                <a:ea typeface="Microsoft YaHei"/>
              </a:rPr>
              <a:t>PACIASP/AUTIBSP/RETAA 指令扫描</a:t>
            </a:r>
          </a:p>
        </p:txBody>
      </p:sp>
      <p:sp>
        <p:nvSpPr>
          <p:cNvPr id="259" name="矩形 258"/>
          <p:cNvSpPr/>
          <p:nvPr/>
        </p:nvSpPr>
        <p:spPr>
          <a:xfrm>
            <a:off x="822960" y="3749040"/>
            <a:ext cx="10515600" cy="502920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260" name="矩形 259"/>
          <p:cNvSpPr/>
          <p:nvPr/>
        </p:nvSpPr>
        <p:spPr>
          <a:xfrm>
            <a:off x="822960" y="3749040"/>
            <a:ext cx="36576" cy="50292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261" name="文本框 260"/>
          <p:cNvSpPr txBox="1"/>
          <p:nvPr/>
        </p:nvSpPr>
        <p:spPr>
          <a:xfrm>
            <a:off x="960120" y="3858768"/>
            <a:ext cx="141732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200" b="1">
                <a:solidFill>
                  <a:srgbClr val="CF0A2C"/>
                </a:solidFill>
                <a:latin typeface="Microsoft YaHei"/>
                <a:ea typeface="Microsoft YaHei"/>
              </a:rPr>
              <a:t>BTI</a:t>
            </a:r>
          </a:p>
        </p:txBody>
      </p:sp>
      <p:sp>
        <p:nvSpPr>
          <p:cNvPr id="262" name="矩形 261"/>
          <p:cNvSpPr/>
          <p:nvPr/>
        </p:nvSpPr>
        <p:spPr>
          <a:xfrm>
            <a:off x="2459736" y="3749040"/>
            <a:ext cx="9144" cy="50292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263" name="矩形 262"/>
          <p:cNvSpPr/>
          <p:nvPr/>
        </p:nvSpPr>
        <p:spPr>
          <a:xfrm>
            <a:off x="6574536" y="3749040"/>
            <a:ext cx="9144" cy="50292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264" name="文本框 263"/>
          <p:cNvSpPr txBox="1"/>
          <p:nvPr/>
        </p:nvSpPr>
        <p:spPr>
          <a:xfrm>
            <a:off x="2606040" y="3858768"/>
            <a:ext cx="388620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100" b="0">
                <a:solidFill>
                  <a:srgbClr val="333333"/>
                </a:solidFill>
                <a:latin typeface="Microsoft YaHei"/>
                <a:ea typeface="Microsoft YaHei"/>
              </a:rPr>
              <a:t>函数入口 BTI 覆盖率</a:t>
            </a:r>
          </a:p>
        </p:txBody>
      </p:sp>
      <p:sp>
        <p:nvSpPr>
          <p:cNvPr id="265" name="文本框 264"/>
          <p:cNvSpPr txBox="1"/>
          <p:nvPr/>
        </p:nvSpPr>
        <p:spPr>
          <a:xfrm>
            <a:off x="6720840" y="3858768"/>
            <a:ext cx="452628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100" b="0">
                <a:solidFill>
                  <a:srgbClr val="333333"/>
                </a:solidFill>
                <a:latin typeface="Microsoft YaHei"/>
                <a:ea typeface="Microsoft YaHei"/>
              </a:rPr>
              <a:t>HINT 字节扫描 + 函数入口检查</a:t>
            </a:r>
          </a:p>
        </p:txBody>
      </p:sp>
      <p:sp>
        <p:nvSpPr>
          <p:cNvPr id="266" name="矩形 265"/>
          <p:cNvSpPr/>
          <p:nvPr/>
        </p:nvSpPr>
        <p:spPr>
          <a:xfrm>
            <a:off x="822960" y="1325880"/>
            <a:ext cx="10515600" cy="2926080"/>
          </a:xfrm>
          <a:prstGeom prst="rect">
            <a:avLst/>
          </a:prstGeom>
          <a:ln>
            <a:solidFill>
              <a:srgbClr val="E0E0E0"/>
            </a:solidFill>
          </a:ln>
        </p:spPr>
      </p:sp>
      <p:sp>
        <p:nvSpPr>
          <p:cNvPr id="267" name="矩形: 圆角 266"/>
          <p:cNvSpPr/>
          <p:nvPr/>
        </p:nvSpPr>
        <p:spPr>
          <a:xfrm>
            <a:off x="822960" y="4539159"/>
            <a:ext cx="10515600" cy="1321308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>
            <a:solidFill>
              <a:srgbClr val="E0E0E0"/>
            </a:solidFill>
          </a:ln>
        </p:spPr>
      </p:sp>
      <p:sp>
        <p:nvSpPr>
          <p:cNvPr id="268" name="文本框 267"/>
          <p:cNvSpPr txBox="1"/>
          <p:nvPr/>
        </p:nvSpPr>
        <p:spPr>
          <a:xfrm>
            <a:off x="1005840" y="4617720"/>
            <a:ext cx="182880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300" b="1">
                <a:solidFill>
                  <a:srgbClr val="CF0A2C"/>
                </a:solidFill>
                <a:latin typeface="Microsoft YaHei"/>
                <a:ea typeface="Microsoft YaHei"/>
              </a:rPr>
              <a:t>双架构自动识别</a:t>
            </a:r>
          </a:p>
        </p:txBody>
      </p:sp>
      <p:sp>
        <p:nvSpPr>
          <p:cNvPr id="269" name="矩形 268"/>
          <p:cNvSpPr/>
          <p:nvPr/>
        </p:nvSpPr>
        <p:spPr>
          <a:xfrm>
            <a:off x="1005840" y="4978908"/>
            <a:ext cx="91440" cy="91440"/>
          </a:xfrm>
          <a:prstGeom prst="rect">
            <a:avLst/>
          </a:prstGeom>
          <a:solidFill>
            <a:srgbClr val="CF0A2C"/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270" name="文本框 269"/>
          <p:cNvSpPr txBox="1"/>
          <p:nvPr/>
        </p:nvSpPr>
        <p:spPr>
          <a:xfrm>
            <a:off x="1234440" y="4910328"/>
            <a:ext cx="9144000" cy="22860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100" b="0" dirty="0">
                <a:solidFill>
                  <a:srgbClr val="333333"/>
                </a:solidFill>
                <a:latin typeface="Microsoft YaHei"/>
                <a:ea typeface="Microsoft YaHei"/>
              </a:rPr>
              <a:t>ARM 32-bit Thumb：BLX + LDR 20字节窗口</a:t>
            </a:r>
          </a:p>
        </p:txBody>
      </p:sp>
      <p:sp>
        <p:nvSpPr>
          <p:cNvPr id="271" name="矩形 270"/>
          <p:cNvSpPr/>
          <p:nvPr/>
        </p:nvSpPr>
        <p:spPr>
          <a:xfrm>
            <a:off x="1014211" y="5276733"/>
            <a:ext cx="91440" cy="9144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272" name="文本框 271"/>
          <p:cNvSpPr txBox="1"/>
          <p:nvPr/>
        </p:nvSpPr>
        <p:spPr>
          <a:xfrm>
            <a:off x="1234440" y="5199459"/>
            <a:ext cx="9144000" cy="22860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100" b="0" dirty="0">
                <a:solidFill>
                  <a:srgbClr val="333333"/>
                </a:solidFill>
                <a:latin typeface="Microsoft YaHei"/>
                <a:ea typeface="Microsoft YaHei"/>
              </a:rPr>
              <a:t>AArch64：BLR + LDR 48字节窗口</a:t>
            </a:r>
          </a:p>
        </p:txBody>
      </p:sp>
      <p:sp>
        <p:nvSpPr>
          <p:cNvPr id="273" name="矩形 272"/>
          <p:cNvSpPr/>
          <p:nvPr/>
        </p:nvSpPr>
        <p:spPr>
          <a:xfrm>
            <a:off x="1007772" y="5557492"/>
            <a:ext cx="91440" cy="9144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274" name="文本框 273"/>
          <p:cNvSpPr txBox="1"/>
          <p:nvPr/>
        </p:nvSpPr>
        <p:spPr>
          <a:xfrm>
            <a:off x="1234440" y="5481828"/>
            <a:ext cx="9144000" cy="22860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100" b="0" dirty="0">
                <a:solidFill>
                  <a:srgbClr val="333333"/>
                </a:solidFill>
                <a:latin typeface="Microsoft YaHei"/>
                <a:ea typeface="Microsoft YaHei"/>
              </a:rPr>
              <a:t>32 位自动跳过 PAC/BTI（ARMv8.5-A 专属）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A238EC9-404A-3CFE-34E5-8F8587DF75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758" y="6250761"/>
            <a:ext cx="735937" cy="6072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矩形 28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0F0F0"/>
          </a:solidFill>
        </p:spPr>
      </p:sp>
      <p:sp>
        <p:nvSpPr>
          <p:cNvPr id="285" name="矩形 284"/>
          <p:cNvSpPr/>
          <p:nvPr/>
        </p:nvSpPr>
        <p:spPr>
          <a:xfrm>
            <a:off x="438912" y="0"/>
            <a:ext cx="18288" cy="685800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286" name="矩形 285"/>
          <p:cNvSpPr/>
          <p:nvPr/>
        </p:nvSpPr>
        <p:spPr>
          <a:xfrm>
            <a:off x="457200" y="0"/>
            <a:ext cx="11734495" cy="54864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287" name="矩形 286"/>
          <p:cNvSpPr/>
          <p:nvPr/>
        </p:nvSpPr>
        <p:spPr>
          <a:xfrm>
            <a:off x="457200" y="54864"/>
            <a:ext cx="11734495" cy="18288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288" name="文本框 287"/>
          <p:cNvSpPr txBox="1"/>
          <p:nvPr/>
        </p:nvSpPr>
        <p:spPr>
          <a:xfrm>
            <a:off x="822960" y="457200"/>
            <a:ext cx="10058400" cy="54864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2800" b="1">
                <a:solidFill>
                  <a:srgbClr val="CF0A2C"/>
                </a:solidFill>
                <a:latin typeface="Microsoft YaHei"/>
                <a:ea typeface="Microsoft YaHei"/>
              </a:rPr>
              <a:t>Agent 架构设计</a:t>
            </a:r>
          </a:p>
        </p:txBody>
      </p:sp>
      <p:sp>
        <p:nvSpPr>
          <p:cNvPr id="289" name="矩形 288"/>
          <p:cNvSpPr/>
          <p:nvPr/>
        </p:nvSpPr>
        <p:spPr>
          <a:xfrm>
            <a:off x="822960" y="1005840"/>
            <a:ext cx="1371600" cy="27432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290" name="矩形 289"/>
          <p:cNvSpPr/>
          <p:nvPr/>
        </p:nvSpPr>
        <p:spPr>
          <a:xfrm>
            <a:off x="2286000" y="1010412"/>
            <a:ext cx="8229600" cy="13716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293" name="文本框 292"/>
          <p:cNvSpPr txBox="1"/>
          <p:nvPr/>
        </p:nvSpPr>
        <p:spPr>
          <a:xfrm>
            <a:off x="731520" y="1463040"/>
            <a:ext cx="10728655" cy="256032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用户（自然语言描述需求，如"对 E:/lib.unstripped_6.1 做完整 CFI 检测"）</a:t>
            </a:r>
          </a:p>
        </p:txBody>
      </p:sp>
      <p:sp>
        <p:nvSpPr>
          <p:cNvPr id="316" name="文本框 315"/>
          <p:cNvSpPr txBox="1"/>
          <p:nvPr/>
        </p:nvSpPr>
        <p:spPr>
          <a:xfrm>
            <a:off x="731520" y="5852160"/>
            <a:ext cx="10728655" cy="256032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输出：SQLite 数据库 · HTML 报告 · Excel 报告 · Flask API · .pyw 启动器 · GitHub 开源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A8FD9763-2CEA-5794-69EC-D53AA97E0DEB}"/>
              </a:ext>
            </a:extLst>
          </p:cNvPr>
          <p:cNvSpPr/>
          <p:nvPr/>
        </p:nvSpPr>
        <p:spPr>
          <a:xfrm>
            <a:off x="731520" y="1126257"/>
            <a:ext cx="10515600" cy="5461286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>
            <a:solidFill>
              <a:srgbClr val="E0E0E0"/>
            </a:solidFill>
          </a:ln>
        </p:spPr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998A0EF-D1DC-2314-5EAC-96427BB80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2015" y="1144545"/>
            <a:ext cx="6880289" cy="527942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A3A5CAE-ED14-9658-7CE2-AC7608A85F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758" y="6250761"/>
            <a:ext cx="735937" cy="6072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矩形 325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0F0F0"/>
          </a:solidFill>
        </p:spPr>
      </p:sp>
      <p:sp>
        <p:nvSpPr>
          <p:cNvPr id="327" name="矩形 326"/>
          <p:cNvSpPr/>
          <p:nvPr/>
        </p:nvSpPr>
        <p:spPr>
          <a:xfrm>
            <a:off x="438912" y="0"/>
            <a:ext cx="18288" cy="685800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328" name="矩形 327"/>
          <p:cNvSpPr/>
          <p:nvPr/>
        </p:nvSpPr>
        <p:spPr>
          <a:xfrm>
            <a:off x="457200" y="0"/>
            <a:ext cx="11734495" cy="54864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329" name="矩形 328"/>
          <p:cNvSpPr/>
          <p:nvPr/>
        </p:nvSpPr>
        <p:spPr>
          <a:xfrm>
            <a:off x="457200" y="54864"/>
            <a:ext cx="11734495" cy="18288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330" name="文本框 329"/>
          <p:cNvSpPr txBox="1"/>
          <p:nvPr/>
        </p:nvSpPr>
        <p:spPr>
          <a:xfrm>
            <a:off x="822960" y="457200"/>
            <a:ext cx="10058400" cy="54864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2800" b="1">
                <a:solidFill>
                  <a:srgbClr val="CF0A2C"/>
                </a:solidFill>
                <a:latin typeface="Microsoft YaHei"/>
                <a:ea typeface="Microsoft YaHei"/>
              </a:rPr>
              <a:t>7 种检测模式及耗时</a:t>
            </a:r>
          </a:p>
        </p:txBody>
      </p:sp>
      <p:sp>
        <p:nvSpPr>
          <p:cNvPr id="331" name="矩形 330"/>
          <p:cNvSpPr/>
          <p:nvPr/>
        </p:nvSpPr>
        <p:spPr>
          <a:xfrm>
            <a:off x="822960" y="1005840"/>
            <a:ext cx="1371600" cy="27432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332" name="矩形 331"/>
          <p:cNvSpPr/>
          <p:nvPr/>
        </p:nvSpPr>
        <p:spPr>
          <a:xfrm>
            <a:off x="2286000" y="1010412"/>
            <a:ext cx="8229600" cy="13716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333" name="矩形 332"/>
          <p:cNvSpPr/>
          <p:nvPr/>
        </p:nvSpPr>
        <p:spPr>
          <a:xfrm>
            <a:off x="822960" y="1325880"/>
            <a:ext cx="10515600" cy="41148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334" name="文本框 333"/>
          <p:cNvSpPr txBox="1"/>
          <p:nvPr/>
        </p:nvSpPr>
        <p:spPr>
          <a:xfrm>
            <a:off x="914400" y="1371600"/>
            <a:ext cx="2103120" cy="32004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检测模式</a:t>
            </a:r>
          </a:p>
        </p:txBody>
      </p:sp>
      <p:sp>
        <p:nvSpPr>
          <p:cNvPr id="335" name="文本框 334"/>
          <p:cNvSpPr txBox="1"/>
          <p:nvPr/>
        </p:nvSpPr>
        <p:spPr>
          <a:xfrm>
            <a:off x="3200400" y="1371600"/>
            <a:ext cx="3931920" cy="32004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检测内容</a:t>
            </a:r>
          </a:p>
        </p:txBody>
      </p:sp>
      <p:sp>
        <p:nvSpPr>
          <p:cNvPr id="336" name="文本框 335"/>
          <p:cNvSpPr txBox="1"/>
          <p:nvPr/>
        </p:nvSpPr>
        <p:spPr>
          <a:xfrm>
            <a:off x="7315200" y="1371600"/>
            <a:ext cx="3931920" cy="32004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耗时</a:t>
            </a:r>
          </a:p>
        </p:txBody>
      </p:sp>
      <p:sp>
        <p:nvSpPr>
          <p:cNvPr id="337" name="矩形 336"/>
          <p:cNvSpPr/>
          <p:nvPr/>
        </p:nvSpPr>
        <p:spPr>
          <a:xfrm>
            <a:off x="822960" y="1737360"/>
            <a:ext cx="10515600" cy="457200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338" name="矩形 337"/>
          <p:cNvSpPr/>
          <p:nvPr/>
        </p:nvSpPr>
        <p:spPr>
          <a:xfrm>
            <a:off x="822960" y="2185416"/>
            <a:ext cx="10515600" cy="9144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339" name="矩形 338"/>
          <p:cNvSpPr/>
          <p:nvPr/>
        </p:nvSpPr>
        <p:spPr>
          <a:xfrm>
            <a:off x="822960" y="1737360"/>
            <a:ext cx="36576" cy="45720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340" name="文本框 339"/>
          <p:cNvSpPr txBox="1"/>
          <p:nvPr/>
        </p:nvSpPr>
        <p:spPr>
          <a:xfrm>
            <a:off x="960120" y="1847088"/>
            <a:ext cx="205740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200" b="1">
                <a:solidFill>
                  <a:srgbClr val="CF0A2C"/>
                </a:solidFill>
                <a:latin typeface="Microsoft YaHei"/>
                <a:ea typeface="Microsoft YaHei"/>
              </a:rPr>
              <a:t>.so 级检测</a:t>
            </a:r>
          </a:p>
        </p:txBody>
      </p:sp>
      <p:sp>
        <p:nvSpPr>
          <p:cNvPr id="341" name="矩形 340"/>
          <p:cNvSpPr/>
          <p:nvPr/>
        </p:nvSpPr>
        <p:spPr>
          <a:xfrm>
            <a:off x="3099816" y="1737360"/>
            <a:ext cx="9144" cy="4572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342" name="矩形 341"/>
          <p:cNvSpPr/>
          <p:nvPr/>
        </p:nvSpPr>
        <p:spPr>
          <a:xfrm>
            <a:off x="7214616" y="1737360"/>
            <a:ext cx="9144" cy="4572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343" name="文本框 342"/>
          <p:cNvSpPr txBox="1"/>
          <p:nvPr/>
        </p:nvSpPr>
        <p:spPr>
          <a:xfrm>
            <a:off x="3246120" y="1847088"/>
            <a:ext cx="388620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100" b="0">
                <a:solidFill>
                  <a:srgbClr val="333333"/>
                </a:solidFill>
                <a:latin typeface="Microsoft YaHei"/>
                <a:ea typeface="Microsoft YaHei"/>
              </a:rPr>
              <a:t>仅查 CFI 开关</a:t>
            </a:r>
          </a:p>
        </p:txBody>
      </p:sp>
      <p:sp>
        <p:nvSpPr>
          <p:cNvPr id="344" name="文本框 343"/>
          <p:cNvSpPr txBox="1"/>
          <p:nvPr/>
        </p:nvSpPr>
        <p:spPr>
          <a:xfrm>
            <a:off x="7360920" y="1847088"/>
            <a:ext cx="388620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100" b="0">
                <a:solidFill>
                  <a:srgbClr val="333333"/>
                </a:solidFill>
                <a:latin typeface="Microsoft YaHei"/>
                <a:ea typeface="Microsoft YaHei"/>
              </a:rPr>
              <a:t>26 秒</a:t>
            </a:r>
          </a:p>
        </p:txBody>
      </p:sp>
      <p:sp>
        <p:nvSpPr>
          <p:cNvPr id="345" name="矩形 344"/>
          <p:cNvSpPr/>
          <p:nvPr/>
        </p:nvSpPr>
        <p:spPr>
          <a:xfrm>
            <a:off x="822960" y="2642616"/>
            <a:ext cx="10515600" cy="9144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346" name="矩形 345"/>
          <p:cNvSpPr/>
          <p:nvPr/>
        </p:nvSpPr>
        <p:spPr>
          <a:xfrm>
            <a:off x="822960" y="2194560"/>
            <a:ext cx="36576" cy="45720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347" name="文本框 346"/>
          <p:cNvSpPr txBox="1"/>
          <p:nvPr/>
        </p:nvSpPr>
        <p:spPr>
          <a:xfrm>
            <a:off x="960120" y="2304288"/>
            <a:ext cx="205740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200" b="1">
                <a:solidFill>
                  <a:srgbClr val="CF0A2C"/>
                </a:solidFill>
                <a:latin typeface="Microsoft YaHei"/>
                <a:ea typeface="Microsoft YaHei"/>
              </a:rPr>
              <a:t>函数级检测</a:t>
            </a:r>
          </a:p>
        </p:txBody>
      </p:sp>
      <p:sp>
        <p:nvSpPr>
          <p:cNvPr id="348" name="矩形 347"/>
          <p:cNvSpPr/>
          <p:nvPr/>
        </p:nvSpPr>
        <p:spPr>
          <a:xfrm>
            <a:off x="3099816" y="2194560"/>
            <a:ext cx="9144" cy="4572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349" name="矩形 348"/>
          <p:cNvSpPr/>
          <p:nvPr/>
        </p:nvSpPr>
        <p:spPr>
          <a:xfrm>
            <a:off x="7214616" y="2194560"/>
            <a:ext cx="9144" cy="4572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350" name="文本框 349"/>
          <p:cNvSpPr txBox="1"/>
          <p:nvPr/>
        </p:nvSpPr>
        <p:spPr>
          <a:xfrm>
            <a:off x="3246120" y="2304288"/>
            <a:ext cx="388620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100" b="0">
                <a:solidFill>
                  <a:srgbClr val="333333"/>
                </a:solidFill>
                <a:latin typeface="Microsoft YaHei"/>
                <a:ea typeface="Microsoft YaHei"/>
              </a:rPr>
              <a:t>+ 函数分类</a:t>
            </a:r>
          </a:p>
        </p:txBody>
      </p:sp>
      <p:sp>
        <p:nvSpPr>
          <p:cNvPr id="351" name="文本框 350"/>
          <p:cNvSpPr txBox="1"/>
          <p:nvPr/>
        </p:nvSpPr>
        <p:spPr>
          <a:xfrm>
            <a:off x="7360920" y="2304288"/>
            <a:ext cx="388620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100" b="0">
                <a:solidFill>
                  <a:srgbClr val="333333"/>
                </a:solidFill>
                <a:latin typeface="Microsoft YaHei"/>
                <a:ea typeface="Microsoft YaHei"/>
              </a:rPr>
              <a:t>1 分 24 秒</a:t>
            </a:r>
          </a:p>
        </p:txBody>
      </p:sp>
      <p:sp>
        <p:nvSpPr>
          <p:cNvPr id="352" name="矩形 351"/>
          <p:cNvSpPr/>
          <p:nvPr/>
        </p:nvSpPr>
        <p:spPr>
          <a:xfrm>
            <a:off x="822960" y="2651760"/>
            <a:ext cx="10515600" cy="457200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353" name="矩形 352"/>
          <p:cNvSpPr/>
          <p:nvPr/>
        </p:nvSpPr>
        <p:spPr>
          <a:xfrm>
            <a:off x="822960" y="3099816"/>
            <a:ext cx="10515600" cy="9144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354" name="矩形 353"/>
          <p:cNvSpPr/>
          <p:nvPr/>
        </p:nvSpPr>
        <p:spPr>
          <a:xfrm>
            <a:off x="822960" y="2651760"/>
            <a:ext cx="36576" cy="45720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355" name="文本框 354"/>
          <p:cNvSpPr txBox="1"/>
          <p:nvPr/>
        </p:nvSpPr>
        <p:spPr>
          <a:xfrm>
            <a:off x="960120" y="2761488"/>
            <a:ext cx="205740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200" b="1">
                <a:solidFill>
                  <a:srgbClr val="CF0A2C"/>
                </a:solidFill>
                <a:latin typeface="Microsoft YaHei"/>
                <a:ea typeface="Microsoft YaHei"/>
              </a:rPr>
              <a:t>vcall 检测</a:t>
            </a:r>
          </a:p>
        </p:txBody>
      </p:sp>
      <p:sp>
        <p:nvSpPr>
          <p:cNvPr id="356" name="矩形 355"/>
          <p:cNvSpPr/>
          <p:nvPr/>
        </p:nvSpPr>
        <p:spPr>
          <a:xfrm>
            <a:off x="3099816" y="2651760"/>
            <a:ext cx="9144" cy="4572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357" name="矩形 356"/>
          <p:cNvSpPr/>
          <p:nvPr/>
        </p:nvSpPr>
        <p:spPr>
          <a:xfrm>
            <a:off x="7214616" y="2651760"/>
            <a:ext cx="9144" cy="4572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358" name="文本框 357"/>
          <p:cNvSpPr txBox="1"/>
          <p:nvPr/>
        </p:nvSpPr>
        <p:spPr>
          <a:xfrm>
            <a:off x="3246120" y="2761488"/>
            <a:ext cx="388620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100" b="0">
                <a:solidFill>
                  <a:srgbClr val="333333"/>
                </a:solidFill>
                <a:latin typeface="Microsoft YaHei"/>
                <a:ea typeface="Microsoft YaHei"/>
              </a:rPr>
              <a:t>+ 虚函数调用</a:t>
            </a:r>
          </a:p>
        </p:txBody>
      </p:sp>
      <p:sp>
        <p:nvSpPr>
          <p:cNvPr id="359" name="文本框 358"/>
          <p:cNvSpPr txBox="1"/>
          <p:nvPr/>
        </p:nvSpPr>
        <p:spPr>
          <a:xfrm>
            <a:off x="7360920" y="2761488"/>
            <a:ext cx="388620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100" b="0">
                <a:solidFill>
                  <a:srgbClr val="333333"/>
                </a:solidFill>
                <a:latin typeface="Microsoft YaHei"/>
                <a:ea typeface="Microsoft YaHei"/>
              </a:rPr>
              <a:t>1 分 23 秒</a:t>
            </a:r>
          </a:p>
        </p:txBody>
      </p:sp>
      <p:sp>
        <p:nvSpPr>
          <p:cNvPr id="360" name="矩形 359"/>
          <p:cNvSpPr/>
          <p:nvPr/>
        </p:nvSpPr>
        <p:spPr>
          <a:xfrm>
            <a:off x="822960" y="3557016"/>
            <a:ext cx="10515600" cy="9144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361" name="矩形 360"/>
          <p:cNvSpPr/>
          <p:nvPr/>
        </p:nvSpPr>
        <p:spPr>
          <a:xfrm>
            <a:off x="822960" y="3108960"/>
            <a:ext cx="36576" cy="45720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362" name="文本框 361"/>
          <p:cNvSpPr txBox="1"/>
          <p:nvPr/>
        </p:nvSpPr>
        <p:spPr>
          <a:xfrm>
            <a:off x="960120" y="3218688"/>
            <a:ext cx="205740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200" b="1">
                <a:solidFill>
                  <a:srgbClr val="CF0A2C"/>
                </a:solidFill>
                <a:latin typeface="Microsoft YaHei"/>
                <a:ea typeface="Microsoft YaHei"/>
              </a:rPr>
              <a:t>icall 检测</a:t>
            </a:r>
          </a:p>
        </p:txBody>
      </p:sp>
      <p:sp>
        <p:nvSpPr>
          <p:cNvPr id="363" name="矩形 362"/>
          <p:cNvSpPr/>
          <p:nvPr/>
        </p:nvSpPr>
        <p:spPr>
          <a:xfrm>
            <a:off x="3099816" y="3108960"/>
            <a:ext cx="9144" cy="4572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364" name="矩形 363"/>
          <p:cNvSpPr/>
          <p:nvPr/>
        </p:nvSpPr>
        <p:spPr>
          <a:xfrm>
            <a:off x="7214616" y="3108960"/>
            <a:ext cx="9144" cy="4572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365" name="文本框 364"/>
          <p:cNvSpPr txBox="1"/>
          <p:nvPr/>
        </p:nvSpPr>
        <p:spPr>
          <a:xfrm>
            <a:off x="3246120" y="3218688"/>
            <a:ext cx="388620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100" b="0">
                <a:solidFill>
                  <a:srgbClr val="333333"/>
                </a:solidFill>
                <a:latin typeface="Microsoft YaHei"/>
                <a:ea typeface="Microsoft YaHei"/>
              </a:rPr>
              <a:t>+ 间接调用</a:t>
            </a:r>
          </a:p>
        </p:txBody>
      </p:sp>
      <p:sp>
        <p:nvSpPr>
          <p:cNvPr id="366" name="文本框 365"/>
          <p:cNvSpPr txBox="1"/>
          <p:nvPr/>
        </p:nvSpPr>
        <p:spPr>
          <a:xfrm>
            <a:off x="7360920" y="3218688"/>
            <a:ext cx="388620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100" b="0">
                <a:solidFill>
                  <a:srgbClr val="333333"/>
                </a:solidFill>
                <a:latin typeface="Microsoft YaHei"/>
                <a:ea typeface="Microsoft YaHei"/>
              </a:rPr>
              <a:t>1 分 26 秒</a:t>
            </a:r>
          </a:p>
        </p:txBody>
      </p:sp>
      <p:sp>
        <p:nvSpPr>
          <p:cNvPr id="367" name="矩形 366"/>
          <p:cNvSpPr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368" name="矩形 367"/>
          <p:cNvSpPr/>
          <p:nvPr/>
        </p:nvSpPr>
        <p:spPr>
          <a:xfrm>
            <a:off x="822960" y="4014216"/>
            <a:ext cx="10515600" cy="9144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369" name="矩形 368"/>
          <p:cNvSpPr/>
          <p:nvPr/>
        </p:nvSpPr>
        <p:spPr>
          <a:xfrm>
            <a:off x="822960" y="3566160"/>
            <a:ext cx="36576" cy="45720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370" name="文本框 369"/>
          <p:cNvSpPr txBox="1"/>
          <p:nvPr/>
        </p:nvSpPr>
        <p:spPr>
          <a:xfrm>
            <a:off x="960120" y="3675888"/>
            <a:ext cx="205740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200" b="1">
                <a:solidFill>
                  <a:srgbClr val="CF0A2C"/>
                </a:solidFill>
                <a:latin typeface="Microsoft YaHei"/>
                <a:ea typeface="Microsoft YaHei"/>
              </a:rPr>
              <a:t>PAC 检测</a:t>
            </a:r>
          </a:p>
        </p:txBody>
      </p:sp>
      <p:sp>
        <p:nvSpPr>
          <p:cNvPr id="371" name="矩形 370"/>
          <p:cNvSpPr/>
          <p:nvPr/>
        </p:nvSpPr>
        <p:spPr>
          <a:xfrm>
            <a:off x="3099816" y="3566160"/>
            <a:ext cx="9144" cy="4572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372" name="矩形 371"/>
          <p:cNvSpPr/>
          <p:nvPr/>
        </p:nvSpPr>
        <p:spPr>
          <a:xfrm>
            <a:off x="7214616" y="3566160"/>
            <a:ext cx="9144" cy="4572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373" name="文本框 372"/>
          <p:cNvSpPr txBox="1"/>
          <p:nvPr/>
        </p:nvSpPr>
        <p:spPr>
          <a:xfrm>
            <a:off x="3246120" y="3675888"/>
            <a:ext cx="388620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100" b="0">
                <a:solidFill>
                  <a:srgbClr val="333333"/>
                </a:solidFill>
                <a:latin typeface="Microsoft YaHei"/>
                <a:ea typeface="Microsoft YaHei"/>
              </a:rPr>
              <a:t>+ 返回地址签名</a:t>
            </a:r>
          </a:p>
        </p:txBody>
      </p:sp>
      <p:sp>
        <p:nvSpPr>
          <p:cNvPr id="374" name="文本框 373"/>
          <p:cNvSpPr txBox="1"/>
          <p:nvPr/>
        </p:nvSpPr>
        <p:spPr>
          <a:xfrm>
            <a:off x="7360920" y="3675888"/>
            <a:ext cx="388620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100" b="0">
                <a:solidFill>
                  <a:srgbClr val="333333"/>
                </a:solidFill>
                <a:latin typeface="Microsoft YaHei"/>
                <a:ea typeface="Microsoft YaHei"/>
              </a:rPr>
              <a:t>2 分钟</a:t>
            </a:r>
          </a:p>
        </p:txBody>
      </p:sp>
      <p:sp>
        <p:nvSpPr>
          <p:cNvPr id="375" name="矩形 374"/>
          <p:cNvSpPr/>
          <p:nvPr/>
        </p:nvSpPr>
        <p:spPr>
          <a:xfrm>
            <a:off x="822960" y="4471416"/>
            <a:ext cx="10515600" cy="9144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376" name="矩形 375"/>
          <p:cNvSpPr/>
          <p:nvPr/>
        </p:nvSpPr>
        <p:spPr>
          <a:xfrm>
            <a:off x="822960" y="4023360"/>
            <a:ext cx="36576" cy="45720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377" name="文本框 376"/>
          <p:cNvSpPr txBox="1"/>
          <p:nvPr/>
        </p:nvSpPr>
        <p:spPr>
          <a:xfrm>
            <a:off x="960120" y="4133088"/>
            <a:ext cx="205740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200" b="1">
                <a:solidFill>
                  <a:srgbClr val="CF0A2C"/>
                </a:solidFill>
                <a:latin typeface="Microsoft YaHei"/>
                <a:ea typeface="Microsoft YaHei"/>
              </a:rPr>
              <a:t>BTI 检测</a:t>
            </a:r>
          </a:p>
        </p:txBody>
      </p:sp>
      <p:sp>
        <p:nvSpPr>
          <p:cNvPr id="378" name="矩形 377"/>
          <p:cNvSpPr/>
          <p:nvPr/>
        </p:nvSpPr>
        <p:spPr>
          <a:xfrm>
            <a:off x="3099816" y="4023360"/>
            <a:ext cx="9144" cy="4572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379" name="矩形 378"/>
          <p:cNvSpPr/>
          <p:nvPr/>
        </p:nvSpPr>
        <p:spPr>
          <a:xfrm>
            <a:off x="7214616" y="4023360"/>
            <a:ext cx="9144" cy="4572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380" name="文本框 379"/>
          <p:cNvSpPr txBox="1"/>
          <p:nvPr/>
        </p:nvSpPr>
        <p:spPr>
          <a:xfrm>
            <a:off x="3246120" y="4133088"/>
            <a:ext cx="388620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100" b="0">
                <a:solidFill>
                  <a:srgbClr val="333333"/>
                </a:solidFill>
                <a:latin typeface="Microsoft YaHei"/>
                <a:ea typeface="Microsoft YaHei"/>
              </a:rPr>
              <a:t>+ 分支目标标识</a:t>
            </a:r>
          </a:p>
        </p:txBody>
      </p:sp>
      <p:sp>
        <p:nvSpPr>
          <p:cNvPr id="381" name="文本框 380"/>
          <p:cNvSpPr txBox="1"/>
          <p:nvPr/>
        </p:nvSpPr>
        <p:spPr>
          <a:xfrm>
            <a:off x="7360920" y="4133088"/>
            <a:ext cx="388620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100" b="0">
                <a:solidFill>
                  <a:srgbClr val="333333"/>
                </a:solidFill>
                <a:latin typeface="Microsoft YaHei"/>
                <a:ea typeface="Microsoft YaHei"/>
              </a:rPr>
              <a:t>2 分 4 秒</a:t>
            </a:r>
          </a:p>
        </p:txBody>
      </p:sp>
      <p:sp>
        <p:nvSpPr>
          <p:cNvPr id="382" name="矩形 381"/>
          <p:cNvSpPr/>
          <p:nvPr/>
        </p:nvSpPr>
        <p:spPr>
          <a:xfrm>
            <a:off x="822960" y="4480560"/>
            <a:ext cx="10515600" cy="457200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383" name="矩形 382"/>
          <p:cNvSpPr/>
          <p:nvPr/>
        </p:nvSpPr>
        <p:spPr>
          <a:xfrm>
            <a:off x="822960" y="4480560"/>
            <a:ext cx="36576" cy="45720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384" name="文本框 383"/>
          <p:cNvSpPr txBox="1"/>
          <p:nvPr/>
        </p:nvSpPr>
        <p:spPr>
          <a:xfrm>
            <a:off x="960120" y="4590288"/>
            <a:ext cx="205740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200" b="1">
                <a:solidFill>
                  <a:srgbClr val="CF0A2C"/>
                </a:solidFill>
                <a:latin typeface="Microsoft YaHei"/>
                <a:ea typeface="Microsoft YaHei"/>
              </a:rPr>
              <a:t>完整检测</a:t>
            </a:r>
          </a:p>
        </p:txBody>
      </p:sp>
      <p:sp>
        <p:nvSpPr>
          <p:cNvPr id="385" name="矩形 384"/>
          <p:cNvSpPr/>
          <p:nvPr/>
        </p:nvSpPr>
        <p:spPr>
          <a:xfrm>
            <a:off x="3099816" y="4480560"/>
            <a:ext cx="9144" cy="4572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386" name="矩形 385"/>
          <p:cNvSpPr/>
          <p:nvPr/>
        </p:nvSpPr>
        <p:spPr>
          <a:xfrm>
            <a:off x="7214616" y="4480560"/>
            <a:ext cx="9144" cy="4572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387" name="文本框 386"/>
          <p:cNvSpPr txBox="1"/>
          <p:nvPr/>
        </p:nvSpPr>
        <p:spPr>
          <a:xfrm>
            <a:off x="3246120" y="4590288"/>
            <a:ext cx="388620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100" b="0">
                <a:solidFill>
                  <a:srgbClr val="333333"/>
                </a:solidFill>
                <a:latin typeface="Microsoft YaHei"/>
                <a:ea typeface="Microsoft YaHei"/>
              </a:rPr>
              <a:t>全维度 (上述全部)</a:t>
            </a:r>
          </a:p>
        </p:txBody>
      </p:sp>
      <p:sp>
        <p:nvSpPr>
          <p:cNvPr id="388" name="文本框 387"/>
          <p:cNvSpPr txBox="1"/>
          <p:nvPr/>
        </p:nvSpPr>
        <p:spPr>
          <a:xfrm>
            <a:off x="7360920" y="4590288"/>
            <a:ext cx="3886200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100" b="0">
                <a:solidFill>
                  <a:srgbClr val="333333"/>
                </a:solidFill>
                <a:latin typeface="Microsoft YaHei"/>
                <a:ea typeface="Microsoft YaHei"/>
              </a:rPr>
              <a:t>2 分 21 秒</a:t>
            </a:r>
          </a:p>
        </p:txBody>
      </p:sp>
      <p:sp>
        <p:nvSpPr>
          <p:cNvPr id="389" name="矩形 388"/>
          <p:cNvSpPr/>
          <p:nvPr/>
        </p:nvSpPr>
        <p:spPr>
          <a:xfrm>
            <a:off x="822960" y="1325880"/>
            <a:ext cx="10515600" cy="3611880"/>
          </a:xfrm>
          <a:prstGeom prst="rect">
            <a:avLst/>
          </a:prstGeom>
          <a:ln>
            <a:solidFill>
              <a:srgbClr val="E0E0E0"/>
            </a:solidFill>
          </a:ln>
        </p:spPr>
      </p:sp>
      <p:sp>
        <p:nvSpPr>
          <p:cNvPr id="390" name="文本框 389"/>
          <p:cNvSpPr txBox="1"/>
          <p:nvPr/>
        </p:nvSpPr>
        <p:spPr>
          <a:xfrm>
            <a:off x="822960" y="5212080"/>
            <a:ext cx="10058400" cy="36576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100" b="0" dirty="0">
                <a:solidFill>
                  <a:srgbClr val="999999"/>
                </a:solidFill>
                <a:latin typeface="Microsoft YaHei"/>
                <a:ea typeface="Microsoft YaHei"/>
              </a:rPr>
              <a:t>测试环境：2953 个 .so，AArch64 架构，OpenHarmony v6.1，ProcessPoolExecutor 并行检测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4DFD0C0-4CE2-AFE8-F48E-8799FCBEED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758" y="6250761"/>
            <a:ext cx="735937" cy="6072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矩形 399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F0F0F0"/>
          </a:solidFill>
        </p:spPr>
      </p:sp>
      <p:sp>
        <p:nvSpPr>
          <p:cNvPr id="401" name="矩形 400"/>
          <p:cNvSpPr/>
          <p:nvPr/>
        </p:nvSpPr>
        <p:spPr>
          <a:xfrm>
            <a:off x="713232" y="0"/>
            <a:ext cx="18288" cy="685800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402" name="矩形 401"/>
          <p:cNvSpPr/>
          <p:nvPr/>
        </p:nvSpPr>
        <p:spPr>
          <a:xfrm>
            <a:off x="1097280" y="822960"/>
            <a:ext cx="2286000" cy="1097280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403" name="矩形 402"/>
          <p:cNvSpPr/>
          <p:nvPr/>
        </p:nvSpPr>
        <p:spPr>
          <a:xfrm>
            <a:off x="1097280" y="1005840"/>
            <a:ext cx="54864" cy="365760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404" name="文本框 403"/>
          <p:cNvSpPr txBox="1"/>
          <p:nvPr/>
        </p:nvSpPr>
        <p:spPr>
          <a:xfrm>
            <a:off x="1463040" y="914400"/>
            <a:ext cx="1828800" cy="91440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6000" b="1">
                <a:solidFill>
                  <a:srgbClr val="CF0A2C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405" name="文本框 404"/>
          <p:cNvSpPr txBox="1"/>
          <p:nvPr/>
        </p:nvSpPr>
        <p:spPr>
          <a:xfrm>
            <a:off x="1463040" y="2103120"/>
            <a:ext cx="7315200" cy="7315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3200" b="1">
                <a:solidFill>
                  <a:srgbClr val="333333"/>
                </a:solidFill>
                <a:latin typeface="Microsoft YaHei"/>
                <a:ea typeface="Microsoft YaHei"/>
              </a:rPr>
              <a:t>成果展示</a:t>
            </a:r>
          </a:p>
        </p:txBody>
      </p:sp>
      <p:sp>
        <p:nvSpPr>
          <p:cNvPr id="406" name="文本框 405"/>
          <p:cNvSpPr txBox="1"/>
          <p:nvPr/>
        </p:nvSpPr>
        <p:spPr>
          <a:xfrm>
            <a:off x="1463040" y="2926080"/>
            <a:ext cx="7315200" cy="45720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600" b="0">
                <a:solidFill>
                  <a:srgbClr val="999999"/>
                </a:solidFill>
                <a:latin typeface="Microsoft YaHei"/>
                <a:ea typeface="Microsoft YaHei"/>
              </a:rPr>
              <a:t>Achievement Display</a:t>
            </a:r>
          </a:p>
        </p:txBody>
      </p:sp>
      <p:sp>
        <p:nvSpPr>
          <p:cNvPr id="407" name="矩形 406"/>
          <p:cNvSpPr/>
          <p:nvPr/>
        </p:nvSpPr>
        <p:spPr>
          <a:xfrm>
            <a:off x="1463040" y="3474720"/>
            <a:ext cx="2743200" cy="13716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408" name="矩形 407"/>
          <p:cNvSpPr/>
          <p:nvPr/>
        </p:nvSpPr>
        <p:spPr>
          <a:xfrm>
            <a:off x="9448495" y="5029200"/>
            <a:ext cx="2011680" cy="73152"/>
          </a:xfrm>
          <a:prstGeom prst="rect">
            <a:avLst/>
          </a:prstGeom>
          <a:solidFill>
            <a:srgbClr val="D0D0D0"/>
          </a:solidFill>
        </p:spPr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DD03AB9-E762-A0FB-4C3C-8C056ABC16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758" y="6250761"/>
            <a:ext cx="735937" cy="60723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矩形 41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0F0F0"/>
          </a:solidFill>
        </p:spPr>
      </p:sp>
      <p:sp>
        <p:nvSpPr>
          <p:cNvPr id="418" name="矩形 417"/>
          <p:cNvSpPr/>
          <p:nvPr/>
        </p:nvSpPr>
        <p:spPr>
          <a:xfrm>
            <a:off x="438912" y="0"/>
            <a:ext cx="18288" cy="685800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419" name="矩形 418"/>
          <p:cNvSpPr/>
          <p:nvPr/>
        </p:nvSpPr>
        <p:spPr>
          <a:xfrm>
            <a:off x="457200" y="0"/>
            <a:ext cx="11734495" cy="54864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420" name="矩形 419"/>
          <p:cNvSpPr/>
          <p:nvPr/>
        </p:nvSpPr>
        <p:spPr>
          <a:xfrm>
            <a:off x="457200" y="54864"/>
            <a:ext cx="11734495" cy="18288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421" name="文本框 420"/>
          <p:cNvSpPr txBox="1"/>
          <p:nvPr/>
        </p:nvSpPr>
        <p:spPr>
          <a:xfrm>
            <a:off x="822959" y="457200"/>
            <a:ext cx="10980527" cy="54864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altLang="en-US" sz="2800" b="1" dirty="0">
                <a:solidFill>
                  <a:srgbClr val="CF0A2C"/>
                </a:solidFill>
                <a:latin typeface="Microsoft YaHei"/>
                <a:ea typeface="Microsoft YaHei"/>
              </a:rPr>
              <a:t>对</a:t>
            </a:r>
            <a:r>
              <a:rPr lang="en-US" altLang="zh-CN" sz="2800" b="1" dirty="0" err="1">
                <a:solidFill>
                  <a:srgbClr val="CF0A2C"/>
                </a:solidFill>
                <a:latin typeface="Microsoft YaHei"/>
                <a:ea typeface="Microsoft YaHei"/>
              </a:rPr>
              <a:t>OpenHarmony</a:t>
            </a:r>
            <a:r>
              <a:rPr lang="en-US" altLang="zh-CN" sz="2800" b="1" dirty="0">
                <a:solidFill>
                  <a:srgbClr val="CF0A2C"/>
                </a:solidFill>
                <a:latin typeface="Microsoft YaHei"/>
                <a:ea typeface="Microsoft YaHei"/>
              </a:rPr>
              <a:t> 6.1 release</a:t>
            </a:r>
            <a:r>
              <a:rPr lang="zh-CN" altLang="en-US" sz="2800" b="1" dirty="0">
                <a:solidFill>
                  <a:srgbClr val="CF0A2C"/>
                </a:solidFill>
                <a:latin typeface="Microsoft YaHei"/>
                <a:ea typeface="Microsoft YaHei"/>
              </a:rPr>
              <a:t>版本的全量编译产物进行完整检测</a:t>
            </a:r>
            <a:endParaRPr lang="zh-CN" sz="2800" b="1" dirty="0">
              <a:solidFill>
                <a:srgbClr val="CF0A2C"/>
              </a:solidFill>
              <a:latin typeface="Microsoft YaHei"/>
              <a:ea typeface="Microsoft YaHei"/>
            </a:endParaRPr>
          </a:p>
        </p:txBody>
      </p:sp>
      <p:sp>
        <p:nvSpPr>
          <p:cNvPr id="422" name="矩形 421"/>
          <p:cNvSpPr/>
          <p:nvPr/>
        </p:nvSpPr>
        <p:spPr>
          <a:xfrm>
            <a:off x="822960" y="1005840"/>
            <a:ext cx="1371600" cy="27432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423" name="矩形 422"/>
          <p:cNvSpPr/>
          <p:nvPr/>
        </p:nvSpPr>
        <p:spPr>
          <a:xfrm>
            <a:off x="2286000" y="1010412"/>
            <a:ext cx="8229600" cy="13716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424" name="矩形: 圆角 423"/>
          <p:cNvSpPr/>
          <p:nvPr/>
        </p:nvSpPr>
        <p:spPr>
          <a:xfrm>
            <a:off x="793081" y="1578511"/>
            <a:ext cx="1497299" cy="5486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E0E0E0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425" name="矩形 424"/>
          <p:cNvSpPr/>
          <p:nvPr/>
        </p:nvSpPr>
        <p:spPr>
          <a:xfrm>
            <a:off x="793468" y="1532792"/>
            <a:ext cx="1496526" cy="45719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427" name="文本框 426"/>
          <p:cNvSpPr txBox="1"/>
          <p:nvPr/>
        </p:nvSpPr>
        <p:spPr>
          <a:xfrm>
            <a:off x="855156" y="1637947"/>
            <a:ext cx="2377440" cy="54864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en-US" altLang="zh-CN" b="1" dirty="0">
                <a:solidFill>
                  <a:srgbClr val="CF0A2C"/>
                </a:solidFill>
                <a:latin typeface="Microsoft YaHei"/>
                <a:ea typeface="Microsoft YaHei"/>
                <a:hlinkClick r:id="rId2" action="ppaction://hlinkfile"/>
              </a:rPr>
              <a:t>EXCEL</a:t>
            </a:r>
            <a:r>
              <a:rPr lang="zh-CN" altLang="en-US" b="1" dirty="0">
                <a:solidFill>
                  <a:srgbClr val="CF0A2C"/>
                </a:solidFill>
                <a:latin typeface="Microsoft YaHei"/>
                <a:ea typeface="Microsoft YaHei"/>
                <a:hlinkClick r:id="rId2" action="ppaction://hlinkfile"/>
              </a:rPr>
              <a:t>表格</a:t>
            </a:r>
            <a:endParaRPr lang="zh-CN" b="1" dirty="0">
              <a:solidFill>
                <a:srgbClr val="CF0A2C"/>
              </a:solidFill>
              <a:latin typeface="Microsoft YaHei"/>
              <a:ea typeface="Microsoft YaHei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7410313-C492-BC9B-E8FD-C156F114EA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758" y="6250761"/>
            <a:ext cx="735937" cy="607239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810EE4E5-E944-1ADA-ECD9-E38A6EC5CE27}"/>
              </a:ext>
            </a:extLst>
          </p:cNvPr>
          <p:cNvSpPr/>
          <p:nvPr/>
        </p:nvSpPr>
        <p:spPr>
          <a:xfrm>
            <a:off x="822959" y="3943406"/>
            <a:ext cx="1497299" cy="5486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E0E0E0"/>
            </a:solidFill>
          </a:ln>
        </p:spPr>
        <p:txBody>
          <a:bodyPr/>
          <a:lstStyle/>
          <a:p>
            <a:pPr algn="ctr"/>
            <a:endParaRPr lang="zh-CN" altLang="zh-CN" b="1" dirty="0">
              <a:solidFill>
                <a:srgbClr val="CF0A2C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A4ADF94-F643-68F2-9861-AF7AC6F97477}"/>
              </a:ext>
            </a:extLst>
          </p:cNvPr>
          <p:cNvSpPr/>
          <p:nvPr/>
        </p:nvSpPr>
        <p:spPr>
          <a:xfrm>
            <a:off x="823346" y="3920547"/>
            <a:ext cx="1496526" cy="45719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B091322-5BC3-CCD8-8AE5-2047E0B470D8}"/>
              </a:ext>
            </a:extLst>
          </p:cNvPr>
          <p:cNvSpPr txBox="1"/>
          <p:nvPr/>
        </p:nvSpPr>
        <p:spPr>
          <a:xfrm>
            <a:off x="893667" y="4034845"/>
            <a:ext cx="2377440" cy="54864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en-US" altLang="zh-CN" b="1" dirty="0">
                <a:solidFill>
                  <a:srgbClr val="CF0A2C"/>
                </a:solidFill>
                <a:latin typeface="Microsoft YaHei"/>
                <a:ea typeface="Microsoft YaHei"/>
                <a:hlinkClick r:id="rId4" action="ppaction://hlinkfile"/>
              </a:rPr>
              <a:t>HTML</a:t>
            </a:r>
            <a:r>
              <a:rPr lang="zh-CN" altLang="en-US" b="1" dirty="0">
                <a:solidFill>
                  <a:srgbClr val="CF0A2C"/>
                </a:solidFill>
                <a:latin typeface="Microsoft YaHei"/>
                <a:ea typeface="Microsoft YaHei"/>
                <a:hlinkClick r:id="rId4" action="ppaction://hlinkfile"/>
              </a:rPr>
              <a:t>看板</a:t>
            </a:r>
            <a:endParaRPr lang="zh-CN" b="1" dirty="0">
              <a:solidFill>
                <a:srgbClr val="CF0A2C"/>
              </a:solidFill>
              <a:latin typeface="Microsoft YaHei"/>
              <a:ea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A957667-8DF8-25E9-ACA5-0ECDC9BFD4A7}"/>
              </a:ext>
            </a:extLst>
          </p:cNvPr>
          <p:cNvSpPr/>
          <p:nvPr/>
        </p:nvSpPr>
        <p:spPr>
          <a:xfrm>
            <a:off x="3609433" y="3974142"/>
            <a:ext cx="109728" cy="109728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C6CAB8A-741E-81F1-745B-AC8F94DB6F29}"/>
              </a:ext>
            </a:extLst>
          </p:cNvPr>
          <p:cNvSpPr txBox="1"/>
          <p:nvPr/>
        </p:nvSpPr>
        <p:spPr>
          <a:xfrm>
            <a:off x="3883753" y="3900989"/>
            <a:ext cx="4725774" cy="365761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altLang="en-US" sz="1400" b="0" dirty="0">
                <a:solidFill>
                  <a:srgbClr val="333333"/>
                </a:solidFill>
                <a:latin typeface="Microsoft YaHei"/>
                <a:ea typeface="Microsoft YaHei"/>
              </a:rPr>
              <a:t>总体</a:t>
            </a:r>
            <a:r>
              <a:rPr lang="zh-CN" sz="1400" b="0" dirty="0">
                <a:solidFill>
                  <a:srgbClr val="333333"/>
                </a:solidFill>
                <a:latin typeface="Microsoft YaHei"/>
                <a:ea typeface="Microsoft YaHei"/>
              </a:rPr>
              <a:t>看板：总体统计卡片 + 覆盖率饼图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E768D45-F792-5B16-9602-BAFAA3FD9BC7}"/>
              </a:ext>
            </a:extLst>
          </p:cNvPr>
          <p:cNvSpPr/>
          <p:nvPr/>
        </p:nvSpPr>
        <p:spPr>
          <a:xfrm>
            <a:off x="3609433" y="4477062"/>
            <a:ext cx="109728" cy="109728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C7EFFFF-F10D-51B8-0306-EA25EB56D89B}"/>
              </a:ext>
            </a:extLst>
          </p:cNvPr>
          <p:cNvSpPr txBox="1"/>
          <p:nvPr/>
        </p:nvSpPr>
        <p:spPr>
          <a:xfrm>
            <a:off x="3883753" y="4403909"/>
            <a:ext cx="4971503" cy="365761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400" b="0" dirty="0">
                <a:solidFill>
                  <a:srgbClr val="333333"/>
                </a:solidFill>
                <a:latin typeface="Microsoft YaHei"/>
                <a:ea typeface="Microsoft YaHei"/>
              </a:rPr>
              <a:t>模块列表：模块折叠 + mini 饼图 + CFI/保护率 badge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F5249D6-6DA0-BA25-77A6-6F00D55920FC}"/>
              </a:ext>
            </a:extLst>
          </p:cNvPr>
          <p:cNvSpPr/>
          <p:nvPr/>
        </p:nvSpPr>
        <p:spPr>
          <a:xfrm>
            <a:off x="3609433" y="4979982"/>
            <a:ext cx="109728" cy="109728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BC9F04D-1C10-529D-2CFF-8ACAB30A5DAA}"/>
              </a:ext>
            </a:extLst>
          </p:cNvPr>
          <p:cNvSpPr txBox="1"/>
          <p:nvPr/>
        </p:nvSpPr>
        <p:spPr>
          <a:xfrm>
            <a:off x="3883753" y="4851965"/>
            <a:ext cx="7269351" cy="365762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400" b="0" dirty="0">
                <a:solidFill>
                  <a:srgbClr val="333333"/>
                </a:solidFill>
                <a:latin typeface="Microsoft YaHei"/>
                <a:ea typeface="Microsoft YaHei"/>
              </a:rPr>
              <a:t>函数搜索：搜索 CheckWant → 点击查看出现位置 → CFI/PAC/BTI 三维度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FF7388F-2ADC-A950-9209-51C68335AE1C}"/>
              </a:ext>
            </a:extLst>
          </p:cNvPr>
          <p:cNvSpPr/>
          <p:nvPr/>
        </p:nvSpPr>
        <p:spPr>
          <a:xfrm>
            <a:off x="3609433" y="1505358"/>
            <a:ext cx="109728" cy="109728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FCAB380-9BFA-C0C1-6EBC-F55DBC661C76}"/>
              </a:ext>
            </a:extLst>
          </p:cNvPr>
          <p:cNvSpPr txBox="1"/>
          <p:nvPr/>
        </p:nvSpPr>
        <p:spPr>
          <a:xfrm>
            <a:off x="3883753" y="1432205"/>
            <a:ext cx="4725774" cy="365761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en-US" altLang="zh-CN" sz="1400" b="0" dirty="0">
                <a:solidFill>
                  <a:srgbClr val="333333"/>
                </a:solidFill>
                <a:latin typeface="Microsoft YaHei"/>
                <a:ea typeface="Microsoft YaHei"/>
              </a:rPr>
              <a:t>Sheet 1 </a:t>
            </a:r>
            <a:r>
              <a:rPr lang="zh-CN" altLang="en-US" sz="1400" b="0" dirty="0">
                <a:solidFill>
                  <a:srgbClr val="333333"/>
                </a:solidFill>
                <a:latin typeface="Microsoft YaHei"/>
                <a:ea typeface="Microsoft YaHei"/>
              </a:rPr>
              <a:t>总体统计：各项覆盖率 </a:t>
            </a:r>
            <a:r>
              <a:rPr lang="en-US" altLang="zh-CN" sz="1400" b="0" dirty="0">
                <a:solidFill>
                  <a:srgbClr val="333333"/>
                </a:solidFill>
                <a:latin typeface="Microsoft YaHei"/>
                <a:ea typeface="Microsoft YaHei"/>
              </a:rPr>
              <a:t>+ </a:t>
            </a:r>
            <a:r>
              <a:rPr lang="zh-CN" altLang="en-US" sz="1400" b="0" dirty="0">
                <a:solidFill>
                  <a:srgbClr val="333333"/>
                </a:solidFill>
                <a:latin typeface="Microsoft YaHei"/>
                <a:ea typeface="Microsoft YaHei"/>
              </a:rPr>
              <a:t>说明文字</a:t>
            </a:r>
            <a:endParaRPr lang="zh-CN" sz="14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F5FBE08-16AF-0724-7E50-68452F0E237F}"/>
              </a:ext>
            </a:extLst>
          </p:cNvPr>
          <p:cNvSpPr/>
          <p:nvPr/>
        </p:nvSpPr>
        <p:spPr>
          <a:xfrm>
            <a:off x="3609433" y="2008278"/>
            <a:ext cx="109728" cy="109728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0BE62B7-DE73-8797-2CCF-B39E45E19F19}"/>
              </a:ext>
            </a:extLst>
          </p:cNvPr>
          <p:cNvSpPr txBox="1"/>
          <p:nvPr/>
        </p:nvSpPr>
        <p:spPr>
          <a:xfrm>
            <a:off x="3883753" y="1935125"/>
            <a:ext cx="5607977" cy="365761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en-US" altLang="zh-CN" sz="1400" b="0" dirty="0">
                <a:solidFill>
                  <a:srgbClr val="333333"/>
                </a:solidFill>
                <a:latin typeface="Microsoft YaHei"/>
                <a:ea typeface="Microsoft YaHei"/>
              </a:rPr>
              <a:t>Sheet 2 </a:t>
            </a:r>
            <a:r>
              <a:rPr lang="zh-CN" altLang="en-US" sz="1400" b="0" dirty="0">
                <a:solidFill>
                  <a:srgbClr val="333333"/>
                </a:solidFill>
                <a:latin typeface="Microsoft YaHei"/>
                <a:ea typeface="Microsoft YaHei"/>
              </a:rPr>
              <a:t>模块与 </a:t>
            </a:r>
            <a:r>
              <a:rPr lang="en-US" altLang="zh-CN" sz="1400" b="0" dirty="0">
                <a:solidFill>
                  <a:srgbClr val="333333"/>
                </a:solidFill>
                <a:latin typeface="Microsoft YaHei"/>
                <a:ea typeface="Microsoft YaHei"/>
              </a:rPr>
              <a:t>.so </a:t>
            </a:r>
            <a:r>
              <a:rPr lang="zh-CN" altLang="en-US" sz="1400" b="0" dirty="0">
                <a:solidFill>
                  <a:srgbClr val="333333"/>
                </a:solidFill>
                <a:latin typeface="Microsoft YaHei"/>
                <a:ea typeface="Microsoft YaHei"/>
              </a:rPr>
              <a:t>详情：两级折叠展开，含 </a:t>
            </a:r>
            <a:r>
              <a:rPr lang="en-US" altLang="zh-CN" sz="1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vcall</a:t>
            </a:r>
            <a:r>
              <a:rPr lang="en-US" altLang="zh-CN" sz="1400" b="0" dirty="0">
                <a:solidFill>
                  <a:srgbClr val="333333"/>
                </a:solidFill>
                <a:latin typeface="Microsoft YaHei"/>
                <a:ea typeface="Microsoft YaHei"/>
              </a:rPr>
              <a:t>/</a:t>
            </a:r>
            <a:r>
              <a:rPr lang="en-US" altLang="zh-CN" sz="1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icall</a:t>
            </a:r>
            <a:r>
              <a:rPr lang="en-US" altLang="zh-CN" sz="1400" b="0" dirty="0">
                <a:solidFill>
                  <a:srgbClr val="333333"/>
                </a:solidFill>
                <a:latin typeface="Microsoft YaHei"/>
                <a:ea typeface="Microsoft YaHei"/>
              </a:rPr>
              <a:t>/PAC/BTI </a:t>
            </a:r>
            <a:r>
              <a:rPr lang="zh-CN" altLang="en-US" sz="1400" b="0" dirty="0">
                <a:solidFill>
                  <a:srgbClr val="333333"/>
                </a:solidFill>
                <a:latin typeface="Microsoft YaHei"/>
                <a:ea typeface="Microsoft YaHei"/>
              </a:rPr>
              <a:t>列</a:t>
            </a:r>
            <a:endParaRPr lang="zh-CN" sz="14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E3CBA9E-BB47-76DA-C6FF-A5DD593A6630}"/>
              </a:ext>
            </a:extLst>
          </p:cNvPr>
          <p:cNvSpPr/>
          <p:nvPr/>
        </p:nvSpPr>
        <p:spPr>
          <a:xfrm>
            <a:off x="3609433" y="2481523"/>
            <a:ext cx="109728" cy="109728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2B43E85-1CFF-7130-5DD5-E3D50D15771C}"/>
              </a:ext>
            </a:extLst>
          </p:cNvPr>
          <p:cNvSpPr txBox="1"/>
          <p:nvPr/>
        </p:nvSpPr>
        <p:spPr>
          <a:xfrm>
            <a:off x="3883753" y="2383181"/>
            <a:ext cx="7269351" cy="365762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en-US" altLang="zh-CN" sz="1400" b="0" dirty="0">
                <a:solidFill>
                  <a:srgbClr val="333333"/>
                </a:solidFill>
                <a:latin typeface="Microsoft YaHei"/>
                <a:ea typeface="Microsoft YaHei"/>
              </a:rPr>
              <a:t>Sheet 3 </a:t>
            </a:r>
            <a:r>
              <a:rPr lang="zh-CN" altLang="en-US" sz="1400" b="0" dirty="0">
                <a:solidFill>
                  <a:srgbClr val="333333"/>
                </a:solidFill>
                <a:latin typeface="Microsoft YaHei"/>
                <a:ea typeface="Microsoft YaHei"/>
              </a:rPr>
              <a:t>无 </a:t>
            </a:r>
            <a:r>
              <a:rPr lang="en-US" altLang="zh-CN" sz="1400" b="0" dirty="0">
                <a:solidFill>
                  <a:srgbClr val="333333"/>
                </a:solidFill>
                <a:latin typeface="Microsoft YaHei"/>
                <a:ea typeface="Microsoft YaHei"/>
              </a:rPr>
              <a:t>CFI </a:t>
            </a:r>
            <a:r>
              <a:rPr lang="zh-CN" altLang="en-US" sz="1400" b="0" dirty="0">
                <a:solidFill>
                  <a:srgbClr val="333333"/>
                </a:solidFill>
                <a:latin typeface="Microsoft YaHei"/>
                <a:ea typeface="Microsoft YaHei"/>
              </a:rPr>
              <a:t>的 </a:t>
            </a:r>
            <a:r>
              <a:rPr lang="en-US" altLang="zh-CN" sz="1400" b="0" dirty="0">
                <a:solidFill>
                  <a:srgbClr val="333333"/>
                </a:solidFill>
                <a:latin typeface="Microsoft YaHei"/>
                <a:ea typeface="Microsoft YaHei"/>
              </a:rPr>
              <a:t>.so </a:t>
            </a:r>
            <a:r>
              <a:rPr lang="zh-CN" altLang="en-US" sz="1400" b="0" dirty="0">
                <a:solidFill>
                  <a:srgbClr val="333333"/>
                </a:solidFill>
                <a:latin typeface="Microsoft YaHei"/>
                <a:ea typeface="Microsoft YaHei"/>
              </a:rPr>
              <a:t>列表：红色标注，按模块筛选</a:t>
            </a:r>
            <a:endParaRPr lang="zh-CN" sz="14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F644D13-DAB2-0335-76F8-164633710AF0}"/>
              </a:ext>
            </a:extLst>
          </p:cNvPr>
          <p:cNvSpPr/>
          <p:nvPr/>
        </p:nvSpPr>
        <p:spPr>
          <a:xfrm>
            <a:off x="3609433" y="2919275"/>
            <a:ext cx="109728" cy="109728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FACEBDC-C35D-3FEE-812E-A9E43CAB147B}"/>
              </a:ext>
            </a:extLst>
          </p:cNvPr>
          <p:cNvSpPr txBox="1"/>
          <p:nvPr/>
        </p:nvSpPr>
        <p:spPr>
          <a:xfrm>
            <a:off x="3883753" y="2846122"/>
            <a:ext cx="4725774" cy="365761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en-US" altLang="zh-CN" sz="1400" b="0" dirty="0">
                <a:solidFill>
                  <a:srgbClr val="333333"/>
                </a:solidFill>
                <a:latin typeface="Microsoft YaHei"/>
                <a:ea typeface="Microsoft YaHei"/>
              </a:rPr>
              <a:t>Sheet 4 </a:t>
            </a:r>
            <a:r>
              <a:rPr lang="zh-CN" altLang="en-US" sz="1400" b="0" dirty="0">
                <a:solidFill>
                  <a:srgbClr val="333333"/>
                </a:solidFill>
                <a:latin typeface="Microsoft YaHei"/>
                <a:ea typeface="Microsoft YaHei"/>
              </a:rPr>
              <a:t>预编译厂商库：</a:t>
            </a:r>
            <a:r>
              <a:rPr lang="en-US" altLang="zh-CN" sz="1400" b="0" dirty="0">
                <a:solidFill>
                  <a:srgbClr val="333333"/>
                </a:solidFill>
                <a:latin typeface="Microsoft YaHei"/>
                <a:ea typeface="Microsoft YaHei"/>
              </a:rPr>
              <a:t>4 </a:t>
            </a:r>
            <a:r>
              <a:rPr lang="zh-CN" altLang="en-US" sz="1400" b="0" dirty="0">
                <a:solidFill>
                  <a:srgbClr val="333333"/>
                </a:solidFill>
                <a:latin typeface="Microsoft YaHei"/>
                <a:ea typeface="Microsoft YaHei"/>
              </a:rPr>
              <a:t>个闭源驱动库标注 </a:t>
            </a:r>
            <a:r>
              <a:rPr lang="en-US" altLang="zh-CN" sz="1400" b="0" dirty="0">
                <a:solidFill>
                  <a:srgbClr val="333333"/>
                </a:solidFill>
                <a:latin typeface="Microsoft YaHei"/>
                <a:ea typeface="Microsoft YaHei"/>
              </a:rPr>
              <a:t>NO CFI</a:t>
            </a:r>
            <a:endParaRPr lang="zh-CN" sz="14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8D5D53EB-C710-31D0-1BC2-6D0F5BE73457}"/>
              </a:ext>
            </a:extLst>
          </p:cNvPr>
          <p:cNvSpPr/>
          <p:nvPr/>
        </p:nvSpPr>
        <p:spPr>
          <a:xfrm>
            <a:off x="822958" y="5883106"/>
            <a:ext cx="2187349" cy="5486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E0E0E0"/>
            </a:solidFill>
          </a:ln>
        </p:spPr>
        <p:txBody>
          <a:bodyPr/>
          <a:lstStyle/>
          <a:p>
            <a:pPr algn="ctr"/>
            <a:endParaRPr lang="zh-CN" altLang="zh-CN" b="1" dirty="0">
              <a:solidFill>
                <a:srgbClr val="CF0A2C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C117CC-740C-F5B7-E310-FD1ACBB6E762}"/>
              </a:ext>
            </a:extLst>
          </p:cNvPr>
          <p:cNvSpPr/>
          <p:nvPr/>
        </p:nvSpPr>
        <p:spPr>
          <a:xfrm>
            <a:off x="822959" y="5837387"/>
            <a:ext cx="2187348" cy="45719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7829CC1-6621-1700-5818-31D8B7D96727}"/>
              </a:ext>
            </a:extLst>
          </p:cNvPr>
          <p:cNvSpPr txBox="1"/>
          <p:nvPr/>
        </p:nvSpPr>
        <p:spPr>
          <a:xfrm>
            <a:off x="893667" y="5961696"/>
            <a:ext cx="2377440" cy="54864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en-US" altLang="zh-CN" b="1" dirty="0">
                <a:solidFill>
                  <a:srgbClr val="CF0A2C"/>
                </a:solidFill>
                <a:latin typeface="Microsoft YaHei"/>
                <a:ea typeface="Microsoft YaHei"/>
                <a:hlinkClick r:id="rId5" action="ppaction://hlinkfile"/>
              </a:rPr>
              <a:t>HTML</a:t>
            </a:r>
            <a:r>
              <a:rPr lang="zh-CN" altLang="en-US" b="1" dirty="0">
                <a:solidFill>
                  <a:srgbClr val="CF0A2C"/>
                </a:solidFill>
                <a:latin typeface="Microsoft YaHei"/>
                <a:ea typeface="Microsoft YaHei"/>
                <a:hlinkClick r:id="rId5" action="ppaction://hlinkfile"/>
              </a:rPr>
              <a:t>看板动态版</a:t>
            </a:r>
            <a:endParaRPr lang="zh-CN" b="1" dirty="0">
              <a:solidFill>
                <a:srgbClr val="CF0A2C"/>
              </a:solidFill>
              <a:latin typeface="Microsoft YaHei"/>
              <a:ea typeface="Microsoft YaHei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3A78246-A31E-AF5E-D779-084B292E9058}"/>
              </a:ext>
            </a:extLst>
          </p:cNvPr>
          <p:cNvSpPr/>
          <p:nvPr/>
        </p:nvSpPr>
        <p:spPr>
          <a:xfrm>
            <a:off x="5523920" y="5870446"/>
            <a:ext cx="2191468" cy="5486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E0E0E0"/>
            </a:solidFill>
          </a:ln>
        </p:spPr>
        <p:txBody>
          <a:bodyPr/>
          <a:lstStyle/>
          <a:p>
            <a:pPr algn="ctr"/>
            <a:endParaRPr lang="zh-CN" altLang="zh-CN" b="1" dirty="0">
              <a:solidFill>
                <a:srgbClr val="CF0A2C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57608D0-C325-A9A3-8A9F-1EF2A10CB97B}"/>
              </a:ext>
            </a:extLst>
          </p:cNvPr>
          <p:cNvSpPr/>
          <p:nvPr/>
        </p:nvSpPr>
        <p:spPr>
          <a:xfrm>
            <a:off x="5524306" y="5847587"/>
            <a:ext cx="2191082" cy="45719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623C11A-41FF-32CF-CC7F-B7B9A1E5A61F}"/>
              </a:ext>
            </a:extLst>
          </p:cNvPr>
          <p:cNvSpPr txBox="1"/>
          <p:nvPr/>
        </p:nvSpPr>
        <p:spPr>
          <a:xfrm>
            <a:off x="5580457" y="5961696"/>
            <a:ext cx="2377440" cy="54864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altLang="en-US" b="1" dirty="0">
                <a:solidFill>
                  <a:srgbClr val="CF0A2C"/>
                </a:solidFill>
                <a:latin typeface="Microsoft YaHei"/>
                <a:ea typeface="Microsoft YaHei"/>
                <a:hlinkClick r:id="rId6" action="ppaction://hlinkfile"/>
              </a:rPr>
              <a:t>检测过程演示视频</a:t>
            </a:r>
            <a:endParaRPr lang="zh-CN" b="1" dirty="0">
              <a:solidFill>
                <a:srgbClr val="CF0A2C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矩形 48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0F0F0"/>
          </a:solidFill>
        </p:spPr>
      </p:sp>
      <p:sp>
        <p:nvSpPr>
          <p:cNvPr id="488" name="矩形 487"/>
          <p:cNvSpPr/>
          <p:nvPr/>
        </p:nvSpPr>
        <p:spPr>
          <a:xfrm>
            <a:off x="438912" y="0"/>
            <a:ext cx="18288" cy="685800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489" name="矩形 488"/>
          <p:cNvSpPr/>
          <p:nvPr/>
        </p:nvSpPr>
        <p:spPr>
          <a:xfrm>
            <a:off x="457200" y="0"/>
            <a:ext cx="11734495" cy="54864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490" name="矩形 489"/>
          <p:cNvSpPr/>
          <p:nvPr/>
        </p:nvSpPr>
        <p:spPr>
          <a:xfrm>
            <a:off x="457200" y="54864"/>
            <a:ext cx="11734495" cy="18288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491" name="文本框 490"/>
          <p:cNvSpPr txBox="1"/>
          <p:nvPr/>
        </p:nvSpPr>
        <p:spPr>
          <a:xfrm>
            <a:off x="822960" y="457200"/>
            <a:ext cx="10058400" cy="54864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2800" b="1">
                <a:solidFill>
                  <a:srgbClr val="CF0A2C"/>
                </a:solidFill>
                <a:latin typeface="Microsoft YaHei"/>
                <a:ea typeface="Microsoft YaHei"/>
              </a:rPr>
              <a:t>对比分析</a:t>
            </a:r>
          </a:p>
        </p:txBody>
      </p:sp>
      <p:sp>
        <p:nvSpPr>
          <p:cNvPr id="492" name="矩形 491"/>
          <p:cNvSpPr/>
          <p:nvPr/>
        </p:nvSpPr>
        <p:spPr>
          <a:xfrm>
            <a:off x="822960" y="1005840"/>
            <a:ext cx="1371600" cy="27432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493" name="矩形 492"/>
          <p:cNvSpPr/>
          <p:nvPr/>
        </p:nvSpPr>
        <p:spPr>
          <a:xfrm>
            <a:off x="2286000" y="1010412"/>
            <a:ext cx="8229600" cy="13716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494" name="矩形: 圆角 493"/>
          <p:cNvSpPr/>
          <p:nvPr/>
        </p:nvSpPr>
        <p:spPr>
          <a:xfrm>
            <a:off x="640080" y="1371600"/>
            <a:ext cx="5318607" cy="361188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E0E0E0"/>
            </a:solidFill>
          </a:ln>
        </p:spPr>
      </p:sp>
      <p:sp>
        <p:nvSpPr>
          <p:cNvPr id="495" name="矩形: 圆角 494"/>
          <p:cNvSpPr/>
          <p:nvPr/>
        </p:nvSpPr>
        <p:spPr>
          <a:xfrm>
            <a:off x="6233007" y="1371600"/>
            <a:ext cx="5318607" cy="361188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E0E0E0"/>
            </a:solidFill>
          </a:ln>
        </p:spPr>
      </p:sp>
      <p:sp>
        <p:nvSpPr>
          <p:cNvPr id="496" name="矩形 495"/>
          <p:cNvSpPr/>
          <p:nvPr/>
        </p:nvSpPr>
        <p:spPr>
          <a:xfrm>
            <a:off x="640080" y="1371600"/>
            <a:ext cx="5318607" cy="411480"/>
          </a:xfrm>
          <a:prstGeom prst="rect">
            <a:avLst/>
          </a:prstGeom>
          <a:solidFill>
            <a:srgbClr val="F0F0F0"/>
          </a:solidFill>
        </p:spPr>
      </p:sp>
      <p:sp>
        <p:nvSpPr>
          <p:cNvPr id="497" name="矩形 496"/>
          <p:cNvSpPr/>
          <p:nvPr/>
        </p:nvSpPr>
        <p:spPr>
          <a:xfrm>
            <a:off x="6233007" y="1371600"/>
            <a:ext cx="5318607" cy="411480"/>
          </a:xfrm>
          <a:prstGeom prst="rect">
            <a:avLst/>
          </a:prstGeom>
          <a:solidFill>
            <a:srgbClr val="F0F0F0"/>
          </a:solidFill>
        </p:spPr>
      </p:sp>
      <p:sp>
        <p:nvSpPr>
          <p:cNvPr id="498" name="文本框 497"/>
          <p:cNvSpPr txBox="1"/>
          <p:nvPr/>
        </p:nvSpPr>
        <p:spPr>
          <a:xfrm>
            <a:off x="822960" y="1417320"/>
            <a:ext cx="4952847" cy="32004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500" b="1">
                <a:solidFill>
                  <a:srgbClr val="CF0A2C"/>
                </a:solidFill>
                <a:latin typeface="Microsoft YaHei"/>
                <a:ea typeface="Microsoft YaHei"/>
              </a:rPr>
              <a:t>v6.1 (AArch64, 2953 .so)</a:t>
            </a:r>
          </a:p>
        </p:txBody>
      </p:sp>
      <p:sp>
        <p:nvSpPr>
          <p:cNvPr id="499" name="文本框 498"/>
          <p:cNvSpPr txBox="1"/>
          <p:nvPr/>
        </p:nvSpPr>
        <p:spPr>
          <a:xfrm>
            <a:off x="6415887" y="1417320"/>
            <a:ext cx="4952847" cy="32004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500" b="1">
                <a:solidFill>
                  <a:srgbClr val="CF0A2C"/>
                </a:solidFill>
                <a:latin typeface="Microsoft YaHei"/>
                <a:ea typeface="Microsoft YaHei"/>
              </a:rPr>
              <a:t>v4.1 (ARM 32-bit, 1868 .so)</a:t>
            </a:r>
          </a:p>
        </p:txBody>
      </p:sp>
      <p:sp>
        <p:nvSpPr>
          <p:cNvPr id="500" name="矩形 499"/>
          <p:cNvSpPr/>
          <p:nvPr/>
        </p:nvSpPr>
        <p:spPr>
          <a:xfrm>
            <a:off x="685800" y="1874520"/>
            <a:ext cx="5227167" cy="4572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501" name="矩形 500"/>
          <p:cNvSpPr/>
          <p:nvPr/>
        </p:nvSpPr>
        <p:spPr>
          <a:xfrm>
            <a:off x="822960" y="1984248"/>
            <a:ext cx="91440" cy="9144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502" name="文本框 501"/>
          <p:cNvSpPr txBox="1"/>
          <p:nvPr/>
        </p:nvSpPr>
        <p:spPr>
          <a:xfrm>
            <a:off x="1005840" y="1920240"/>
            <a:ext cx="4769967" cy="41148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100" b="0">
                <a:solidFill>
                  <a:srgbClr val="333333"/>
                </a:solidFill>
                <a:latin typeface="Microsoft YaHei"/>
                <a:ea typeface="Microsoft YaHei"/>
              </a:rPr>
              <a:t>CFI 开启率：59.3%（1750/2953）</a:t>
            </a:r>
          </a:p>
        </p:txBody>
      </p:sp>
      <p:sp>
        <p:nvSpPr>
          <p:cNvPr id="503" name="矩形 502"/>
          <p:cNvSpPr/>
          <p:nvPr/>
        </p:nvSpPr>
        <p:spPr>
          <a:xfrm>
            <a:off x="822960" y="2487168"/>
            <a:ext cx="91440" cy="9144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504" name="文本框 503"/>
          <p:cNvSpPr txBox="1"/>
          <p:nvPr/>
        </p:nvSpPr>
        <p:spPr>
          <a:xfrm>
            <a:off x="1005840" y="2423160"/>
            <a:ext cx="4769967" cy="41148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100" b="0">
                <a:solidFill>
                  <a:srgbClr val="333333"/>
                </a:solidFill>
                <a:latin typeface="Microsoft YaHei"/>
                <a:ea typeface="Microsoft YaHei"/>
              </a:rPr>
              <a:t>CFI 保护函数：102,985</a:t>
            </a:r>
          </a:p>
        </p:txBody>
      </p:sp>
      <p:sp>
        <p:nvSpPr>
          <p:cNvPr id="505" name="矩形 504"/>
          <p:cNvSpPr/>
          <p:nvPr/>
        </p:nvSpPr>
        <p:spPr>
          <a:xfrm>
            <a:off x="685800" y="2880360"/>
            <a:ext cx="5227167" cy="4572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506" name="矩形 505"/>
          <p:cNvSpPr/>
          <p:nvPr/>
        </p:nvSpPr>
        <p:spPr>
          <a:xfrm>
            <a:off x="822960" y="2990088"/>
            <a:ext cx="91440" cy="9144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507" name="文本框 506"/>
          <p:cNvSpPr txBox="1"/>
          <p:nvPr/>
        </p:nvSpPr>
        <p:spPr>
          <a:xfrm>
            <a:off x="1005840" y="2926080"/>
            <a:ext cx="4769967" cy="41148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100" b="0" dirty="0">
                <a:solidFill>
                  <a:srgbClr val="333333"/>
                </a:solidFill>
                <a:latin typeface="Microsoft YaHei"/>
                <a:ea typeface="Microsoft YaHei"/>
              </a:rPr>
              <a:t>vcall 调用点：335,579（覆盖率 1</a:t>
            </a:r>
            <a:r>
              <a:rPr lang="en-US" altLang="zh-CN" sz="1100" b="0" dirty="0">
                <a:solidFill>
                  <a:srgbClr val="333333"/>
                </a:solidFill>
                <a:latin typeface="Microsoft YaHei"/>
                <a:ea typeface="Microsoft YaHei"/>
              </a:rPr>
              <a:t>8</a:t>
            </a:r>
            <a:r>
              <a:rPr lang="zh-CN" sz="1100" b="0" dirty="0">
                <a:solidFill>
                  <a:srgbClr val="333333"/>
                </a:solidFill>
                <a:latin typeface="Microsoft YaHei"/>
                <a:ea typeface="Microsoft YaHei"/>
              </a:rPr>
              <a:t>.9%）</a:t>
            </a:r>
          </a:p>
        </p:txBody>
      </p:sp>
      <p:sp>
        <p:nvSpPr>
          <p:cNvPr id="508" name="矩形 507"/>
          <p:cNvSpPr/>
          <p:nvPr/>
        </p:nvSpPr>
        <p:spPr>
          <a:xfrm>
            <a:off x="822960" y="3493008"/>
            <a:ext cx="91440" cy="9144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509" name="文本框 508"/>
          <p:cNvSpPr txBox="1"/>
          <p:nvPr/>
        </p:nvSpPr>
        <p:spPr>
          <a:xfrm>
            <a:off x="1005840" y="3429000"/>
            <a:ext cx="4769967" cy="41148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100" b="0" dirty="0">
                <a:solidFill>
                  <a:srgbClr val="333333"/>
                </a:solidFill>
                <a:latin typeface="Microsoft YaHei"/>
                <a:ea typeface="Microsoft YaHei"/>
              </a:rPr>
              <a:t>icall 调用点：114,818（覆盖率 </a:t>
            </a:r>
            <a:r>
              <a:rPr lang="en-US" altLang="zh-CN" sz="1100" dirty="0">
                <a:solidFill>
                  <a:srgbClr val="333333"/>
                </a:solidFill>
                <a:latin typeface="Microsoft YaHei"/>
                <a:ea typeface="Microsoft YaHei"/>
              </a:rPr>
              <a:t>61</a:t>
            </a:r>
            <a:r>
              <a:rPr lang="zh-CN" sz="1100" b="0" dirty="0">
                <a:solidFill>
                  <a:srgbClr val="333333"/>
                </a:solidFill>
                <a:latin typeface="Microsoft YaHei"/>
                <a:ea typeface="Microsoft YaHei"/>
              </a:rPr>
              <a:t>.</a:t>
            </a:r>
            <a:r>
              <a:rPr lang="en-US" altLang="zh-CN" sz="1100" dirty="0">
                <a:solidFill>
                  <a:srgbClr val="333333"/>
                </a:solidFill>
                <a:latin typeface="Microsoft YaHei"/>
                <a:ea typeface="Microsoft YaHei"/>
              </a:rPr>
              <a:t>5</a:t>
            </a:r>
            <a:r>
              <a:rPr lang="zh-CN" sz="1100" b="0" dirty="0">
                <a:solidFill>
                  <a:srgbClr val="333333"/>
                </a:solidFill>
                <a:latin typeface="Microsoft YaHei"/>
                <a:ea typeface="Microsoft YaHei"/>
              </a:rPr>
              <a:t>%）</a:t>
            </a:r>
          </a:p>
        </p:txBody>
      </p:sp>
      <p:sp>
        <p:nvSpPr>
          <p:cNvPr id="510" name="矩形 509"/>
          <p:cNvSpPr/>
          <p:nvPr/>
        </p:nvSpPr>
        <p:spPr>
          <a:xfrm>
            <a:off x="685800" y="3886200"/>
            <a:ext cx="5227167" cy="4572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511" name="矩形 510"/>
          <p:cNvSpPr/>
          <p:nvPr/>
        </p:nvSpPr>
        <p:spPr>
          <a:xfrm>
            <a:off x="822960" y="3995928"/>
            <a:ext cx="91440" cy="9144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512" name="文本框 511"/>
          <p:cNvSpPr txBox="1"/>
          <p:nvPr/>
        </p:nvSpPr>
        <p:spPr>
          <a:xfrm>
            <a:off x="1005840" y="3931920"/>
            <a:ext cx="4769967" cy="41148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100" b="0" dirty="0">
                <a:solidFill>
                  <a:srgbClr val="333333"/>
                </a:solidFill>
                <a:latin typeface="Microsoft YaHei"/>
                <a:ea typeface="Microsoft YaHei"/>
              </a:rPr>
              <a:t>PAC 保护函数：960,186（覆盖率 39.2%）</a:t>
            </a:r>
          </a:p>
        </p:txBody>
      </p:sp>
      <p:sp>
        <p:nvSpPr>
          <p:cNvPr id="513" name="矩形 512"/>
          <p:cNvSpPr/>
          <p:nvPr/>
        </p:nvSpPr>
        <p:spPr>
          <a:xfrm>
            <a:off x="822960" y="4498848"/>
            <a:ext cx="91440" cy="9144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514" name="文本框 513"/>
          <p:cNvSpPr txBox="1"/>
          <p:nvPr/>
        </p:nvSpPr>
        <p:spPr>
          <a:xfrm>
            <a:off x="1005840" y="4434840"/>
            <a:ext cx="4769967" cy="41148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100" b="0">
                <a:solidFill>
                  <a:srgbClr val="333333"/>
                </a:solidFill>
                <a:latin typeface="Microsoft YaHei"/>
                <a:ea typeface="Microsoft YaHei"/>
              </a:rPr>
              <a:t>BTI 覆盖函数：11,651（覆盖率 0.5%）</a:t>
            </a:r>
          </a:p>
        </p:txBody>
      </p:sp>
      <p:sp>
        <p:nvSpPr>
          <p:cNvPr id="515" name="矩形 514"/>
          <p:cNvSpPr/>
          <p:nvPr/>
        </p:nvSpPr>
        <p:spPr>
          <a:xfrm>
            <a:off x="6278727" y="1874520"/>
            <a:ext cx="5227167" cy="4572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516" name="矩形 515"/>
          <p:cNvSpPr/>
          <p:nvPr/>
        </p:nvSpPr>
        <p:spPr>
          <a:xfrm>
            <a:off x="6415887" y="1984248"/>
            <a:ext cx="91440" cy="9144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517" name="文本框 516"/>
          <p:cNvSpPr txBox="1"/>
          <p:nvPr/>
        </p:nvSpPr>
        <p:spPr>
          <a:xfrm>
            <a:off x="6598767" y="1920240"/>
            <a:ext cx="4769967" cy="41148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100" b="0">
                <a:solidFill>
                  <a:srgbClr val="333333"/>
                </a:solidFill>
                <a:latin typeface="Microsoft YaHei"/>
                <a:ea typeface="Microsoft YaHei"/>
              </a:rPr>
              <a:t>CFI 开启率：37.3%（697/1868）</a:t>
            </a:r>
          </a:p>
        </p:txBody>
      </p:sp>
      <p:sp>
        <p:nvSpPr>
          <p:cNvPr id="518" name="矩形 517"/>
          <p:cNvSpPr/>
          <p:nvPr/>
        </p:nvSpPr>
        <p:spPr>
          <a:xfrm>
            <a:off x="6415887" y="2487168"/>
            <a:ext cx="91440" cy="9144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519" name="文本框 518"/>
          <p:cNvSpPr txBox="1"/>
          <p:nvPr/>
        </p:nvSpPr>
        <p:spPr>
          <a:xfrm>
            <a:off x="6598767" y="2423160"/>
            <a:ext cx="4769967" cy="41148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100" b="0">
                <a:solidFill>
                  <a:srgbClr val="333333"/>
                </a:solidFill>
                <a:latin typeface="Microsoft YaHei"/>
                <a:ea typeface="Microsoft YaHei"/>
              </a:rPr>
              <a:t>CFI 保护函数：33,033</a:t>
            </a:r>
          </a:p>
        </p:txBody>
      </p:sp>
      <p:sp>
        <p:nvSpPr>
          <p:cNvPr id="520" name="矩形 519"/>
          <p:cNvSpPr/>
          <p:nvPr/>
        </p:nvSpPr>
        <p:spPr>
          <a:xfrm>
            <a:off x="6278727" y="2880360"/>
            <a:ext cx="5227167" cy="4572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521" name="矩形 520"/>
          <p:cNvSpPr/>
          <p:nvPr/>
        </p:nvSpPr>
        <p:spPr>
          <a:xfrm>
            <a:off x="6415887" y="2990088"/>
            <a:ext cx="91440" cy="9144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522" name="文本框 521"/>
          <p:cNvSpPr txBox="1"/>
          <p:nvPr/>
        </p:nvSpPr>
        <p:spPr>
          <a:xfrm>
            <a:off x="6598767" y="2915133"/>
            <a:ext cx="4769967" cy="41148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altLang="zh-CN" sz="1100" dirty="0">
                <a:solidFill>
                  <a:srgbClr val="333333"/>
                </a:solidFill>
              </a:rPr>
              <a:t>vcall 调用点：</a:t>
            </a:r>
            <a:r>
              <a:rPr lang="en-US" altLang="zh-CN" sz="1100" dirty="0">
                <a:solidFill>
                  <a:srgbClr val="333333"/>
                </a:solidFill>
              </a:rPr>
              <a:t>130047</a:t>
            </a:r>
            <a:r>
              <a:rPr lang="zh-CN" altLang="zh-CN" sz="1100" dirty="0">
                <a:solidFill>
                  <a:srgbClr val="333333"/>
                </a:solidFill>
              </a:rPr>
              <a:t>（覆盖率 1</a:t>
            </a:r>
            <a:r>
              <a:rPr lang="en-US" altLang="zh-CN" sz="1100" dirty="0">
                <a:solidFill>
                  <a:srgbClr val="333333"/>
                </a:solidFill>
              </a:rPr>
              <a:t>0</a:t>
            </a:r>
            <a:r>
              <a:rPr lang="zh-CN" altLang="zh-CN" sz="1100" dirty="0">
                <a:solidFill>
                  <a:srgbClr val="333333"/>
                </a:solidFill>
              </a:rPr>
              <a:t>.9%）</a:t>
            </a:r>
          </a:p>
          <a:p>
            <a:endParaRPr lang="zh-CN" sz="11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523" name="矩形 522"/>
          <p:cNvSpPr/>
          <p:nvPr/>
        </p:nvSpPr>
        <p:spPr>
          <a:xfrm>
            <a:off x="6415887" y="3493008"/>
            <a:ext cx="91440" cy="9144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524" name="文本框 523"/>
          <p:cNvSpPr txBox="1"/>
          <p:nvPr/>
        </p:nvSpPr>
        <p:spPr>
          <a:xfrm>
            <a:off x="6598767" y="3429000"/>
            <a:ext cx="4769967" cy="41148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altLang="zh-CN" sz="1100" dirty="0">
                <a:solidFill>
                  <a:srgbClr val="333333"/>
                </a:solidFill>
              </a:rPr>
              <a:t>icall 调用点：1</a:t>
            </a:r>
            <a:r>
              <a:rPr lang="en-US" altLang="zh-CN" sz="1100" dirty="0">
                <a:solidFill>
                  <a:srgbClr val="333333"/>
                </a:solidFill>
              </a:rPr>
              <a:t>29641</a:t>
            </a:r>
            <a:r>
              <a:rPr lang="zh-CN" altLang="zh-CN" sz="1100" dirty="0">
                <a:solidFill>
                  <a:srgbClr val="333333"/>
                </a:solidFill>
              </a:rPr>
              <a:t>（覆盖率 </a:t>
            </a:r>
            <a:r>
              <a:rPr lang="en-US" altLang="zh-CN" sz="1100" dirty="0">
                <a:solidFill>
                  <a:srgbClr val="333333"/>
                </a:solidFill>
              </a:rPr>
              <a:t>5</a:t>
            </a:r>
            <a:r>
              <a:rPr lang="zh-CN" altLang="zh-CN" sz="1100" dirty="0">
                <a:solidFill>
                  <a:srgbClr val="333333"/>
                </a:solidFill>
              </a:rPr>
              <a:t>.</a:t>
            </a:r>
            <a:r>
              <a:rPr lang="en-US" altLang="zh-CN" sz="1100" dirty="0">
                <a:solidFill>
                  <a:srgbClr val="333333"/>
                </a:solidFill>
              </a:rPr>
              <a:t>1</a:t>
            </a:r>
            <a:r>
              <a:rPr lang="zh-CN" altLang="zh-CN" sz="1100" dirty="0">
                <a:solidFill>
                  <a:srgbClr val="333333"/>
                </a:solidFill>
              </a:rPr>
              <a:t>%）</a:t>
            </a:r>
          </a:p>
          <a:p>
            <a:endParaRPr lang="zh-CN" sz="11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525" name="矩形 524"/>
          <p:cNvSpPr/>
          <p:nvPr/>
        </p:nvSpPr>
        <p:spPr>
          <a:xfrm>
            <a:off x="6278727" y="3886200"/>
            <a:ext cx="5227167" cy="4572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526" name="矩形 525"/>
          <p:cNvSpPr/>
          <p:nvPr/>
        </p:nvSpPr>
        <p:spPr>
          <a:xfrm>
            <a:off x="6415887" y="3995928"/>
            <a:ext cx="91440" cy="9144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527" name="文本框 526"/>
          <p:cNvSpPr txBox="1"/>
          <p:nvPr/>
        </p:nvSpPr>
        <p:spPr>
          <a:xfrm>
            <a:off x="6598767" y="3931920"/>
            <a:ext cx="4769967" cy="41148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en-US" altLang="zh-CN" sz="1100" b="0" dirty="0">
                <a:solidFill>
                  <a:srgbClr val="333333"/>
                </a:solidFill>
                <a:latin typeface="Microsoft YaHei"/>
                <a:ea typeface="Microsoft YaHei"/>
              </a:rPr>
              <a:t>32</a:t>
            </a:r>
            <a:r>
              <a:rPr lang="zh-CN" altLang="en-US" sz="1100" b="0" dirty="0">
                <a:solidFill>
                  <a:srgbClr val="333333"/>
                </a:solidFill>
                <a:latin typeface="Microsoft YaHei"/>
                <a:ea typeface="Microsoft YaHei"/>
              </a:rPr>
              <a:t>位</a:t>
            </a:r>
            <a:r>
              <a:rPr lang="zh-CN" sz="1100" b="0" dirty="0">
                <a:solidFill>
                  <a:srgbClr val="333333"/>
                </a:solidFill>
                <a:latin typeface="Microsoft YaHei"/>
                <a:ea typeface="Microsoft YaHei"/>
              </a:rPr>
              <a:t>不支持 PAC/BTI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EA3214C-D869-3334-A747-71CD31243A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758" y="6250761"/>
            <a:ext cx="735937" cy="60723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矩形 56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0F0F0"/>
          </a:solidFill>
        </p:spPr>
      </p:sp>
      <p:sp>
        <p:nvSpPr>
          <p:cNvPr id="562" name="矩形 561"/>
          <p:cNvSpPr/>
          <p:nvPr/>
        </p:nvSpPr>
        <p:spPr>
          <a:xfrm>
            <a:off x="438912" y="0"/>
            <a:ext cx="18288" cy="685800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563" name="矩形 562"/>
          <p:cNvSpPr/>
          <p:nvPr/>
        </p:nvSpPr>
        <p:spPr>
          <a:xfrm>
            <a:off x="457200" y="0"/>
            <a:ext cx="11734495" cy="54864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564" name="矩形 563"/>
          <p:cNvSpPr/>
          <p:nvPr/>
        </p:nvSpPr>
        <p:spPr>
          <a:xfrm>
            <a:off x="457200" y="54864"/>
            <a:ext cx="11734495" cy="18288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565" name="文本框 564"/>
          <p:cNvSpPr txBox="1"/>
          <p:nvPr/>
        </p:nvSpPr>
        <p:spPr>
          <a:xfrm>
            <a:off x="822960" y="457200"/>
            <a:ext cx="10058400" cy="54864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2800" b="1">
                <a:solidFill>
                  <a:srgbClr val="CF0A2C"/>
                </a:solidFill>
                <a:latin typeface="Microsoft YaHei"/>
                <a:ea typeface="Microsoft YaHei"/>
              </a:rPr>
              <a:t>项目时间线</a:t>
            </a:r>
          </a:p>
        </p:txBody>
      </p:sp>
      <p:sp>
        <p:nvSpPr>
          <p:cNvPr id="566" name="矩形 565"/>
          <p:cNvSpPr/>
          <p:nvPr/>
        </p:nvSpPr>
        <p:spPr>
          <a:xfrm>
            <a:off x="822960" y="1005840"/>
            <a:ext cx="1371600" cy="27432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567" name="矩形 566"/>
          <p:cNvSpPr/>
          <p:nvPr/>
        </p:nvSpPr>
        <p:spPr>
          <a:xfrm>
            <a:off x="2286000" y="1010412"/>
            <a:ext cx="8229600" cy="13716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568" name="矩形: 圆角 567"/>
          <p:cNvSpPr/>
          <p:nvPr/>
        </p:nvSpPr>
        <p:spPr>
          <a:xfrm>
            <a:off x="640080" y="1389888"/>
            <a:ext cx="2590723" cy="438912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>
            <a:solidFill>
              <a:srgbClr val="E0E0E0"/>
            </a:solidFill>
          </a:ln>
        </p:spPr>
      </p:sp>
      <p:sp>
        <p:nvSpPr>
          <p:cNvPr id="569" name="矩形 568"/>
          <p:cNvSpPr/>
          <p:nvPr/>
        </p:nvSpPr>
        <p:spPr>
          <a:xfrm>
            <a:off x="640080" y="1371600"/>
            <a:ext cx="54864" cy="438912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570" name="文本框 569"/>
          <p:cNvSpPr txBox="1"/>
          <p:nvPr/>
        </p:nvSpPr>
        <p:spPr>
          <a:xfrm>
            <a:off x="822960" y="1508760"/>
            <a:ext cx="2270683" cy="32004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200" b="1" dirty="0">
                <a:solidFill>
                  <a:srgbClr val="CF0A2C"/>
                </a:solidFill>
                <a:latin typeface="Microsoft YaHei"/>
                <a:ea typeface="Microsoft YaHei"/>
              </a:rPr>
              <a:t>阶段一（7.1-7.14）环境搭建与 CFI 基础</a:t>
            </a:r>
            <a:r>
              <a:rPr lang="zh-CN" altLang="en-US" sz="1200" b="1" dirty="0">
                <a:solidFill>
                  <a:srgbClr val="CF0A2C"/>
                </a:solidFill>
                <a:latin typeface="Microsoft YaHei"/>
                <a:ea typeface="Microsoft YaHei"/>
              </a:rPr>
              <a:t>学习</a:t>
            </a:r>
            <a:endParaRPr lang="zh-CN" sz="1200" b="1" dirty="0">
              <a:solidFill>
                <a:srgbClr val="CF0A2C"/>
              </a:solidFill>
              <a:latin typeface="Microsoft YaHei"/>
              <a:ea typeface="Microsoft YaHei"/>
            </a:endParaRPr>
          </a:p>
        </p:txBody>
      </p:sp>
      <p:sp>
        <p:nvSpPr>
          <p:cNvPr id="571" name="椭圆 570"/>
          <p:cNvSpPr/>
          <p:nvPr/>
        </p:nvSpPr>
        <p:spPr>
          <a:xfrm>
            <a:off x="735576" y="2153025"/>
            <a:ext cx="73152" cy="73152"/>
          </a:xfrm>
          <a:prstGeom prst="ellipse">
            <a:avLst/>
          </a:prstGeom>
          <a:solidFill>
            <a:srgbClr val="CF0A2C"/>
          </a:solidFill>
        </p:spPr>
      </p:sp>
      <p:sp>
        <p:nvSpPr>
          <p:cNvPr id="572" name="文本框 571"/>
          <p:cNvSpPr txBox="1"/>
          <p:nvPr/>
        </p:nvSpPr>
        <p:spPr>
          <a:xfrm>
            <a:off x="822702" y="2076139"/>
            <a:ext cx="2087803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000" b="0" dirty="0">
                <a:solidFill>
                  <a:srgbClr val="333333"/>
                </a:solidFill>
                <a:latin typeface="Microsoft YaHei"/>
                <a:ea typeface="Microsoft YaHei"/>
              </a:rPr>
              <a:t>源码获取、编译环境、rk3568 烧录</a:t>
            </a:r>
          </a:p>
        </p:txBody>
      </p:sp>
      <p:sp>
        <p:nvSpPr>
          <p:cNvPr id="573" name="椭圆 572"/>
          <p:cNvSpPr/>
          <p:nvPr/>
        </p:nvSpPr>
        <p:spPr>
          <a:xfrm>
            <a:off x="743818" y="2696706"/>
            <a:ext cx="73152" cy="73152"/>
          </a:xfrm>
          <a:prstGeom prst="ellipse">
            <a:avLst/>
          </a:prstGeom>
          <a:solidFill>
            <a:srgbClr val="CF0A2C"/>
          </a:solidFill>
        </p:spPr>
      </p:sp>
      <p:sp>
        <p:nvSpPr>
          <p:cNvPr id="574" name="文本框 573"/>
          <p:cNvSpPr txBox="1"/>
          <p:nvPr/>
        </p:nvSpPr>
        <p:spPr>
          <a:xfrm>
            <a:off x="822701" y="2591616"/>
            <a:ext cx="2087803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000" b="0" dirty="0">
                <a:solidFill>
                  <a:srgbClr val="333333"/>
                </a:solidFill>
                <a:latin typeface="Microsoft YaHei"/>
                <a:ea typeface="Microsoft YaHei"/>
              </a:rPr>
              <a:t>CFI 反汇编分析：__cfi_check、.cfi 后缀、影子区</a:t>
            </a:r>
          </a:p>
        </p:txBody>
      </p:sp>
      <p:sp>
        <p:nvSpPr>
          <p:cNvPr id="575" name="矩形: 圆角 574"/>
          <p:cNvSpPr/>
          <p:nvPr/>
        </p:nvSpPr>
        <p:spPr>
          <a:xfrm>
            <a:off x="3413683" y="1371600"/>
            <a:ext cx="2590723" cy="438912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>
            <a:solidFill>
              <a:srgbClr val="E0E0E0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576" name="矩形 575"/>
          <p:cNvSpPr/>
          <p:nvPr/>
        </p:nvSpPr>
        <p:spPr>
          <a:xfrm>
            <a:off x="3413683" y="1371600"/>
            <a:ext cx="54864" cy="438912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577" name="文本框 576"/>
          <p:cNvSpPr txBox="1"/>
          <p:nvPr/>
        </p:nvSpPr>
        <p:spPr>
          <a:xfrm>
            <a:off x="3596563" y="1508760"/>
            <a:ext cx="2270683" cy="32004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200" b="1">
                <a:solidFill>
                  <a:srgbClr val="CF0A2C"/>
                </a:solidFill>
                <a:latin typeface="Microsoft YaHei"/>
                <a:ea typeface="Microsoft YaHei"/>
              </a:rPr>
              <a:t>阶段二（7.15-7.28）检测引擎实现</a:t>
            </a:r>
          </a:p>
        </p:txBody>
      </p:sp>
      <p:sp>
        <p:nvSpPr>
          <p:cNvPr id="578" name="椭圆 577"/>
          <p:cNvSpPr/>
          <p:nvPr/>
        </p:nvSpPr>
        <p:spPr>
          <a:xfrm>
            <a:off x="3596563" y="2154797"/>
            <a:ext cx="73152" cy="73152"/>
          </a:xfrm>
          <a:prstGeom prst="ellipse">
            <a:avLst/>
          </a:prstGeom>
          <a:solidFill>
            <a:srgbClr val="CF0A2C"/>
          </a:solidFill>
        </p:spPr>
      </p:sp>
      <p:sp>
        <p:nvSpPr>
          <p:cNvPr id="579" name="文本框 578"/>
          <p:cNvSpPr txBox="1"/>
          <p:nvPr/>
        </p:nvSpPr>
        <p:spPr>
          <a:xfrm>
            <a:off x="3678858" y="2072532"/>
            <a:ext cx="2087803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000" b="0" dirty="0">
                <a:solidFill>
                  <a:srgbClr val="333333"/>
                </a:solidFill>
                <a:latin typeface="Microsoft YaHei"/>
                <a:ea typeface="Microsoft YaHei"/>
              </a:rPr>
              <a:t>5 维检测全覆盖（.so/函数/vcall/icall/PAC/BTI）</a:t>
            </a:r>
          </a:p>
        </p:txBody>
      </p:sp>
      <p:sp>
        <p:nvSpPr>
          <p:cNvPr id="580" name="椭圆 579"/>
          <p:cNvSpPr/>
          <p:nvPr/>
        </p:nvSpPr>
        <p:spPr>
          <a:xfrm>
            <a:off x="3596563" y="2685019"/>
            <a:ext cx="73152" cy="73152"/>
          </a:xfrm>
          <a:prstGeom prst="ellipse">
            <a:avLst/>
          </a:prstGeom>
          <a:solidFill>
            <a:srgbClr val="CF0A2C"/>
          </a:solidFill>
        </p:spPr>
      </p:sp>
      <p:sp>
        <p:nvSpPr>
          <p:cNvPr id="581" name="文本框 580"/>
          <p:cNvSpPr txBox="1"/>
          <p:nvPr/>
        </p:nvSpPr>
        <p:spPr>
          <a:xfrm>
            <a:off x="3665142" y="2610612"/>
            <a:ext cx="2087803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000" b="0" dirty="0">
                <a:solidFill>
                  <a:srgbClr val="333333"/>
                </a:solidFill>
                <a:latin typeface="Microsoft YaHei"/>
                <a:ea typeface="Microsoft YaHei"/>
              </a:rPr>
              <a:t>AArch64 + ARM Thumb 双架构指令解码</a:t>
            </a:r>
          </a:p>
        </p:txBody>
      </p:sp>
      <p:sp>
        <p:nvSpPr>
          <p:cNvPr id="582" name="椭圆 581"/>
          <p:cNvSpPr/>
          <p:nvPr/>
        </p:nvSpPr>
        <p:spPr>
          <a:xfrm>
            <a:off x="3603534" y="3220941"/>
            <a:ext cx="73152" cy="73152"/>
          </a:xfrm>
          <a:prstGeom prst="ellipse">
            <a:avLst/>
          </a:prstGeom>
          <a:solidFill>
            <a:srgbClr val="CF0A2C"/>
          </a:solidFill>
        </p:spPr>
      </p:sp>
      <p:sp>
        <p:nvSpPr>
          <p:cNvPr id="583" name="文本框 582"/>
          <p:cNvSpPr txBox="1"/>
          <p:nvPr/>
        </p:nvSpPr>
        <p:spPr>
          <a:xfrm>
            <a:off x="3665142" y="3144086"/>
            <a:ext cx="2087803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000" b="0" dirty="0">
                <a:solidFill>
                  <a:srgbClr val="333333"/>
                </a:solidFill>
                <a:latin typeface="Microsoft YaHei"/>
                <a:ea typeface="Microsoft YaHei"/>
              </a:rPr>
              <a:t>v4.1 + v6.1 全量批量验证</a:t>
            </a:r>
          </a:p>
        </p:txBody>
      </p:sp>
      <p:sp>
        <p:nvSpPr>
          <p:cNvPr id="584" name="矩形: 圆角 583"/>
          <p:cNvSpPr/>
          <p:nvPr/>
        </p:nvSpPr>
        <p:spPr>
          <a:xfrm>
            <a:off x="6187286" y="1371600"/>
            <a:ext cx="2590723" cy="438912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>
            <a:solidFill>
              <a:srgbClr val="E0E0E0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585" name="矩形 584"/>
          <p:cNvSpPr/>
          <p:nvPr/>
        </p:nvSpPr>
        <p:spPr>
          <a:xfrm>
            <a:off x="6187286" y="1371600"/>
            <a:ext cx="54864" cy="438912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586" name="文本框 585"/>
          <p:cNvSpPr txBox="1"/>
          <p:nvPr/>
        </p:nvSpPr>
        <p:spPr>
          <a:xfrm>
            <a:off x="6370166" y="1508760"/>
            <a:ext cx="2270683" cy="32004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200" b="1">
                <a:solidFill>
                  <a:srgbClr val="CF0A2C"/>
                </a:solidFill>
                <a:latin typeface="Microsoft YaHei"/>
                <a:ea typeface="Microsoft YaHei"/>
              </a:rPr>
              <a:t>阶段三（7.29-8.25）Web 可视化 + 性能优化</a:t>
            </a:r>
          </a:p>
        </p:txBody>
      </p:sp>
      <p:sp>
        <p:nvSpPr>
          <p:cNvPr id="587" name="椭圆 586"/>
          <p:cNvSpPr/>
          <p:nvPr/>
        </p:nvSpPr>
        <p:spPr>
          <a:xfrm>
            <a:off x="6370162" y="2172022"/>
            <a:ext cx="73152" cy="73152"/>
          </a:xfrm>
          <a:prstGeom prst="ellipse">
            <a:avLst/>
          </a:prstGeom>
          <a:solidFill>
            <a:srgbClr val="CF0A2C"/>
          </a:solidFill>
        </p:spPr>
      </p:sp>
      <p:sp>
        <p:nvSpPr>
          <p:cNvPr id="588" name="文本框 587"/>
          <p:cNvSpPr txBox="1"/>
          <p:nvPr/>
        </p:nvSpPr>
        <p:spPr>
          <a:xfrm>
            <a:off x="6425026" y="2067575"/>
            <a:ext cx="2087803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000" b="0" dirty="0">
                <a:solidFill>
                  <a:srgbClr val="333333"/>
                </a:solidFill>
                <a:latin typeface="Microsoft YaHei"/>
                <a:ea typeface="Microsoft YaHei"/>
              </a:rPr>
              <a:t>SQLite + HTML + Excel + Flask 报告管线</a:t>
            </a:r>
          </a:p>
        </p:txBody>
      </p:sp>
      <p:sp>
        <p:nvSpPr>
          <p:cNvPr id="589" name="椭圆 588"/>
          <p:cNvSpPr/>
          <p:nvPr/>
        </p:nvSpPr>
        <p:spPr>
          <a:xfrm>
            <a:off x="6367102" y="2692200"/>
            <a:ext cx="73152" cy="73152"/>
          </a:xfrm>
          <a:prstGeom prst="ellipse">
            <a:avLst/>
          </a:prstGeom>
          <a:solidFill>
            <a:srgbClr val="CF0A2C"/>
          </a:solidFill>
        </p:spPr>
      </p:sp>
      <p:sp>
        <p:nvSpPr>
          <p:cNvPr id="590" name="文本框 589"/>
          <p:cNvSpPr txBox="1"/>
          <p:nvPr/>
        </p:nvSpPr>
        <p:spPr>
          <a:xfrm>
            <a:off x="6425027" y="2607135"/>
            <a:ext cx="2087803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000" b="0" dirty="0">
                <a:solidFill>
                  <a:srgbClr val="333333"/>
                </a:solidFill>
                <a:latin typeface="Microsoft YaHei"/>
                <a:ea typeface="Microsoft YaHei"/>
              </a:rPr>
              <a:t>ProcessPoolExecutor 并行检测</a:t>
            </a:r>
          </a:p>
        </p:txBody>
      </p:sp>
      <p:sp>
        <p:nvSpPr>
          <p:cNvPr id="591" name="椭圆 590"/>
          <p:cNvSpPr/>
          <p:nvPr/>
        </p:nvSpPr>
        <p:spPr>
          <a:xfrm>
            <a:off x="6367102" y="3205324"/>
            <a:ext cx="73152" cy="73152"/>
          </a:xfrm>
          <a:prstGeom prst="ellipse">
            <a:avLst/>
          </a:prstGeom>
          <a:solidFill>
            <a:srgbClr val="CF0A2C"/>
          </a:solidFill>
        </p:spPr>
      </p:sp>
      <p:sp>
        <p:nvSpPr>
          <p:cNvPr id="592" name="文本框 591"/>
          <p:cNvSpPr txBox="1"/>
          <p:nvPr/>
        </p:nvSpPr>
        <p:spPr>
          <a:xfrm>
            <a:off x="6425026" y="3117105"/>
            <a:ext cx="2087803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000" b="0" dirty="0">
                <a:solidFill>
                  <a:srgbClr val="333333"/>
                </a:solidFill>
                <a:latin typeface="Microsoft YaHei"/>
                <a:ea typeface="Microsoft YaHei"/>
              </a:rPr>
              <a:t>bisect O(n log n) CFI 匹配优化</a:t>
            </a:r>
          </a:p>
        </p:txBody>
      </p:sp>
      <p:sp>
        <p:nvSpPr>
          <p:cNvPr id="593" name="椭圆 592"/>
          <p:cNvSpPr/>
          <p:nvPr/>
        </p:nvSpPr>
        <p:spPr>
          <a:xfrm>
            <a:off x="6367102" y="3611077"/>
            <a:ext cx="73152" cy="73152"/>
          </a:xfrm>
          <a:prstGeom prst="ellipse">
            <a:avLst/>
          </a:prstGeom>
          <a:solidFill>
            <a:srgbClr val="CF0A2C"/>
          </a:solidFill>
        </p:spPr>
      </p:sp>
      <p:sp>
        <p:nvSpPr>
          <p:cNvPr id="594" name="文本框 593"/>
          <p:cNvSpPr txBox="1"/>
          <p:nvPr/>
        </p:nvSpPr>
        <p:spPr>
          <a:xfrm>
            <a:off x="6425025" y="3499191"/>
            <a:ext cx="2087803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000" b="0" dirty="0">
                <a:solidFill>
                  <a:srgbClr val="333333"/>
                </a:solidFill>
                <a:latin typeface="Microsoft YaHei"/>
                <a:ea typeface="Microsoft YaHei"/>
              </a:rPr>
              <a:t>tools.py 拆分（1215行→5模块815行）</a:t>
            </a:r>
          </a:p>
        </p:txBody>
      </p:sp>
      <p:sp>
        <p:nvSpPr>
          <p:cNvPr id="595" name="矩形: 圆角 594"/>
          <p:cNvSpPr/>
          <p:nvPr/>
        </p:nvSpPr>
        <p:spPr>
          <a:xfrm>
            <a:off x="8960889" y="1371600"/>
            <a:ext cx="2590723" cy="438912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>
            <a:solidFill>
              <a:srgbClr val="E0E0E0"/>
            </a:solidFill>
          </a:ln>
        </p:spPr>
      </p:sp>
      <p:sp>
        <p:nvSpPr>
          <p:cNvPr id="596" name="矩形 595"/>
          <p:cNvSpPr/>
          <p:nvPr/>
        </p:nvSpPr>
        <p:spPr>
          <a:xfrm>
            <a:off x="8960889" y="1371600"/>
            <a:ext cx="54864" cy="438912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597" name="文本框 596"/>
          <p:cNvSpPr txBox="1"/>
          <p:nvPr/>
        </p:nvSpPr>
        <p:spPr>
          <a:xfrm>
            <a:off x="9143769" y="1508760"/>
            <a:ext cx="2270683" cy="32004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200" b="1" dirty="0">
                <a:solidFill>
                  <a:srgbClr val="CF0A2C"/>
                </a:solidFill>
                <a:latin typeface="Microsoft YaHei"/>
                <a:ea typeface="Microsoft YaHei"/>
              </a:rPr>
              <a:t>阶段四（8.26-8.28）Skill 封装 + 文档</a:t>
            </a:r>
          </a:p>
        </p:txBody>
      </p:sp>
      <p:sp>
        <p:nvSpPr>
          <p:cNvPr id="598" name="椭圆 597"/>
          <p:cNvSpPr/>
          <p:nvPr/>
        </p:nvSpPr>
        <p:spPr>
          <a:xfrm>
            <a:off x="9198632" y="2116449"/>
            <a:ext cx="73152" cy="73152"/>
          </a:xfrm>
          <a:prstGeom prst="ellipse">
            <a:avLst/>
          </a:prstGeom>
          <a:solidFill>
            <a:srgbClr val="CF0A2C"/>
          </a:solidFill>
        </p:spPr>
      </p:sp>
      <p:sp>
        <p:nvSpPr>
          <p:cNvPr id="599" name="文本框 598"/>
          <p:cNvSpPr txBox="1"/>
          <p:nvPr/>
        </p:nvSpPr>
        <p:spPr>
          <a:xfrm>
            <a:off x="9235208" y="2039596"/>
            <a:ext cx="2087803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000" b="0" dirty="0">
                <a:solidFill>
                  <a:srgbClr val="333333"/>
                </a:solidFill>
                <a:latin typeface="Microsoft YaHei"/>
                <a:ea typeface="Microsoft YaHei"/>
              </a:rPr>
              <a:t>21 工具自动注册 + 7 种 LLM 支持</a:t>
            </a:r>
          </a:p>
        </p:txBody>
      </p:sp>
      <p:sp>
        <p:nvSpPr>
          <p:cNvPr id="600" name="椭圆 599"/>
          <p:cNvSpPr/>
          <p:nvPr/>
        </p:nvSpPr>
        <p:spPr>
          <a:xfrm>
            <a:off x="9199688" y="2668729"/>
            <a:ext cx="73152" cy="73152"/>
          </a:xfrm>
          <a:prstGeom prst="ellipse">
            <a:avLst/>
          </a:prstGeom>
          <a:solidFill>
            <a:srgbClr val="CF0A2C"/>
          </a:solidFill>
        </p:spPr>
      </p:sp>
      <p:sp>
        <p:nvSpPr>
          <p:cNvPr id="601" name="文本框 600"/>
          <p:cNvSpPr txBox="1"/>
          <p:nvPr/>
        </p:nvSpPr>
        <p:spPr>
          <a:xfrm>
            <a:off x="9235208" y="2588202"/>
            <a:ext cx="2087803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000" b="0" dirty="0">
                <a:solidFill>
                  <a:srgbClr val="333333"/>
                </a:solidFill>
                <a:latin typeface="Microsoft YaHei"/>
                <a:ea typeface="Microsoft YaHei"/>
              </a:rPr>
              <a:t>安全知识库（6 文件）+ 风险评估引擎</a:t>
            </a:r>
          </a:p>
        </p:txBody>
      </p:sp>
      <p:sp>
        <p:nvSpPr>
          <p:cNvPr id="602" name="椭圆 601"/>
          <p:cNvSpPr/>
          <p:nvPr/>
        </p:nvSpPr>
        <p:spPr>
          <a:xfrm>
            <a:off x="9198632" y="3181113"/>
            <a:ext cx="73152" cy="73152"/>
          </a:xfrm>
          <a:prstGeom prst="ellipse">
            <a:avLst/>
          </a:prstGeom>
          <a:solidFill>
            <a:srgbClr val="CF0A2C"/>
          </a:solidFill>
        </p:spPr>
      </p:sp>
      <p:sp>
        <p:nvSpPr>
          <p:cNvPr id="603" name="文本框 602"/>
          <p:cNvSpPr txBox="1"/>
          <p:nvPr/>
        </p:nvSpPr>
        <p:spPr>
          <a:xfrm>
            <a:off x="9239587" y="3098527"/>
            <a:ext cx="2087803" cy="2743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000" b="0" dirty="0">
                <a:solidFill>
                  <a:srgbClr val="333333"/>
                </a:solidFill>
                <a:latin typeface="Microsoft YaHei"/>
                <a:ea typeface="Microsoft YaHei"/>
              </a:rPr>
              <a:t>GitHub 开源 + README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6D9B7D4-35A8-4FAC-FB62-27C75EE48B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758" y="6250761"/>
            <a:ext cx="735937" cy="60723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37ED7-8981-BE29-8A8B-6EC2168F9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矩形 677">
            <a:extLst>
              <a:ext uri="{FF2B5EF4-FFF2-40B4-BE49-F238E27FC236}">
                <a16:creationId xmlns:a16="http://schemas.microsoft.com/office/drawing/2014/main" id="{3A6A6D77-89E1-FE08-1592-78FACBE1908D}"/>
              </a:ext>
            </a:extLst>
          </p:cNvPr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0F0F0"/>
          </a:solidFill>
        </p:spPr>
      </p:sp>
      <p:sp>
        <p:nvSpPr>
          <p:cNvPr id="679" name="矩形 678">
            <a:extLst>
              <a:ext uri="{FF2B5EF4-FFF2-40B4-BE49-F238E27FC236}">
                <a16:creationId xmlns:a16="http://schemas.microsoft.com/office/drawing/2014/main" id="{C4E30362-85A3-34B0-B3CD-74B4DFEF7872}"/>
              </a:ext>
            </a:extLst>
          </p:cNvPr>
          <p:cNvSpPr/>
          <p:nvPr/>
        </p:nvSpPr>
        <p:spPr>
          <a:xfrm>
            <a:off x="438912" y="0"/>
            <a:ext cx="18288" cy="685800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680" name="矩形 679">
            <a:extLst>
              <a:ext uri="{FF2B5EF4-FFF2-40B4-BE49-F238E27FC236}">
                <a16:creationId xmlns:a16="http://schemas.microsoft.com/office/drawing/2014/main" id="{B8863ED1-1B5C-6923-5DD2-B6C3ADBB8A4F}"/>
              </a:ext>
            </a:extLst>
          </p:cNvPr>
          <p:cNvSpPr/>
          <p:nvPr/>
        </p:nvSpPr>
        <p:spPr>
          <a:xfrm>
            <a:off x="457200" y="0"/>
            <a:ext cx="11734495" cy="54864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681" name="矩形 680">
            <a:extLst>
              <a:ext uri="{FF2B5EF4-FFF2-40B4-BE49-F238E27FC236}">
                <a16:creationId xmlns:a16="http://schemas.microsoft.com/office/drawing/2014/main" id="{349187D1-0E54-941E-4974-ED6209A7F58F}"/>
              </a:ext>
            </a:extLst>
          </p:cNvPr>
          <p:cNvSpPr/>
          <p:nvPr/>
        </p:nvSpPr>
        <p:spPr>
          <a:xfrm>
            <a:off x="457200" y="54864"/>
            <a:ext cx="11734495" cy="18288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682" name="文本框 681">
            <a:extLst>
              <a:ext uri="{FF2B5EF4-FFF2-40B4-BE49-F238E27FC236}">
                <a16:creationId xmlns:a16="http://schemas.microsoft.com/office/drawing/2014/main" id="{A5770FD7-9591-A803-2C6A-4DAE30DD3C06}"/>
              </a:ext>
            </a:extLst>
          </p:cNvPr>
          <p:cNvSpPr txBox="1"/>
          <p:nvPr/>
        </p:nvSpPr>
        <p:spPr>
          <a:xfrm>
            <a:off x="822960" y="457200"/>
            <a:ext cx="10058400" cy="54864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altLang="zh-CN" sz="2800" b="1" dirty="0">
                <a:solidFill>
                  <a:srgbClr val="CF0A2C"/>
                </a:solidFill>
              </a:rPr>
              <a:t>工程优化亮点</a:t>
            </a:r>
          </a:p>
          <a:p>
            <a:endParaRPr lang="zh-CN" sz="2800" b="1" dirty="0">
              <a:solidFill>
                <a:srgbClr val="CF0A2C"/>
              </a:solidFill>
              <a:latin typeface="Microsoft YaHei"/>
              <a:ea typeface="Microsoft YaHei"/>
            </a:endParaRPr>
          </a:p>
        </p:txBody>
      </p:sp>
      <p:sp>
        <p:nvSpPr>
          <p:cNvPr id="683" name="矩形 682">
            <a:extLst>
              <a:ext uri="{FF2B5EF4-FFF2-40B4-BE49-F238E27FC236}">
                <a16:creationId xmlns:a16="http://schemas.microsoft.com/office/drawing/2014/main" id="{8148E25B-DDB5-3AB3-E25B-CA3286864518}"/>
              </a:ext>
            </a:extLst>
          </p:cNvPr>
          <p:cNvSpPr/>
          <p:nvPr/>
        </p:nvSpPr>
        <p:spPr>
          <a:xfrm>
            <a:off x="822960" y="1005840"/>
            <a:ext cx="1371600" cy="27432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684" name="矩形 683">
            <a:extLst>
              <a:ext uri="{FF2B5EF4-FFF2-40B4-BE49-F238E27FC236}">
                <a16:creationId xmlns:a16="http://schemas.microsoft.com/office/drawing/2014/main" id="{87F166B8-2284-208F-03F3-3034972FA09E}"/>
              </a:ext>
            </a:extLst>
          </p:cNvPr>
          <p:cNvSpPr/>
          <p:nvPr/>
        </p:nvSpPr>
        <p:spPr>
          <a:xfrm>
            <a:off x="2286000" y="1010412"/>
            <a:ext cx="8229600" cy="13716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685" name="矩形 684">
            <a:extLst>
              <a:ext uri="{FF2B5EF4-FFF2-40B4-BE49-F238E27FC236}">
                <a16:creationId xmlns:a16="http://schemas.microsoft.com/office/drawing/2014/main" id="{A7A1D2A6-211A-7620-D12D-CDA56D1AD2D7}"/>
              </a:ext>
            </a:extLst>
          </p:cNvPr>
          <p:cNvSpPr/>
          <p:nvPr/>
        </p:nvSpPr>
        <p:spPr>
          <a:xfrm>
            <a:off x="1051560" y="1591732"/>
            <a:ext cx="10515600" cy="62068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686" name="矩形 685">
            <a:extLst>
              <a:ext uri="{FF2B5EF4-FFF2-40B4-BE49-F238E27FC236}">
                <a16:creationId xmlns:a16="http://schemas.microsoft.com/office/drawing/2014/main" id="{F4A5AD43-14A0-7BFB-B3C7-7FDB3360E319}"/>
              </a:ext>
            </a:extLst>
          </p:cNvPr>
          <p:cNvSpPr/>
          <p:nvPr/>
        </p:nvSpPr>
        <p:spPr>
          <a:xfrm>
            <a:off x="862628" y="1902072"/>
            <a:ext cx="109728" cy="109728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687" name="文本框 686">
            <a:extLst>
              <a:ext uri="{FF2B5EF4-FFF2-40B4-BE49-F238E27FC236}">
                <a16:creationId xmlns:a16="http://schemas.microsoft.com/office/drawing/2014/main" id="{3A72D1F7-C1D6-0E30-953B-8CDE31C43232}"/>
              </a:ext>
            </a:extLst>
          </p:cNvPr>
          <p:cNvSpPr txBox="1"/>
          <p:nvPr/>
        </p:nvSpPr>
        <p:spPr>
          <a:xfrm>
            <a:off x="988583" y="1664208"/>
            <a:ext cx="9601200" cy="36576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altLang="zh-CN" sz="1400" dirty="0">
                <a:solidFill>
                  <a:srgbClr val="333333"/>
                </a:solidFill>
              </a:rPr>
              <a:t>性能优化：ProcessPoolExecutor 多核并行（9分钟→2分钟）+ bisect 二分查找替换 O(n²) + SQLite 索引先插后建（快 10 倍）</a:t>
            </a:r>
          </a:p>
          <a:p>
            <a:endParaRPr lang="zh-CN" sz="14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688" name="矩形 687">
            <a:extLst>
              <a:ext uri="{FF2B5EF4-FFF2-40B4-BE49-F238E27FC236}">
                <a16:creationId xmlns:a16="http://schemas.microsoft.com/office/drawing/2014/main" id="{21D118F5-0C81-6E4B-E41C-1308CAD43F4C}"/>
              </a:ext>
            </a:extLst>
          </p:cNvPr>
          <p:cNvSpPr/>
          <p:nvPr/>
        </p:nvSpPr>
        <p:spPr>
          <a:xfrm>
            <a:off x="878855" y="3288669"/>
            <a:ext cx="109728" cy="109728"/>
          </a:xfrm>
          <a:prstGeom prst="rect">
            <a:avLst/>
          </a:prstGeom>
          <a:solidFill>
            <a:srgbClr val="CF0A2C"/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690" name="矩形 689">
            <a:extLst>
              <a:ext uri="{FF2B5EF4-FFF2-40B4-BE49-F238E27FC236}">
                <a16:creationId xmlns:a16="http://schemas.microsoft.com/office/drawing/2014/main" id="{F0B0E743-DE02-D0AF-6C27-21ABA38515B5}"/>
              </a:ext>
            </a:extLst>
          </p:cNvPr>
          <p:cNvSpPr/>
          <p:nvPr/>
        </p:nvSpPr>
        <p:spPr>
          <a:xfrm>
            <a:off x="1051560" y="4522352"/>
            <a:ext cx="10515600" cy="607238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691" name="矩形 690">
            <a:extLst>
              <a:ext uri="{FF2B5EF4-FFF2-40B4-BE49-F238E27FC236}">
                <a16:creationId xmlns:a16="http://schemas.microsoft.com/office/drawing/2014/main" id="{FCBEE3F6-5A79-A7C2-40B4-73F84B4F40BE}"/>
              </a:ext>
            </a:extLst>
          </p:cNvPr>
          <p:cNvSpPr/>
          <p:nvPr/>
        </p:nvSpPr>
        <p:spPr>
          <a:xfrm>
            <a:off x="878855" y="4657097"/>
            <a:ext cx="109728" cy="109728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692" name="文本框 691">
            <a:extLst>
              <a:ext uri="{FF2B5EF4-FFF2-40B4-BE49-F238E27FC236}">
                <a16:creationId xmlns:a16="http://schemas.microsoft.com/office/drawing/2014/main" id="{8C3481C2-7076-C5E9-F81D-1479091EE73F}"/>
              </a:ext>
            </a:extLst>
          </p:cNvPr>
          <p:cNvSpPr txBox="1"/>
          <p:nvPr/>
        </p:nvSpPr>
        <p:spPr>
          <a:xfrm>
            <a:off x="1051560" y="4568072"/>
            <a:ext cx="9601200" cy="36576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altLang="zh-CN" sz="1400" dirty="0">
                <a:solidFill>
                  <a:srgbClr val="333333"/>
                </a:solidFill>
              </a:rPr>
              <a:t>安全知识库 + 风险评估：6 个知识文件加载到系统提示（10KB）+ reflect_check 规则引擎自动评估风险等级（7 条规则）</a:t>
            </a:r>
          </a:p>
          <a:p>
            <a:endParaRPr lang="zh-CN" sz="14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676BD10-83C1-60AE-9A56-1A4045FDF1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758" y="6250761"/>
            <a:ext cx="735937" cy="60723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E615DDC7-5BB3-B45C-6F98-6BFAA7762CEA}"/>
              </a:ext>
            </a:extLst>
          </p:cNvPr>
          <p:cNvSpPr/>
          <p:nvPr/>
        </p:nvSpPr>
        <p:spPr>
          <a:xfrm>
            <a:off x="1051560" y="3055656"/>
            <a:ext cx="10515600" cy="691516"/>
          </a:xfrm>
          <a:prstGeom prst="rect">
            <a:avLst/>
          </a:prstGeom>
          <a:solidFill>
            <a:srgbClr val="FAFAFA"/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748FFC9-16E4-47ED-272A-3E493C3387A8}"/>
              </a:ext>
            </a:extLst>
          </p:cNvPr>
          <p:cNvSpPr txBox="1"/>
          <p:nvPr/>
        </p:nvSpPr>
        <p:spPr>
          <a:xfrm>
            <a:off x="988583" y="3129856"/>
            <a:ext cx="9601200" cy="503113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altLang="zh-CN" sz="1400" dirty="0">
                <a:solidFill>
                  <a:srgbClr val="333333"/>
                </a:solidFill>
              </a:rPr>
              <a:t>架构重构：4 个 run_* 函数合并为统一 run_detection() + 4 处重复报告代码提取为 generate_reports() + Flask app.py 从 base64 改为模板文件</a:t>
            </a:r>
          </a:p>
          <a:p>
            <a:endParaRPr lang="zh-CN" altLang="zh-CN" sz="1400" dirty="0">
              <a:solidFill>
                <a:srgbClr val="333333"/>
              </a:solidFill>
            </a:endParaRPr>
          </a:p>
          <a:p>
            <a:endParaRPr lang="zh-CN" sz="14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79270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矩形 660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F0F0F0"/>
          </a:solidFill>
        </p:spPr>
      </p:sp>
      <p:sp>
        <p:nvSpPr>
          <p:cNvPr id="662" name="矩形 661"/>
          <p:cNvSpPr/>
          <p:nvPr/>
        </p:nvSpPr>
        <p:spPr>
          <a:xfrm>
            <a:off x="713232" y="0"/>
            <a:ext cx="18288" cy="685800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663" name="矩形 662"/>
          <p:cNvSpPr/>
          <p:nvPr/>
        </p:nvSpPr>
        <p:spPr>
          <a:xfrm>
            <a:off x="1097280" y="822960"/>
            <a:ext cx="2286000" cy="1097280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664" name="矩形 663"/>
          <p:cNvSpPr/>
          <p:nvPr/>
        </p:nvSpPr>
        <p:spPr>
          <a:xfrm>
            <a:off x="1097280" y="1005840"/>
            <a:ext cx="54864" cy="365760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665" name="文本框 664"/>
          <p:cNvSpPr txBox="1"/>
          <p:nvPr/>
        </p:nvSpPr>
        <p:spPr>
          <a:xfrm>
            <a:off x="1463040" y="914400"/>
            <a:ext cx="1828800" cy="91440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6000" b="1">
                <a:solidFill>
                  <a:srgbClr val="CF0A2C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666" name="文本框 665"/>
          <p:cNvSpPr txBox="1"/>
          <p:nvPr/>
        </p:nvSpPr>
        <p:spPr>
          <a:xfrm>
            <a:off x="1463040" y="2103120"/>
            <a:ext cx="7315200" cy="73152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3200" b="1">
                <a:solidFill>
                  <a:srgbClr val="333333"/>
                </a:solidFill>
                <a:latin typeface="Microsoft YaHei"/>
                <a:ea typeface="Microsoft YaHei"/>
              </a:rPr>
              <a:t>自我总结与收获</a:t>
            </a:r>
          </a:p>
        </p:txBody>
      </p:sp>
      <p:sp>
        <p:nvSpPr>
          <p:cNvPr id="667" name="文本框 666"/>
          <p:cNvSpPr txBox="1"/>
          <p:nvPr/>
        </p:nvSpPr>
        <p:spPr>
          <a:xfrm>
            <a:off x="1463040" y="2926080"/>
            <a:ext cx="7315200" cy="45720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600" b="0">
                <a:solidFill>
                  <a:srgbClr val="999999"/>
                </a:solidFill>
                <a:latin typeface="Microsoft YaHei"/>
                <a:ea typeface="Microsoft YaHei"/>
              </a:rPr>
              <a:t>Self Summary</a:t>
            </a:r>
          </a:p>
        </p:txBody>
      </p:sp>
      <p:sp>
        <p:nvSpPr>
          <p:cNvPr id="668" name="矩形 667"/>
          <p:cNvSpPr/>
          <p:nvPr/>
        </p:nvSpPr>
        <p:spPr>
          <a:xfrm>
            <a:off x="1463040" y="3474720"/>
            <a:ext cx="2743200" cy="13716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669" name="矩形 668"/>
          <p:cNvSpPr/>
          <p:nvPr/>
        </p:nvSpPr>
        <p:spPr>
          <a:xfrm>
            <a:off x="9448495" y="5029200"/>
            <a:ext cx="2011680" cy="73152"/>
          </a:xfrm>
          <a:prstGeom prst="rect">
            <a:avLst/>
          </a:prstGeom>
          <a:solidFill>
            <a:srgbClr val="D0D0D0"/>
          </a:solidFill>
        </p:spPr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B604A6F-5908-5E55-8D0F-769E68D7EC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758" y="6250761"/>
            <a:ext cx="735937" cy="60723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矩形 67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0F0F0"/>
          </a:solidFill>
        </p:spPr>
      </p:sp>
      <p:sp>
        <p:nvSpPr>
          <p:cNvPr id="679" name="矩形 678"/>
          <p:cNvSpPr/>
          <p:nvPr/>
        </p:nvSpPr>
        <p:spPr>
          <a:xfrm>
            <a:off x="438912" y="0"/>
            <a:ext cx="18288" cy="685800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680" name="矩形 679"/>
          <p:cNvSpPr/>
          <p:nvPr/>
        </p:nvSpPr>
        <p:spPr>
          <a:xfrm>
            <a:off x="457200" y="0"/>
            <a:ext cx="11734495" cy="54864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681" name="矩形 680"/>
          <p:cNvSpPr/>
          <p:nvPr/>
        </p:nvSpPr>
        <p:spPr>
          <a:xfrm>
            <a:off x="457200" y="54864"/>
            <a:ext cx="11734495" cy="18288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682" name="文本框 681"/>
          <p:cNvSpPr txBox="1"/>
          <p:nvPr/>
        </p:nvSpPr>
        <p:spPr>
          <a:xfrm>
            <a:off x="822960" y="457200"/>
            <a:ext cx="10058400" cy="54864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2800" b="1">
                <a:solidFill>
                  <a:srgbClr val="CF0A2C"/>
                </a:solidFill>
                <a:latin typeface="Microsoft YaHei"/>
                <a:ea typeface="Microsoft YaHei"/>
              </a:rPr>
              <a:t>总结与收获</a:t>
            </a:r>
          </a:p>
        </p:txBody>
      </p:sp>
      <p:sp>
        <p:nvSpPr>
          <p:cNvPr id="683" name="矩形 682"/>
          <p:cNvSpPr/>
          <p:nvPr/>
        </p:nvSpPr>
        <p:spPr>
          <a:xfrm>
            <a:off x="822960" y="1005840"/>
            <a:ext cx="1371600" cy="27432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684" name="矩形 683"/>
          <p:cNvSpPr/>
          <p:nvPr/>
        </p:nvSpPr>
        <p:spPr>
          <a:xfrm>
            <a:off x="2286000" y="1010412"/>
            <a:ext cx="8229600" cy="13716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685" name="矩形 684"/>
          <p:cNvSpPr/>
          <p:nvPr/>
        </p:nvSpPr>
        <p:spPr>
          <a:xfrm>
            <a:off x="1051560" y="1591732"/>
            <a:ext cx="10515600" cy="62068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686" name="矩形 685"/>
          <p:cNvSpPr/>
          <p:nvPr/>
        </p:nvSpPr>
        <p:spPr>
          <a:xfrm>
            <a:off x="862628" y="1902072"/>
            <a:ext cx="109728" cy="109728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687" name="文本框 686"/>
          <p:cNvSpPr txBox="1"/>
          <p:nvPr/>
        </p:nvSpPr>
        <p:spPr>
          <a:xfrm>
            <a:off x="988583" y="1664208"/>
            <a:ext cx="9601200" cy="36576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400" b="0" dirty="0">
                <a:solidFill>
                  <a:srgbClr val="333333"/>
                </a:solidFill>
                <a:latin typeface="Microsoft YaHei"/>
                <a:ea typeface="Microsoft YaHei"/>
              </a:rPr>
              <a:t>技术成长：Agent 架构设计（工具系统 + LLM 调度 + 系统提示工程）+ 并行检测优化 + 安全检测领域知识（CFI/PAC/BTI 原理）</a:t>
            </a:r>
          </a:p>
        </p:txBody>
      </p:sp>
      <p:sp>
        <p:nvSpPr>
          <p:cNvPr id="688" name="矩形 687"/>
          <p:cNvSpPr/>
          <p:nvPr/>
        </p:nvSpPr>
        <p:spPr>
          <a:xfrm>
            <a:off x="878855" y="3288669"/>
            <a:ext cx="109728" cy="109728"/>
          </a:xfrm>
          <a:prstGeom prst="rect">
            <a:avLst/>
          </a:prstGeom>
          <a:solidFill>
            <a:srgbClr val="CF0A2C"/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690" name="矩形 689"/>
          <p:cNvSpPr/>
          <p:nvPr/>
        </p:nvSpPr>
        <p:spPr>
          <a:xfrm>
            <a:off x="1051560" y="4522352"/>
            <a:ext cx="10515600" cy="41148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691" name="矩形 690"/>
          <p:cNvSpPr/>
          <p:nvPr/>
        </p:nvSpPr>
        <p:spPr>
          <a:xfrm>
            <a:off x="878855" y="4657097"/>
            <a:ext cx="109728" cy="109728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692" name="文本框 691"/>
          <p:cNvSpPr txBox="1"/>
          <p:nvPr/>
        </p:nvSpPr>
        <p:spPr>
          <a:xfrm>
            <a:off x="1051560" y="4568072"/>
            <a:ext cx="9601200" cy="36576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400" b="0" dirty="0">
                <a:solidFill>
                  <a:srgbClr val="333333"/>
                </a:solidFill>
                <a:latin typeface="Microsoft YaHei"/>
                <a:ea typeface="Microsoft YaHei"/>
              </a:rPr>
              <a:t>交付成果：统一检测引擎（7 模式/5 维度/32位+64位/并行）+ 21 工具 Agent + Web 可视化报告 + GitHub 开源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F3064F6-7F87-1ADC-CF97-3C9CA02388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758" y="6250761"/>
            <a:ext cx="735937" cy="60723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C9A0D080-CE75-6D33-0649-C4136252E5AD}"/>
              </a:ext>
            </a:extLst>
          </p:cNvPr>
          <p:cNvSpPr/>
          <p:nvPr/>
        </p:nvSpPr>
        <p:spPr>
          <a:xfrm>
            <a:off x="1051560" y="3055656"/>
            <a:ext cx="10515600" cy="691516"/>
          </a:xfrm>
          <a:prstGeom prst="rect">
            <a:avLst/>
          </a:prstGeom>
          <a:solidFill>
            <a:srgbClr val="FAFAFA"/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C111297-530D-898B-EED2-12C0A3CE7B03}"/>
              </a:ext>
            </a:extLst>
          </p:cNvPr>
          <p:cNvSpPr txBox="1"/>
          <p:nvPr/>
        </p:nvSpPr>
        <p:spPr>
          <a:xfrm>
            <a:off x="988583" y="3129856"/>
            <a:ext cx="9601200" cy="503113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altLang="zh-CN" sz="1400" dirty="0">
                <a:solidFill>
                  <a:srgbClr val="333333"/>
                </a:solidFill>
              </a:rPr>
              <a:t>个人收获：掌握 AI Agent 全流程开发 + 深入理解 ARM 安全架构 + 积累 AI 辅助开发经验 + 提升工程化能力 + 学会用控制变量法排查性能问题</a:t>
            </a:r>
          </a:p>
          <a:p>
            <a:endParaRPr lang="zh-CN" sz="14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矩形 70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0F0F0"/>
          </a:solidFill>
        </p:spPr>
      </p:sp>
      <p:sp>
        <p:nvSpPr>
          <p:cNvPr id="705" name="矩形 704"/>
          <p:cNvSpPr/>
          <p:nvPr/>
        </p:nvSpPr>
        <p:spPr>
          <a:xfrm>
            <a:off x="0" y="0"/>
            <a:ext cx="3200400" cy="73152"/>
          </a:xfrm>
          <a:prstGeom prst="rect">
            <a:avLst/>
          </a:prstGeom>
          <a:solidFill>
            <a:srgbClr val="D0D0D0"/>
          </a:solidFill>
        </p:spPr>
      </p:sp>
      <p:sp>
        <p:nvSpPr>
          <p:cNvPr id="706" name="矩形 705"/>
          <p:cNvSpPr/>
          <p:nvPr/>
        </p:nvSpPr>
        <p:spPr>
          <a:xfrm>
            <a:off x="2743200" y="2103120"/>
            <a:ext cx="6675120" cy="13716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707" name="矩形 706"/>
          <p:cNvSpPr/>
          <p:nvPr/>
        </p:nvSpPr>
        <p:spPr>
          <a:xfrm>
            <a:off x="2743200" y="3840480"/>
            <a:ext cx="6675120" cy="13716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708" name="矩形 707"/>
          <p:cNvSpPr/>
          <p:nvPr/>
        </p:nvSpPr>
        <p:spPr>
          <a:xfrm>
            <a:off x="9448495" y="0"/>
            <a:ext cx="2743200" cy="1645920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709" name="矩形 708"/>
          <p:cNvSpPr/>
          <p:nvPr/>
        </p:nvSpPr>
        <p:spPr>
          <a:xfrm>
            <a:off x="5029200" y="2560320"/>
            <a:ext cx="2103120" cy="36576"/>
          </a:xfrm>
          <a:prstGeom prst="rect">
            <a:avLst/>
          </a:prstGeom>
          <a:solidFill>
            <a:srgbClr val="CF0A2C"/>
          </a:solidFill>
        </p:spPr>
      </p:sp>
      <p:sp>
        <p:nvSpPr>
          <p:cNvPr id="710" name="矩形 709"/>
          <p:cNvSpPr/>
          <p:nvPr/>
        </p:nvSpPr>
        <p:spPr>
          <a:xfrm>
            <a:off x="3657600" y="2569464"/>
            <a:ext cx="1188720" cy="18288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711" name="矩形 710"/>
          <p:cNvSpPr/>
          <p:nvPr/>
        </p:nvSpPr>
        <p:spPr>
          <a:xfrm>
            <a:off x="7315200" y="2569464"/>
            <a:ext cx="1188720" cy="18288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712" name="文本框 711"/>
          <p:cNvSpPr txBox="1"/>
          <p:nvPr/>
        </p:nvSpPr>
        <p:spPr>
          <a:xfrm>
            <a:off x="1371600" y="2926080"/>
            <a:ext cx="9144000" cy="91440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4400" b="1">
                <a:solidFill>
                  <a:srgbClr val="333333"/>
                </a:solidFill>
                <a:latin typeface="Microsoft YaHei"/>
                <a:ea typeface="Microsoft YaHei"/>
              </a:rPr>
              <a:t>Thank You</a:t>
            </a:r>
          </a:p>
        </p:txBody>
      </p:sp>
      <p:sp>
        <p:nvSpPr>
          <p:cNvPr id="713" name="文本框 712"/>
          <p:cNvSpPr txBox="1"/>
          <p:nvPr/>
        </p:nvSpPr>
        <p:spPr>
          <a:xfrm>
            <a:off x="1371600" y="3931920"/>
            <a:ext cx="9144000" cy="548640"/>
          </a:xfrm>
          <a:prstGeom prst="rect">
            <a:avLst/>
          </a:prstGeom>
        </p:spPr>
        <p:txBody>
          <a:bodyPr wrap="square" lIns="91440" tIns="45720" rIns="91440" bIns="45720" rtlCol="0"/>
          <a:lstStyle/>
          <a:p>
            <a:r>
              <a:rPr lang="zh-CN" sz="1800" b="0">
                <a:solidFill>
                  <a:srgbClr val="666666"/>
                </a:solidFill>
                <a:latin typeface="Microsoft YaHei"/>
                <a:ea typeface="Microsoft YaHei"/>
              </a:rPr>
              <a:t>感谢您的关注</a:t>
            </a:r>
          </a:p>
        </p:txBody>
      </p:sp>
      <p:sp>
        <p:nvSpPr>
          <p:cNvPr id="714" name="矩形 71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5F5F5"/>
          </a:solidFill>
        </p:spPr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E332789-13C5-99EE-B20A-FE877F7518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758" y="6250761"/>
            <a:ext cx="735937" cy="6072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uawei Theme">
  <a:themeElements>
    <a:clrScheme name="Huawei">
      <a:dk1>
        <a:sysClr val="windowText" lastClr="000000"/>
      </a:dk1>
      <a:lt1>
        <a:sysClr val="window" lastClr="FFFFFF"/>
      </a:lt1>
      <a:dk2>
        <a:srgbClr val="333333"/>
      </a:dk2>
      <a:lt2>
        <a:srgbClr val="F5F5F5"/>
      </a:lt2>
      <a:accent1>
        <a:srgbClr val="CF0A2C"/>
      </a:accent1>
      <a:accent2>
        <a:srgbClr val="666666"/>
      </a:accent2>
      <a:accent3>
        <a:srgbClr val="999999"/>
      </a:accent3>
      <a:accent4>
        <a:srgbClr val="FFFFFF"/>
      </a:accent4>
      <a:accent5>
        <a:srgbClr val="FFFFFF"/>
      </a:accent5>
      <a:accent6>
        <a:srgbClr val="FFFFFF"/>
      </a:accent6>
      <a:hlink>
        <a:srgbClr val="CF0A2C"/>
      </a:hlink>
      <a:folHlink>
        <a:srgbClr val="CF0A2C"/>
      </a:folHlink>
    </a:clrScheme>
    <a:fontScheme name="Huaw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1260</Words>
  <Application>Microsoft Office PowerPoint</Application>
  <PresentationFormat>宽屏</PresentationFormat>
  <Paragraphs>166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1" baseType="lpstr">
      <vt:lpstr>Microsoft YaHei</vt:lpstr>
      <vt:lpstr>Arial</vt:lpstr>
      <vt:lpstr>Huawei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泽东 李</cp:lastModifiedBy>
  <cp:revision>82</cp:revision>
  <dcterms:modified xsi:type="dcterms:W3CDTF">2026-08-24T03:19:26Z</dcterms:modified>
</cp:coreProperties>
</file>